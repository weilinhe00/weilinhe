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Lst>
  <p:notesMasterIdLst>
    <p:notesMasterId r:id="rId5"/>
  </p:notesMasterIdLst>
  <p:handoutMasterIdLst>
    <p:handoutMasterId r:id="rId29"/>
  </p:handoutMasterIdLst>
  <p:sldIdLst>
    <p:sldId id="263" r:id="rId4"/>
    <p:sldId id="322" r:id="rId6"/>
    <p:sldId id="265" r:id="rId7"/>
    <p:sldId id="269" r:id="rId8"/>
    <p:sldId id="325" r:id="rId9"/>
    <p:sldId id="323" r:id="rId10"/>
    <p:sldId id="324" r:id="rId11"/>
    <p:sldId id="259" r:id="rId12"/>
    <p:sldId id="272" r:id="rId13"/>
    <p:sldId id="283" r:id="rId14"/>
    <p:sldId id="327" r:id="rId15"/>
    <p:sldId id="355" r:id="rId16"/>
    <p:sldId id="287" r:id="rId17"/>
    <p:sldId id="300" r:id="rId18"/>
    <p:sldId id="299" r:id="rId19"/>
    <p:sldId id="305" r:id="rId20"/>
    <p:sldId id="301" r:id="rId21"/>
    <p:sldId id="308" r:id="rId22"/>
    <p:sldId id="348" r:id="rId23"/>
    <p:sldId id="341" r:id="rId24"/>
    <p:sldId id="343" r:id="rId25"/>
    <p:sldId id="345" r:id="rId26"/>
    <p:sldId id="326" r:id="rId27"/>
    <p:sldId id="354" r:id="rId28"/>
  </p:sldIdLst>
  <p:sldSz cx="12192000" cy="6858000"/>
  <p:notesSz cx="7103745" cy="10234295"/>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87" userDrawn="1">
          <p15:clr>
            <a:srgbClr val="A4A3A4"/>
          </p15:clr>
        </p15:guide>
        <p15:guide id="2" pos="384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OYUE gaoyue" initials="Gg" lastIdx="1" clrIdx="0"/>
  <p:cmAuthor id="2" name="Betty" initials="B"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E192C"/>
    <a:srgbClr val="D9D9D9"/>
    <a:srgbClr val="AF1E2F"/>
    <a:srgbClr val="B71A2B"/>
    <a:srgbClr val="AE1A2C"/>
    <a:srgbClr val="FFD9DA"/>
    <a:srgbClr val="FFB5B7"/>
    <a:srgbClr val="910100"/>
    <a:srgbClr val="971000"/>
    <a:srgbClr val="892B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4"/>
  </p:normalViewPr>
  <p:slideViewPr>
    <p:cSldViewPr snapToGrid="0" showGuides="1">
      <p:cViewPr varScale="1">
        <p:scale>
          <a:sx n="127" d="100"/>
          <a:sy n="127" d="100"/>
        </p:scale>
        <p:origin x="1952" y="184"/>
      </p:cViewPr>
      <p:guideLst>
        <p:guide orient="horz" pos="1887"/>
        <p:guide pos="3847"/>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3" Type="http://schemas.openxmlformats.org/officeDocument/2006/relationships/commentAuthors" Target="commentAuthors.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handoutMaster" Target="handoutMasters/handoutMaster1.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c:explosion val="0"/>
          <c:dPt>
            <c:idx val="0"/>
            <c:bubble3D val="0"/>
            <c:spPr>
              <a:solidFill>
                <a:srgbClr val="AE192C"/>
              </a:solidFill>
              <a:ln>
                <a:noFill/>
              </a:ln>
              <a:effectLst/>
            </c:spPr>
          </c:dPt>
          <c:dPt>
            <c:idx val="1"/>
            <c:bubble3D val="0"/>
            <c:spPr>
              <a:solidFill>
                <a:schemeClr val="bg1">
                  <a:lumMod val="75000"/>
                </a:schemeClr>
              </a:solidFill>
              <a:ln>
                <a:noFill/>
              </a:ln>
              <a:effectLst/>
            </c:spPr>
          </c:dPt>
          <c:dLbls>
            <c:delete val="1"/>
          </c:dLbls>
          <c:cat>
            <c:strRef>
              <c:f>Sheet1!$A$2:$A$3</c:f>
              <c:strCache>
                <c:ptCount val="2"/>
                <c:pt idx="0">
                  <c:v>1st Qtr</c:v>
                </c:pt>
                <c:pt idx="1">
                  <c:v>2nd Qtr</c:v>
                </c:pt>
              </c:strCache>
            </c:strRef>
          </c:cat>
          <c:val>
            <c:numRef>
              <c:f>Sheet1!$B$2:$B$3</c:f>
              <c:numCache>
                <c:formatCode>General</c:formatCode>
                <c:ptCount val="2"/>
                <c:pt idx="0">
                  <c:v>80</c:v>
                </c:pt>
                <c:pt idx="1">
                  <c:v>20</c:v>
                </c:pt>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68465179-1b88-4d08-a33c-d9745146f6fe}"/>
      </c:ext>
    </c:extLst>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c:explosion val="0"/>
          <c:dPt>
            <c:idx val="0"/>
            <c:bubble3D val="0"/>
            <c:spPr>
              <a:solidFill>
                <a:srgbClr val="AE192C"/>
              </a:solidFill>
              <a:ln>
                <a:noFill/>
              </a:ln>
              <a:effectLst/>
            </c:spPr>
          </c:dPt>
          <c:dPt>
            <c:idx val="1"/>
            <c:bubble3D val="0"/>
            <c:spPr>
              <a:solidFill>
                <a:schemeClr val="bg1">
                  <a:lumMod val="75000"/>
                </a:schemeClr>
              </a:solidFill>
              <a:ln>
                <a:noFill/>
              </a:ln>
              <a:effectLst/>
            </c:spPr>
          </c:dPt>
          <c:dLbls>
            <c:delete val="1"/>
          </c:dLbls>
          <c:cat>
            <c:strRef>
              <c:f>Sheet1!$A$2:$A$3</c:f>
              <c:strCache>
                <c:ptCount val="2"/>
                <c:pt idx="0">
                  <c:v>1st Qtr</c:v>
                </c:pt>
                <c:pt idx="1">
                  <c:v>2nd Qtr</c:v>
                </c:pt>
              </c:strCache>
            </c:strRef>
          </c:cat>
          <c:val>
            <c:numRef>
              <c:f>Sheet1!$B$2:$B$3</c:f>
              <c:numCache>
                <c:formatCode>General</c:formatCode>
                <c:ptCount val="2"/>
                <c:pt idx="0">
                  <c:v>30</c:v>
                </c:pt>
                <c:pt idx="1">
                  <c:v>70</c:v>
                </c:pt>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bbbbabf2-7276-4282-b7cf-30bc4f56a139}"/>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5">
  <cs:axisTitle>
    <cs:lnRef idx="0"/>
    <cs:fillRef idx="0"/>
    <cs:effectRef idx="0"/>
    <cs:fontRef idx="minor">
      <a:schemeClr val="tx2"/>
    </cs:fontRef>
    <cs:defRPr sz="1195"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5"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5" kern="1200"/>
  </cs:chartArea>
  <cs:dataLabel>
    <cs:lnRef idx="0"/>
    <cs:fillRef idx="0"/>
    <cs:effectRef idx="0"/>
    <cs:fontRef idx="minor">
      <a:schemeClr val="tx2"/>
    </cs:fontRef>
    <cs:defRPr sz="1195"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5"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5"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3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5"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5"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55">
  <cs:axisTitle>
    <cs:lnRef idx="0"/>
    <cs:fillRef idx="0"/>
    <cs:effectRef idx="0"/>
    <cs:fontRef idx="minor">
      <a:schemeClr val="tx2"/>
    </cs:fontRef>
    <cs:defRPr sz="1195"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5"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5" kern="1200"/>
  </cs:chartArea>
  <cs:dataLabel>
    <cs:lnRef idx="0"/>
    <cs:fillRef idx="0"/>
    <cs:effectRef idx="0"/>
    <cs:fontRef idx="minor">
      <a:schemeClr val="tx2"/>
    </cs:fontRef>
    <cs:defRPr sz="1195"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5"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5"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3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5"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5" kern="1200"/>
  </cs:valueAxis>
  <cs:wall>
    <cs:lnRef idx="0"/>
    <cs:fillRef idx="0"/>
    <cs:effectRef idx="0"/>
    <cs:fontRef idx="minor">
      <a:schemeClr val="tx2"/>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Hello everyone, we are Group M-28 from the MSc Data Science programme at the University of Bristol.</a:t>
            </a:r>
            <a:endParaRPr lang="en-US" altLang="zh-CN"/>
          </a:p>
          <a:p>
            <a:r>
              <a:rPr lang="en-US" altLang="zh-CN"/>
              <a:t>Our project focuses on predicting the functional roles of non-coding RNAs in cancer using a multi-omics data integration framework.</a:t>
            </a:r>
            <a:endParaRPr lang="en-US" altLang="zh-CN"/>
          </a:p>
          <a:p>
            <a:r>
              <a:rPr lang="en-US" altLang="zh-CN"/>
              <a:t>Specifically, we analyzed the lncRNA MIR100HG across five cancer types, aiming to uncover its regulatory mechanisms and potential as a biomarker.</a:t>
            </a:r>
            <a:endParaRPr lang="en-US" altLang="zh-CN"/>
          </a:p>
          <a:p>
            <a:r>
              <a:rPr lang="en-US" altLang="zh-CN"/>
              <a:t>This work was conducted under the supervision of Dr. Silvia Ottaviani in collaboration with Nottingham Trent University.</a:t>
            </a:r>
            <a:endParaRPr lang="en-US" altLang="zh-CN"/>
          </a:p>
        </p:txBody>
      </p:sp>
      <p:sp>
        <p:nvSpPr>
          <p:cNvPr id="4" name="灯片编号占位符 3"/>
          <p:cNvSpPr>
            <a:spLocks noGrp="1"/>
          </p:cNvSpPr>
          <p:nvPr>
            <p:ph type="sldNum" sz="quarter" idx="10"/>
          </p:nvPr>
        </p:nvSpPr>
        <p:spPr/>
        <p:txBody>
          <a:bodyPr/>
          <a:lstStyle/>
          <a:p>
            <a:fld id="{C1499AD4-E722-484B-9751-AA89CAA54D8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5E8DB0-55DC-4221-A99C-988BCD133BF3}"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en-US" altLang="zh-CN" sz="1200" b="0" i="0" u="none" strike="noStrike" kern="1200" cap="none" spc="0" normalizeH="0" baseline="0" noProof="0" dirty="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study integrates multi-omics public datasets to systematically assess the potential regulatory role of the long non-coding RNA MIR100HG across multiple cancer types. The data sources include TCGA, GTEx, and ENCODE, covering transcriptome expression, DNA methylation, and transcription factor–target interaction data.</a:t>
            </a:r>
            <a:endParaRPr lang="en-US" altLang="zh-CN"/>
          </a:p>
          <a:p>
            <a:r>
              <a:rPr lang="zh-CN" altLang="en-US"/>
              <a:t>本研究整合了来自公开数据库的多组学数据，以系统性地评估长链非编码</a:t>
            </a:r>
            <a:r>
              <a:rPr lang="en-US" altLang="zh-CN"/>
              <a:t> lncRNA MIR100HG </a:t>
            </a:r>
            <a:r>
              <a:rPr lang="zh-CN" altLang="en-US"/>
              <a:t>在多种癌症类型中的调控作用。所使用的数据主要包括基因表达、</a:t>
            </a:r>
            <a:r>
              <a:rPr lang="en-US" altLang="zh-CN"/>
              <a:t>DNA </a:t>
            </a:r>
            <a:r>
              <a:rPr lang="zh-CN" altLang="en-US"/>
              <a:t>甲基化以及转录因子</a:t>
            </a:r>
            <a:r>
              <a:rPr lang="en-US" altLang="zh-CN"/>
              <a:t>–</a:t>
            </a:r>
            <a:r>
              <a:rPr lang="zh-CN" altLang="en-US"/>
              <a:t>靶基因调控关系，分别来自</a:t>
            </a:r>
            <a:r>
              <a:rPr lang="en-US" altLang="zh-CN"/>
              <a:t> TCGA</a:t>
            </a:r>
            <a:r>
              <a:rPr lang="zh-CN" altLang="en-US"/>
              <a:t>（</a:t>
            </a:r>
            <a:r>
              <a:rPr lang="en-US" altLang="zh-CN"/>
              <a:t>The Cancer Genome Atlas</a:t>
            </a:r>
            <a:r>
              <a:rPr lang="zh-CN" altLang="en-US"/>
              <a:t>）、</a:t>
            </a:r>
            <a:r>
              <a:rPr lang="en-US" altLang="zh-CN"/>
              <a:t>GTEx</a:t>
            </a:r>
            <a:r>
              <a:rPr lang="zh-CN" altLang="en-US"/>
              <a:t>（</a:t>
            </a:r>
            <a:r>
              <a:rPr lang="en-US" altLang="zh-CN"/>
              <a:t>Genotype-Tissue Expression</a:t>
            </a:r>
            <a:r>
              <a:rPr lang="zh-CN" altLang="en-US"/>
              <a:t>）项目及</a:t>
            </a:r>
            <a:r>
              <a:rPr lang="en-US" altLang="zh-CN"/>
              <a:t> ENCODE </a:t>
            </a:r>
            <a:r>
              <a:rPr lang="zh-CN" altLang="en-US"/>
              <a:t>数据库。</a:t>
            </a:r>
            <a:endParaRPr lang="zh-CN" altLang="en-US"/>
          </a:p>
          <a:p>
            <a:endParaRPr lang="en-US" altLang="zh-CN"/>
          </a:p>
          <a:p>
            <a:r>
              <a:rPr lang="zh-CN" altLang="en-US"/>
              <a:t>我们从</a:t>
            </a:r>
            <a:r>
              <a:rPr lang="en-US" altLang="zh-CN"/>
              <a:t> TCGA </a:t>
            </a:r>
            <a:r>
              <a:rPr lang="zh-CN" altLang="en-US"/>
              <a:t>中选取了五种典型的实体瘤类型：前列腺腺癌（</a:t>
            </a:r>
            <a:r>
              <a:rPr lang="en-US" altLang="zh-CN"/>
              <a:t>PRAD</a:t>
            </a:r>
            <a:r>
              <a:rPr lang="zh-CN" altLang="en-US"/>
              <a:t>）、胰腺导管腺癌（</a:t>
            </a:r>
            <a:r>
              <a:rPr lang="en-US" altLang="zh-CN"/>
              <a:t>PDAC</a:t>
            </a:r>
            <a:r>
              <a:rPr lang="zh-CN" altLang="en-US"/>
              <a:t>）、肺腺癌（</a:t>
            </a:r>
            <a:r>
              <a:rPr lang="en-US" altLang="zh-CN"/>
              <a:t>LUAD</a:t>
            </a:r>
            <a:r>
              <a:rPr lang="zh-CN" altLang="en-US"/>
              <a:t>）、皮肤黑色素瘤（</a:t>
            </a:r>
            <a:r>
              <a:rPr lang="en-US" altLang="zh-CN"/>
              <a:t>SKCM</a:t>
            </a:r>
            <a:r>
              <a:rPr lang="zh-CN" altLang="en-US"/>
              <a:t>）和胃腺癌（</a:t>
            </a:r>
            <a:r>
              <a:rPr lang="en-US" altLang="zh-CN"/>
              <a:t>STAD</a:t>
            </a:r>
            <a:r>
              <a:rPr lang="zh-CN" altLang="en-US"/>
              <a:t>）。对于每一种癌症类型，均提取了经</a:t>
            </a:r>
            <a:r>
              <a:rPr lang="en-US" altLang="zh-CN"/>
              <a:t> UCSC Toil </a:t>
            </a:r>
            <a:r>
              <a:rPr lang="zh-CN" altLang="en-US"/>
              <a:t>流水线统一处理的转录组表达数据，并使用</a:t>
            </a:r>
            <a:r>
              <a:rPr lang="en-US" altLang="zh-CN"/>
              <a:t> log</a:t>
            </a:r>
            <a:r>
              <a:rPr lang="en-US" altLang="en-US"/>
              <a:t>₂</a:t>
            </a:r>
            <a:r>
              <a:rPr lang="en-US" altLang="zh-CN"/>
              <a:t>(TPM + 0.001) </a:t>
            </a:r>
            <a:r>
              <a:rPr lang="zh-CN" altLang="en-US"/>
              <a:t>表示。</a:t>
            </a:r>
            <a:r>
              <a:rPr lang="en-US" altLang="zh-CN"/>
              <a:t>DNA </a:t>
            </a:r>
            <a:r>
              <a:rPr lang="zh-CN" altLang="en-US"/>
              <a:t>甲基化数据来源于</a:t>
            </a:r>
            <a:r>
              <a:rPr lang="en-US" altLang="zh-CN"/>
              <a:t> TCGA </a:t>
            </a:r>
            <a:r>
              <a:rPr lang="zh-CN" altLang="en-US"/>
              <a:t>的</a:t>
            </a:r>
            <a:r>
              <a:rPr lang="en-US" altLang="zh-CN"/>
              <a:t> 450k </a:t>
            </a:r>
            <a:r>
              <a:rPr lang="zh-CN" altLang="en-US"/>
              <a:t>平台，按</a:t>
            </a:r>
            <a:r>
              <a:rPr lang="en-US" altLang="zh-CN"/>
              <a:t> hg19 </a:t>
            </a:r>
            <a:r>
              <a:rPr lang="zh-CN" altLang="en-US"/>
              <a:t>基因组参考坐标对</a:t>
            </a:r>
            <a:r>
              <a:rPr lang="en-US" altLang="zh-CN"/>
              <a:t> CpG </a:t>
            </a:r>
            <a:r>
              <a:rPr lang="zh-CN" altLang="en-US"/>
              <a:t>位点进行注释，表达值为</a:t>
            </a:r>
            <a:r>
              <a:rPr lang="en-US" altLang="zh-CN"/>
              <a:t> β </a:t>
            </a:r>
            <a:r>
              <a:rPr lang="zh-CN" altLang="en-US"/>
              <a:t>值格式。为保证队列的内部一致性，我们剔除了罕见的组织学亚型，仅保留主要亚型样本。</a:t>
            </a:r>
            <a:endParaRPr lang="zh-CN" altLang="en-US"/>
          </a:p>
          <a:p>
            <a:endParaRPr lang="en-US" altLang="zh-CN"/>
          </a:p>
          <a:p>
            <a:r>
              <a:rPr lang="zh-CN" altLang="en-US"/>
              <a:t>为构建癌症与正常组织之间的对照分析框架，我们引入了</a:t>
            </a:r>
            <a:r>
              <a:rPr lang="en-US" altLang="zh-CN"/>
              <a:t> GTEx </a:t>
            </a:r>
            <a:r>
              <a:rPr lang="zh-CN" altLang="en-US"/>
              <a:t>项目中与上述癌症对应的正常组织样本的基因表达数据，包括前列腺、胰腺、肺、皮肤与胃等多个器官组织。</a:t>
            </a:r>
            <a:r>
              <a:rPr lang="en-US" altLang="zh-CN"/>
              <a:t>MIR100HG </a:t>
            </a:r>
            <a:r>
              <a:rPr lang="zh-CN" altLang="en-US"/>
              <a:t>表达水平在正常组织中亦按与癌症样本相同的策略进行量化与分组。</a:t>
            </a:r>
            <a:endParaRPr lang="zh-CN" altLang="en-US"/>
          </a:p>
          <a:p>
            <a:endParaRPr lang="en-US" altLang="zh-CN"/>
          </a:p>
          <a:p>
            <a:r>
              <a:rPr lang="zh-CN" altLang="en-US"/>
              <a:t>此外，为构建</a:t>
            </a:r>
            <a:r>
              <a:rPr lang="en-US" altLang="zh-CN"/>
              <a:t> MIR100HG </a:t>
            </a:r>
            <a:r>
              <a:rPr lang="zh-CN" altLang="en-US"/>
              <a:t>可能涉及的转录调控网络，我们使用了</a:t>
            </a:r>
            <a:r>
              <a:rPr lang="en-US" altLang="zh-CN"/>
              <a:t> ENCODE </a:t>
            </a:r>
            <a:r>
              <a:rPr lang="zh-CN" altLang="en-US"/>
              <a:t>项目的转录因子</a:t>
            </a:r>
            <a:r>
              <a:rPr lang="en-US" altLang="zh-CN"/>
              <a:t>–</a:t>
            </a:r>
            <a:r>
              <a:rPr lang="zh-CN" altLang="en-US"/>
              <a:t>靶基因配对数据，通过</a:t>
            </a:r>
            <a:r>
              <a:rPr lang="en-US" altLang="zh-CN"/>
              <a:t> Harmonizome </a:t>
            </a:r>
            <a:r>
              <a:rPr lang="zh-CN" altLang="en-US"/>
              <a:t>平台获取。该信息用于构建基于</a:t>
            </a:r>
            <a:r>
              <a:rPr lang="en-US" altLang="zh-CN"/>
              <a:t> TF </a:t>
            </a:r>
            <a:r>
              <a:rPr lang="zh-CN" altLang="en-US"/>
              <a:t>调控关系的特征矩阵，其中</a:t>
            </a:r>
            <a:r>
              <a:rPr lang="en-US" altLang="zh-CN"/>
              <a:t> TF </a:t>
            </a:r>
            <a:r>
              <a:rPr lang="zh-CN" altLang="en-US"/>
              <a:t>的功能通过其调控下游靶基因的表达特征进行表征。</a:t>
            </a:r>
            <a:endParaRPr lang="zh-CN" altLang="en-US"/>
          </a:p>
          <a:p>
            <a:endParaRPr lang="en-US" altLang="zh-CN"/>
          </a:p>
          <a:p>
            <a:r>
              <a:rPr lang="zh-CN" altLang="en-US"/>
              <a:t>为进一步实现对差异甲基化探针的精准注释与区域分类，我们额外构建了基因体区域注释表。该表基于</a:t>
            </a:r>
            <a:r>
              <a:rPr lang="en-US" altLang="zh-CN"/>
              <a:t> Ensembl GRCh38 </a:t>
            </a:r>
            <a:r>
              <a:rPr lang="zh-CN" altLang="en-US"/>
              <a:t>注释（</a:t>
            </a:r>
            <a:r>
              <a:rPr lang="en-US" altLang="zh-CN"/>
              <a:t>release 109</a:t>
            </a:r>
            <a:r>
              <a:rPr lang="zh-CN" altLang="en-US"/>
              <a:t>）自动提取，记录了每个基因在基因组上的全长坐标信息，主要用于识别位于启动子之外的差异甲基化位点，并辅助后续进行区域特异性甲基化调控分析。</a:t>
            </a:r>
            <a:endParaRPr lang="zh-CN" altLang="en-US"/>
          </a:p>
          <a:p>
            <a:endParaRPr lang="en-US" altLang="zh-CN"/>
          </a:p>
          <a:p>
            <a:r>
              <a:rPr lang="zh-CN" altLang="en-US"/>
              <a:t>为进一步实现对癌症与正常组织在通路层次的表达模式差异进行系统评估，我们额外引入了</a:t>
            </a:r>
            <a:r>
              <a:rPr lang="en-US" altLang="zh-CN"/>
              <a:t> MSigDB</a:t>
            </a:r>
            <a:r>
              <a:rPr lang="zh-CN" altLang="en-US"/>
              <a:t>（</a:t>
            </a:r>
            <a:r>
              <a:rPr lang="en-US" altLang="zh-CN"/>
              <a:t>Molecular Signatures Database</a:t>
            </a:r>
            <a:r>
              <a:rPr lang="zh-CN" altLang="en-US"/>
              <a:t>）中收录的功能注释通路集。该通路集共包含</a:t>
            </a:r>
            <a:r>
              <a:rPr lang="en-US" altLang="zh-CN"/>
              <a:t> 3917 </a:t>
            </a:r>
            <a:r>
              <a:rPr lang="zh-CN" altLang="en-US"/>
              <a:t>条高质量功能通路信息，覆盖多种信号转导、生物过程与代谢模块，作为本研究进行通路表达聚合与差异分析的核心注释资源。</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a:t>
            </a:r>
            <a:r>
              <a:rPr lang="en-US" altLang="zh-CN"/>
              <a:t> Research Tasks</a:t>
            </a:r>
            <a:r>
              <a:rPr lang="zh-CN" altLang="en-US"/>
              <a:t>🎯</a:t>
            </a:r>
            <a:r>
              <a:rPr lang="en-US" altLang="zh-CN"/>
              <a:t> </a:t>
            </a:r>
            <a:r>
              <a:rPr lang="zh-CN" altLang="en-US"/>
              <a:t>研究任务</a:t>
            </a:r>
            <a:endParaRPr lang="zh-CN" altLang="en-US"/>
          </a:p>
          <a:p>
            <a:r>
              <a:rPr lang="en-US" altLang="en-US"/>
              <a:t>✅</a:t>
            </a:r>
            <a:r>
              <a:rPr lang="en-US" altLang="zh-CN"/>
              <a:t> Task 1 – Cancer: Multi-omics integration in tumor tissues</a:t>
            </a:r>
            <a:r>
              <a:rPr lang="en-US" altLang="en-US"/>
              <a:t>✅</a:t>
            </a:r>
            <a:r>
              <a:rPr lang="en-US" altLang="zh-CN"/>
              <a:t> </a:t>
            </a:r>
            <a:r>
              <a:rPr lang="zh-CN" altLang="en-US"/>
              <a:t>任务</a:t>
            </a:r>
            <a:r>
              <a:rPr lang="en-US" altLang="zh-CN"/>
              <a:t> 1 – </a:t>
            </a:r>
            <a:r>
              <a:rPr lang="zh-CN" altLang="en-US"/>
              <a:t>癌症：肿瘤组织中的多组学整合</a:t>
            </a:r>
            <a:endParaRPr lang="zh-CN" altLang="en-US"/>
          </a:p>
          <a:p>
            <a:endParaRPr lang="en-US" altLang="zh-CN"/>
          </a:p>
          <a:p>
            <a:r>
              <a:rPr lang="en-US" altLang="zh-CN"/>
              <a:t>Integrate gene expression, DNA methylation, and transcription factor–target relationships in five cancer types (PRAD, PDAC, LUAD, SKCM, STAD), stratified by high vs. low MIR100HG expression.</a:t>
            </a:r>
            <a:r>
              <a:rPr lang="zh-CN" altLang="en-US"/>
              <a:t>整合五种癌症类型（</a:t>
            </a:r>
            <a:r>
              <a:rPr lang="en-US" altLang="zh-CN"/>
              <a:t>PRAD</a:t>
            </a:r>
            <a:r>
              <a:rPr lang="zh-CN" altLang="en-US"/>
              <a:t>、</a:t>
            </a:r>
            <a:r>
              <a:rPr lang="en-US" altLang="zh-CN"/>
              <a:t>PDAC</a:t>
            </a:r>
            <a:r>
              <a:rPr lang="zh-CN" altLang="en-US"/>
              <a:t>、</a:t>
            </a:r>
            <a:r>
              <a:rPr lang="en-US" altLang="zh-CN"/>
              <a:t>LUAD</a:t>
            </a:r>
            <a:r>
              <a:rPr lang="zh-CN" altLang="en-US"/>
              <a:t>、</a:t>
            </a:r>
            <a:r>
              <a:rPr lang="en-US" altLang="zh-CN"/>
              <a:t>SKCM</a:t>
            </a:r>
            <a:r>
              <a:rPr lang="zh-CN" altLang="en-US"/>
              <a:t>、</a:t>
            </a:r>
            <a:r>
              <a:rPr lang="en-US" altLang="zh-CN"/>
              <a:t>STAD</a:t>
            </a:r>
            <a:r>
              <a:rPr lang="zh-CN" altLang="en-US"/>
              <a:t>）中的基因表达、</a:t>
            </a:r>
            <a:r>
              <a:rPr lang="en-US" altLang="zh-CN"/>
              <a:t>DNA </a:t>
            </a:r>
            <a:r>
              <a:rPr lang="zh-CN" altLang="en-US"/>
              <a:t>甲基化和转录因子</a:t>
            </a:r>
            <a:r>
              <a:rPr lang="en-US" altLang="zh-CN"/>
              <a:t>-</a:t>
            </a:r>
            <a:r>
              <a:rPr lang="zh-CN" altLang="en-US"/>
              <a:t>靶标关系，按高表达与低</a:t>
            </a:r>
            <a:r>
              <a:rPr lang="en-US" altLang="zh-CN"/>
              <a:t> MIR100HG </a:t>
            </a:r>
            <a:r>
              <a:rPr lang="zh-CN" altLang="en-US"/>
              <a:t>表达进行分层。</a:t>
            </a:r>
            <a:endParaRPr lang="zh-CN" altLang="en-US"/>
          </a:p>
          <a:p>
            <a:r>
              <a:rPr lang="en-US" altLang="zh-CN"/>
              <a:t>Identify key genes and regulators associated with MIR100HG.</a:t>
            </a:r>
            <a:r>
              <a:rPr lang="zh-CN" altLang="en-US"/>
              <a:t>确定与</a:t>
            </a:r>
            <a:r>
              <a:rPr lang="en-US" altLang="zh-CN"/>
              <a:t> MIR100HG </a:t>
            </a:r>
            <a:r>
              <a:rPr lang="zh-CN" altLang="en-US"/>
              <a:t>相关的关键基因和调节因子。</a:t>
            </a:r>
            <a:endParaRPr lang="zh-CN" altLang="en-US"/>
          </a:p>
          <a:p>
            <a:r>
              <a:rPr lang="en-US" altLang="zh-CN"/>
              <a:t>Compare common vs. cancer-specific features.</a:t>
            </a:r>
            <a:r>
              <a:rPr lang="zh-CN" altLang="en-US"/>
              <a:t>比较常见特征与癌症特异性特征。</a:t>
            </a:r>
            <a:endParaRPr lang="zh-CN" altLang="en-US"/>
          </a:p>
          <a:p>
            <a:r>
              <a:rPr lang="en-US" altLang="en-US"/>
              <a:t>✅</a:t>
            </a:r>
            <a:r>
              <a:rPr lang="en-US" altLang="zh-CN"/>
              <a:t> Task 2 – Normal: Expression-based regulatory modeling in normal tissues</a:t>
            </a:r>
            <a:r>
              <a:rPr lang="en-US" altLang="en-US"/>
              <a:t>✅</a:t>
            </a:r>
            <a:r>
              <a:rPr lang="en-US" altLang="zh-CN"/>
              <a:t> </a:t>
            </a:r>
            <a:r>
              <a:rPr lang="zh-CN" altLang="en-US"/>
              <a:t>任务</a:t>
            </a:r>
            <a:r>
              <a:rPr lang="en-US" altLang="zh-CN"/>
              <a:t> 2 – </a:t>
            </a:r>
            <a:r>
              <a:rPr lang="zh-CN" altLang="en-US"/>
              <a:t>正常：正常组织中基于表达的调节建模</a:t>
            </a:r>
            <a:endParaRPr lang="zh-CN" altLang="en-US"/>
          </a:p>
          <a:p>
            <a:endParaRPr lang="en-US" altLang="zh-CN"/>
          </a:p>
          <a:p>
            <a:r>
              <a:rPr lang="en-US" altLang="zh-CN"/>
              <a:t>Apply the same expression-based and TF–target analysis to normal tissues from GTEx, also grouped by MIR100HG expression level.</a:t>
            </a:r>
            <a:r>
              <a:rPr lang="zh-CN" altLang="en-US"/>
              <a:t>将相同的基于表达和</a:t>
            </a:r>
            <a:r>
              <a:rPr lang="en-US" altLang="zh-CN"/>
              <a:t> TF </a:t>
            </a:r>
            <a:r>
              <a:rPr lang="zh-CN" altLang="en-US"/>
              <a:t>靶向分析应用于</a:t>
            </a:r>
            <a:r>
              <a:rPr lang="en-US" altLang="zh-CN"/>
              <a:t> GTEx </a:t>
            </a:r>
            <a:r>
              <a:rPr lang="zh-CN" altLang="en-US"/>
              <a:t>的正常组织，也按表达水平分组</a:t>
            </a:r>
            <a:r>
              <a:rPr lang="en-US" altLang="zh-CN"/>
              <a:t>MIR100HG</a:t>
            </a:r>
            <a:endParaRPr lang="en-US" altLang="zh-CN"/>
          </a:p>
          <a:p>
            <a:r>
              <a:rPr lang="en-US" altLang="zh-CN"/>
              <a:t>Investigate whether any features differ between high and low MIR100HG expression in healthy tissues.</a:t>
            </a:r>
            <a:r>
              <a:rPr lang="zh-CN" altLang="en-US"/>
              <a:t>调查健康组织中高</a:t>
            </a:r>
            <a:r>
              <a:rPr lang="en-US" altLang="zh-CN"/>
              <a:t>MIR100HG</a:t>
            </a:r>
            <a:r>
              <a:rPr lang="zh-CN" altLang="en-US"/>
              <a:t>表达和低表达之间是否有任何特征差异。</a:t>
            </a:r>
            <a:endParaRPr lang="zh-CN" altLang="en-US"/>
          </a:p>
          <a:p>
            <a:r>
              <a:rPr lang="en-US" altLang="en-US"/>
              <a:t>✅</a:t>
            </a:r>
            <a:r>
              <a:rPr lang="en-US" altLang="zh-CN"/>
              <a:t> Task 3 – Cancer vs. Normal: Identifying cancer-specific regulation</a:t>
            </a:r>
            <a:r>
              <a:rPr lang="en-US" altLang="en-US"/>
              <a:t>✅</a:t>
            </a:r>
            <a:r>
              <a:rPr lang="en-US" altLang="zh-CN"/>
              <a:t> </a:t>
            </a:r>
            <a:r>
              <a:rPr lang="zh-CN" altLang="en-US"/>
              <a:t>任务</a:t>
            </a:r>
            <a:r>
              <a:rPr lang="en-US" altLang="zh-CN"/>
              <a:t> 3 – </a:t>
            </a:r>
            <a:r>
              <a:rPr lang="zh-CN" altLang="en-US"/>
              <a:t>癌症与正常：确定癌症特异性调节</a:t>
            </a:r>
            <a:endParaRPr lang="zh-CN" altLang="en-US"/>
          </a:p>
          <a:p>
            <a:endParaRPr lang="en-US" altLang="zh-CN"/>
          </a:p>
          <a:p>
            <a:r>
              <a:rPr lang="en-US" altLang="zh-CN"/>
              <a:t>Compare tumor and matched normal tissue results across all five cancer types.</a:t>
            </a:r>
            <a:r>
              <a:rPr lang="zh-CN" altLang="en-US"/>
              <a:t>比较所有五种癌症类型的肿瘤和匹配的正常组织结果。</a:t>
            </a:r>
            <a:endParaRPr lang="zh-CN" altLang="en-US"/>
          </a:p>
          <a:p>
            <a:r>
              <a:rPr lang="en-US" altLang="zh-CN"/>
              <a:t>Distinguish cancer-specific alterations and regulatory signatures from background variation.</a:t>
            </a:r>
            <a:r>
              <a:rPr lang="zh-CN" altLang="en-US"/>
              <a:t>区分癌症特异性改变和调节特征与背景变异。</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5E8DB0-55DC-4221-A99C-988BCD133BF3}"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en-US" altLang="zh-CN" sz="1200" b="0" i="0" u="none" strike="noStrike" kern="1200" cap="none" spc="0" normalizeH="0" baseline="0" noProof="0" dirty="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a:p>
            <a:r>
              <a:rPr lang="en-US" altLang="zh-CN"/>
              <a:t>## **</a:t>
            </a:r>
            <a:r>
              <a:rPr lang="zh-CN" altLang="en-US"/>
              <a:t>项目整体思路</a:t>
            </a:r>
            <a:r>
              <a:rPr lang="en-US" altLang="zh-CN"/>
              <a:t> Project Workflow Overview**</a:t>
            </a:r>
            <a:endParaRPr lang="en-US" altLang="zh-CN"/>
          </a:p>
          <a:p>
            <a:endParaRPr lang="en-US" altLang="zh-CN"/>
          </a:p>
          <a:p>
            <a:r>
              <a:rPr lang="zh-CN" altLang="en-US"/>
              <a:t>为系统完成本次关于</a:t>
            </a:r>
            <a:r>
              <a:rPr lang="en-US" altLang="zh-CN"/>
              <a:t> MIR100HG </a:t>
            </a:r>
            <a:r>
              <a:rPr lang="zh-CN" altLang="en-US"/>
              <a:t>多组学分析的研究任务，我们将整体流程分为以下四个阶段：</a:t>
            </a:r>
            <a:endParaRPr lang="zh-CN" altLang="en-US"/>
          </a:p>
          <a:p>
            <a:endParaRPr lang="en-US" altLang="zh-CN"/>
          </a:p>
          <a:p>
            <a:r>
              <a:rPr lang="en-US" altLang="zh-CN"/>
              <a:t>To systematically complete this multi-omics analysis on MIR100HG, our project was structured into four main stages:</a:t>
            </a:r>
            <a:endParaRPr lang="en-US" altLang="zh-CN"/>
          </a:p>
          <a:p>
            <a:endParaRPr lang="en-US" altLang="zh-CN"/>
          </a:p>
          <a:p>
            <a:r>
              <a:rPr lang="en-US" altLang="zh-CN"/>
              <a:t>---</a:t>
            </a:r>
            <a:endParaRPr lang="en-US" altLang="zh-CN"/>
          </a:p>
          <a:p>
            <a:endParaRPr lang="en-US" altLang="zh-CN"/>
          </a:p>
          <a:p>
            <a:r>
              <a:rPr lang="en-US" altLang="zh-CN"/>
              <a:t>### **</a:t>
            </a:r>
            <a:r>
              <a:rPr lang="zh-CN" altLang="en-US"/>
              <a:t>第一步：文献阅读与生物学背景补充</a:t>
            </a:r>
            <a:r>
              <a:rPr lang="en-US" altLang="zh-CN"/>
              <a:t>**  </a:t>
            </a:r>
            <a:endParaRPr lang="en-US" altLang="zh-CN"/>
          </a:p>
          <a:p>
            <a:r>
              <a:rPr lang="en-US" altLang="zh-CN"/>
              <a:t>**Step 1: Literature Review and Biological Background Understanding**</a:t>
            </a:r>
            <a:endParaRPr lang="en-US" altLang="zh-CN"/>
          </a:p>
          <a:p>
            <a:endParaRPr lang="en-US" altLang="zh-CN"/>
          </a:p>
          <a:p>
            <a:r>
              <a:rPr lang="zh-CN" altLang="en-US"/>
              <a:t>我们首先通过查阅近期关于</a:t>
            </a:r>
            <a:r>
              <a:rPr lang="en-US" altLang="zh-CN"/>
              <a:t> lncRNA</a:t>
            </a:r>
            <a:r>
              <a:rPr lang="zh-CN" altLang="en-US"/>
              <a:t>、</a:t>
            </a:r>
            <a:r>
              <a:rPr lang="en-US" altLang="zh-CN"/>
              <a:t>MIR100HG</a:t>
            </a:r>
            <a:r>
              <a:rPr lang="zh-CN" altLang="en-US"/>
              <a:t>、</a:t>
            </a:r>
            <a:r>
              <a:rPr lang="en-US" altLang="zh-CN"/>
              <a:t>TGF-β </a:t>
            </a:r>
            <a:r>
              <a:rPr lang="zh-CN" altLang="en-US"/>
              <a:t>通路、甲基化修饰以及转录因子调控的研究文献，补充并梳理了相关生物学机制和研究进展。这一阶段的目标是理解</a:t>
            </a:r>
            <a:r>
              <a:rPr lang="en-US" altLang="zh-CN"/>
              <a:t> MIR100HG </a:t>
            </a:r>
            <a:r>
              <a:rPr lang="zh-CN" altLang="en-US"/>
              <a:t>可能的调控机制，并确定分析重点方向，例如其与癌症发展的关系。</a:t>
            </a:r>
            <a:endParaRPr lang="zh-CN" altLang="en-US"/>
          </a:p>
          <a:p>
            <a:endParaRPr lang="en-US" altLang="zh-CN"/>
          </a:p>
          <a:p>
            <a:r>
              <a:rPr lang="en-US" altLang="zh-CN"/>
              <a:t>We began by conducting a thorough literature review on lncRNAs, MIR100HG, the TGF-β pathway, DNA methylation, and transcription factor regulation. This step helped us build a solid biological understanding and clarify the potential mechanisms and roles of MIR100HG in cancer progression.</a:t>
            </a:r>
            <a:endParaRPr lang="en-US" altLang="zh-CN"/>
          </a:p>
          <a:p>
            <a:endParaRPr lang="en-US" altLang="zh-CN"/>
          </a:p>
          <a:p>
            <a:r>
              <a:rPr lang="en-US" altLang="zh-CN"/>
              <a:t>---</a:t>
            </a:r>
            <a:endParaRPr lang="en-US" altLang="zh-CN"/>
          </a:p>
          <a:p>
            <a:endParaRPr lang="en-US" altLang="zh-CN"/>
          </a:p>
          <a:p>
            <a:r>
              <a:rPr lang="en-US" altLang="zh-CN"/>
              <a:t>### **</a:t>
            </a:r>
            <a:r>
              <a:rPr lang="zh-CN" altLang="en-US"/>
              <a:t>第二步：基础数据清理与统计分析</a:t>
            </a:r>
            <a:r>
              <a:rPr lang="en-US" altLang="zh-CN"/>
              <a:t>**  </a:t>
            </a:r>
            <a:endParaRPr lang="en-US" altLang="zh-CN"/>
          </a:p>
          <a:p>
            <a:r>
              <a:rPr lang="en-US" altLang="zh-CN"/>
              <a:t>**Step 2: Basic Data Cleaning and Statistical Analysis**</a:t>
            </a:r>
            <a:endParaRPr lang="en-US" altLang="zh-CN"/>
          </a:p>
          <a:p>
            <a:endParaRPr lang="en-US" altLang="zh-CN"/>
          </a:p>
          <a:p>
            <a:r>
              <a:rPr lang="zh-CN" altLang="en-US"/>
              <a:t>在获得</a:t>
            </a:r>
            <a:r>
              <a:rPr lang="en-US" altLang="zh-CN"/>
              <a:t> TCGA</a:t>
            </a:r>
            <a:r>
              <a:rPr lang="zh-CN" altLang="en-US"/>
              <a:t>、</a:t>
            </a:r>
            <a:r>
              <a:rPr lang="en-US" altLang="zh-CN"/>
              <a:t>GTEx </a:t>
            </a:r>
            <a:r>
              <a:rPr lang="zh-CN" altLang="en-US"/>
              <a:t>和</a:t>
            </a:r>
            <a:r>
              <a:rPr lang="en-US" altLang="zh-CN"/>
              <a:t> ENCODE </a:t>
            </a:r>
            <a:r>
              <a:rPr lang="zh-CN" altLang="en-US"/>
              <a:t>等数据库的数据后，我们开展了系统性的数据清洗工作，包括空值处理、异常值去除、组织学亚型筛选、样本</a:t>
            </a:r>
            <a:r>
              <a:rPr lang="en-US" altLang="zh-CN"/>
              <a:t> ID </a:t>
            </a:r>
            <a:r>
              <a:rPr lang="zh-CN" altLang="en-US"/>
              <a:t>匹配等。随后，完成了初步的统计分析任务，如基因表达分布绘图、</a:t>
            </a:r>
            <a:r>
              <a:rPr lang="en-US" altLang="zh-CN"/>
              <a:t>MIR100HG </a:t>
            </a:r>
            <a:r>
              <a:rPr lang="zh-CN" altLang="en-US"/>
              <a:t>表达高低组的划分，以及相关性计算等。</a:t>
            </a:r>
            <a:endParaRPr lang="zh-CN" altLang="en-US"/>
          </a:p>
          <a:p>
            <a:endParaRPr lang="en-US" altLang="zh-CN"/>
          </a:p>
          <a:p>
            <a:r>
              <a:rPr lang="en-US" altLang="zh-CN"/>
              <a:t>After downloading raw data from TCGA, GTEx, and ENCODE, we carried out essential data cleaning tasks, such as removing missing values and outliers, filtering by histological subtype, and matching sample IDs across datasets. Basic statistical analyses were then conducted, including distribution visualization, MIR100HG expression stratification, and correlation calculations.</a:t>
            </a:r>
            <a:endParaRPr lang="en-US" altLang="zh-CN"/>
          </a:p>
          <a:p>
            <a:endParaRPr lang="en-US" altLang="zh-CN"/>
          </a:p>
          <a:p>
            <a:r>
              <a:rPr lang="en-US" altLang="zh-CN"/>
              <a:t>---</a:t>
            </a:r>
            <a:endParaRPr lang="en-US" altLang="zh-CN"/>
          </a:p>
          <a:p>
            <a:endParaRPr lang="en-US" altLang="zh-CN"/>
          </a:p>
          <a:p>
            <a:r>
              <a:rPr lang="en-US" altLang="zh-CN"/>
              <a:t>### **</a:t>
            </a:r>
            <a:r>
              <a:rPr lang="zh-CN" altLang="en-US"/>
              <a:t>第三步：任务建模与结果分析</a:t>
            </a:r>
            <a:r>
              <a:rPr lang="en-US" altLang="zh-CN"/>
              <a:t>**  </a:t>
            </a:r>
            <a:endParaRPr lang="en-US" altLang="zh-CN"/>
          </a:p>
          <a:p>
            <a:r>
              <a:rPr lang="en-US" altLang="zh-CN"/>
              <a:t>**Step 3: Task Modeling and Analytical Execution**</a:t>
            </a:r>
            <a:endParaRPr lang="en-US" altLang="zh-CN"/>
          </a:p>
          <a:p>
            <a:endParaRPr lang="en-US" altLang="zh-CN"/>
          </a:p>
          <a:p>
            <a:r>
              <a:rPr lang="zh-CN" altLang="en-US"/>
              <a:t>根据项目任务要求，我们使用</a:t>
            </a:r>
            <a:r>
              <a:rPr lang="en-US" altLang="zh-CN"/>
              <a:t> XGBoost </a:t>
            </a:r>
            <a:r>
              <a:rPr lang="zh-CN" altLang="en-US"/>
              <a:t>建立分类模型，以预测</a:t>
            </a:r>
            <a:r>
              <a:rPr lang="en-US" altLang="zh-CN"/>
              <a:t> MIR100HG </a:t>
            </a:r>
            <a:r>
              <a:rPr lang="zh-CN" altLang="en-US"/>
              <a:t>表达水平相关的关键因子。我们整合了基因表达、</a:t>
            </a:r>
            <a:r>
              <a:rPr lang="en-US" altLang="zh-CN"/>
              <a:t>DNA </a:t>
            </a:r>
            <a:r>
              <a:rPr lang="zh-CN" altLang="en-US"/>
              <a:t>甲基化、</a:t>
            </a:r>
            <a:r>
              <a:rPr lang="en-US" altLang="zh-CN"/>
              <a:t>TF-target </a:t>
            </a:r>
            <a:r>
              <a:rPr lang="zh-CN" altLang="en-US"/>
              <a:t>关系等多组学特征，在不同癌种和正常组织中分别建模，以挖掘潜在的调控机制，并通过特征重要性评估与可视化手段进行结果解释。</a:t>
            </a:r>
            <a:endParaRPr lang="zh-CN" altLang="en-US"/>
          </a:p>
          <a:p>
            <a:endParaRPr lang="en-US" altLang="zh-CN"/>
          </a:p>
          <a:p>
            <a:r>
              <a:rPr lang="en-US" altLang="zh-CN"/>
              <a:t>Following the project tasks, we trained XGBoost classification models to predict key factors associated with MIR100HG expression levels. We integrated multi-omics features—gene expression, DNA methylation, and TF-target links—and trained models for both cancer and normal tissues. The important features were evaluated and interpreted using feature importance scores and visualization techniques.</a:t>
            </a:r>
            <a:endParaRPr lang="en-US" altLang="zh-CN"/>
          </a:p>
          <a:p>
            <a:endParaRPr lang="en-US" altLang="zh-CN"/>
          </a:p>
          <a:p>
            <a:r>
              <a:rPr lang="en-US" altLang="zh-CN"/>
              <a:t>---</a:t>
            </a:r>
            <a:endParaRPr lang="en-US" altLang="zh-CN"/>
          </a:p>
          <a:p>
            <a:endParaRPr lang="en-US" altLang="zh-CN"/>
          </a:p>
          <a:p>
            <a:r>
              <a:rPr lang="en-US" altLang="zh-CN"/>
              <a:t>### **</a:t>
            </a:r>
            <a:r>
              <a:rPr lang="zh-CN" altLang="en-US"/>
              <a:t>第四步：结果讨论与未来展望</a:t>
            </a:r>
            <a:r>
              <a:rPr lang="en-US" altLang="zh-CN"/>
              <a:t>**  </a:t>
            </a:r>
            <a:endParaRPr lang="en-US" altLang="zh-CN"/>
          </a:p>
          <a:p>
            <a:r>
              <a:rPr lang="en-US" altLang="zh-CN"/>
              <a:t>**Step 4: Result Interpretation and Future Directions**</a:t>
            </a:r>
            <a:endParaRPr lang="en-US" altLang="zh-CN"/>
          </a:p>
          <a:p>
            <a:endParaRPr lang="en-US" altLang="zh-CN"/>
          </a:p>
          <a:p>
            <a:r>
              <a:rPr lang="zh-CN" altLang="en-US"/>
              <a:t>最后，我们对模型结果进行深入解读，结合已有文献分析</a:t>
            </a:r>
            <a:r>
              <a:rPr lang="en-US" altLang="zh-CN"/>
              <a:t> MIR100HG </a:t>
            </a:r>
            <a:r>
              <a:rPr lang="zh-CN" altLang="en-US"/>
              <a:t>可能参与的通路。同时，我们对模型的局限性进行了讨论，并提出了进一步研究的方向，如纳入更多癌种、进行实验验证、拓展调控网络建模等建议，以推动后续的生物医学应用。</a:t>
            </a:r>
            <a:endParaRPr lang="zh-CN" altLang="en-US"/>
          </a:p>
          <a:p>
            <a:endParaRPr lang="en-US" altLang="zh-CN"/>
          </a:p>
          <a:p>
            <a:r>
              <a:rPr lang="en-US" altLang="zh-CN"/>
              <a:t>Finally, we interpreted the results in-depth, aligning our findings with existing biological knowledge and literature to identify potential MIR100HG-related pathways. We also discussed limitations of the current modeling approach and proposed future research directions, such as incorporating more cancer types, validating findings experimentally, and expanding regulatory network modeling to advance biomedical applications.</a:t>
            </a:r>
            <a:endParaRPr lang="en-US" altLang="zh-CN"/>
          </a:p>
          <a:p>
            <a:r>
              <a:rPr lang="zh-CN" altLang="en-US"/>
              <a:t>当然可以，下面是更精炼的版本，保留核心信息，适合直接放入报告中：</a:t>
            </a:r>
            <a:endParaRPr lang="zh-CN" altLang="en-US"/>
          </a:p>
          <a:p>
            <a:endParaRPr lang="en-US" altLang="zh-CN"/>
          </a:p>
          <a:p>
            <a:r>
              <a:rPr lang="en-US" altLang="zh-CN"/>
              <a:t>---</a:t>
            </a:r>
            <a:endParaRPr lang="en-US" altLang="zh-CN"/>
          </a:p>
          <a:p>
            <a:endParaRPr lang="en-US" altLang="zh-CN"/>
          </a:p>
          <a:p>
            <a:r>
              <a:rPr lang="en-US" altLang="zh-CN"/>
              <a:t>### 5. </a:t>
            </a:r>
            <a:r>
              <a:rPr lang="zh-CN" altLang="en-US"/>
              <a:t>协作方式与进度管理</a:t>
            </a:r>
            <a:r>
              <a:rPr lang="en-US" altLang="zh-CN"/>
              <a:t>  </a:t>
            </a:r>
            <a:endParaRPr lang="en-US" altLang="zh-CN"/>
          </a:p>
          <a:p>
            <a:r>
              <a:rPr lang="en-US" altLang="zh-CN"/>
              <a:t>**Collaboration &amp; Progress Tracking**</a:t>
            </a:r>
            <a:endParaRPr lang="en-US" altLang="zh-CN"/>
          </a:p>
          <a:p>
            <a:endParaRPr lang="en-US" altLang="zh-CN"/>
          </a:p>
          <a:p>
            <a:r>
              <a:rPr lang="zh-CN" altLang="en-US"/>
              <a:t>我们通过</a:t>
            </a:r>
            <a:r>
              <a:rPr lang="en-US" altLang="zh-CN"/>
              <a:t> **Google Drive</a:t>
            </a:r>
            <a:r>
              <a:rPr lang="zh-CN" altLang="en-US"/>
              <a:t>、</a:t>
            </a:r>
            <a:r>
              <a:rPr lang="en-US" altLang="zh-CN"/>
              <a:t>Notion </a:t>
            </a:r>
            <a:r>
              <a:rPr lang="zh-CN" altLang="en-US"/>
              <a:t>和</a:t>
            </a:r>
            <a:r>
              <a:rPr lang="en-US" altLang="zh-CN"/>
              <a:t> GitHub** </a:t>
            </a:r>
            <a:r>
              <a:rPr lang="zh-CN" altLang="en-US"/>
              <a:t>协同工作，实现数据、代码和文档的同步更新。使用</a:t>
            </a:r>
            <a:r>
              <a:rPr lang="en-US" altLang="zh-CN"/>
              <a:t> **Notion </a:t>
            </a:r>
            <a:r>
              <a:rPr lang="zh-CN" altLang="en-US"/>
              <a:t>看板</a:t>
            </a:r>
            <a:r>
              <a:rPr lang="en-US" altLang="zh-CN"/>
              <a:t>** </a:t>
            </a:r>
            <a:r>
              <a:rPr lang="zh-CN" altLang="en-US"/>
              <a:t>直观管理任务进度，确保小组分工明确、沟通高效。每位成员负责不同模块，并通过共享文档进行交叉检查，确保结果一致性。</a:t>
            </a:r>
            <a:endParaRPr lang="zh-CN" altLang="en-US"/>
          </a:p>
          <a:p>
            <a:endParaRPr lang="en-US" altLang="zh-CN"/>
          </a:p>
          <a:p>
            <a:r>
              <a:rPr lang="en-US" altLang="zh-CN"/>
              <a:t>We collaborated via **Google Drive, Notion, and GitHub** to keep data, code, and documents synchronized. **Notion boards** were used to track progress visually. Tasks were divided among members, with shared documents enabling cross-review to ensure consistency.</a:t>
            </a:r>
            <a:endParaRPr lang="en-US" altLang="zh-CN"/>
          </a:p>
          <a:p>
            <a:endParaRPr lang="en-US" altLang="zh-CN"/>
          </a:p>
          <a:p>
            <a:r>
              <a:rPr lang="en-US" altLang="zh-CN"/>
              <a:t>---</a:t>
            </a:r>
            <a:endParaRPr lang="en-US" altLang="zh-CN"/>
          </a:p>
          <a:p>
            <a:endParaRPr lang="en-US" altLang="zh-CN"/>
          </a:p>
          <a:p>
            <a:r>
              <a:rPr lang="zh-CN" altLang="en-US"/>
              <a:t>如果你还想进一步压缩到一两句话，也可以告诉我。</a:t>
            </a:r>
            <a:endParaRPr lang="zh-CN" altLang="en-US"/>
          </a:p>
          <a:p>
            <a:endParaRPr lang="en-US" altLang="zh-CN"/>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a:t>
            </a:r>
            <a:r>
              <a:rPr lang="en-US" altLang="zh-CN"/>
              <a:t> Slide 4 – Section: Data Preprocessing</a:t>
            </a:r>
            <a:r>
              <a:rPr lang="zh-CN" altLang="en-US"/>
              <a:t>🧪</a:t>
            </a:r>
            <a:r>
              <a:rPr lang="en-US" altLang="zh-CN"/>
              <a:t> </a:t>
            </a:r>
            <a:r>
              <a:rPr lang="zh-CN" altLang="en-US"/>
              <a:t>幻灯片</a:t>
            </a:r>
            <a:r>
              <a:rPr lang="en-US" altLang="zh-CN"/>
              <a:t> 4 – </a:t>
            </a:r>
            <a:r>
              <a:rPr lang="zh-CN" altLang="en-US"/>
              <a:t>部分：数据预处理</a:t>
            </a:r>
            <a:endParaRPr lang="zh-CN" altLang="en-US"/>
          </a:p>
          <a:p>
            <a:endParaRPr lang="en-US" altLang="zh-CN"/>
          </a:p>
          <a:p>
            <a:r>
              <a:rPr lang="zh-CN" altLang="en-US"/>
              <a:t>🔧</a:t>
            </a:r>
            <a:r>
              <a:rPr lang="en-US" altLang="zh-CN"/>
              <a:t> Standardisation and Sample Matching</a:t>
            </a:r>
            <a:r>
              <a:rPr lang="zh-CN" altLang="en-US"/>
              <a:t>🔧</a:t>
            </a:r>
            <a:r>
              <a:rPr lang="en-US" altLang="zh-CN"/>
              <a:t> </a:t>
            </a:r>
            <a:r>
              <a:rPr lang="zh-CN" altLang="en-US"/>
              <a:t>标准化和样品匹配</a:t>
            </a:r>
            <a:endParaRPr lang="zh-CN" altLang="en-US"/>
          </a:p>
          <a:p>
            <a:r>
              <a:rPr lang="en-US" altLang="zh-CN"/>
              <a:t>Prior to the analysis, all omics layers (expression, methylation, grouping) were structurally aligned to ensure integration consistency.</a:t>
            </a:r>
            <a:r>
              <a:rPr lang="zh-CN" altLang="en-US"/>
              <a:t>在分析之前，所有组学层（表达、甲基化、分组）在结构上都进行了对齐，以确保整合的一致性。</a:t>
            </a:r>
            <a:endParaRPr lang="zh-CN" altLang="en-US"/>
          </a:p>
          <a:p>
            <a:r>
              <a:rPr lang="en-US" altLang="zh-CN"/>
              <a:t>We unified column names and sample ID formats across data matrices, ensuring one-to-one correspondence between:</a:t>
            </a:r>
            <a:r>
              <a:rPr lang="zh-CN" altLang="en-US"/>
              <a:t>我们在数据矩阵中统一了列名称和样品</a:t>
            </a:r>
            <a:r>
              <a:rPr lang="en-US" altLang="zh-CN"/>
              <a:t> ID </a:t>
            </a:r>
            <a:r>
              <a:rPr lang="zh-CN" altLang="en-US"/>
              <a:t>格式，确保以下两者之间一一对应：</a:t>
            </a:r>
            <a:endParaRPr lang="zh-CN" altLang="en-US"/>
          </a:p>
          <a:p>
            <a:r>
              <a:rPr lang="en-US" altLang="zh-CN"/>
              <a:t>Gene expression matrix</a:t>
            </a:r>
            <a:r>
              <a:rPr lang="zh-CN" altLang="en-US"/>
              <a:t>基因表达矩阵</a:t>
            </a:r>
            <a:endParaRPr lang="zh-CN" altLang="en-US"/>
          </a:p>
          <a:p>
            <a:r>
              <a:rPr lang="en-US" altLang="zh-CN"/>
              <a:t>DNA methylation matrixDNA </a:t>
            </a:r>
            <a:r>
              <a:rPr lang="zh-CN" altLang="en-US"/>
              <a:t>甲基化基质</a:t>
            </a:r>
            <a:endParaRPr lang="zh-CN" altLang="en-US"/>
          </a:p>
          <a:p>
            <a:r>
              <a:rPr lang="en-US" altLang="zh-CN"/>
              <a:t>MIR100HG-based group labels</a:t>
            </a:r>
            <a:r>
              <a:rPr lang="zh-CN" altLang="en-US"/>
              <a:t>基于</a:t>
            </a:r>
            <a:r>
              <a:rPr lang="en-US" altLang="zh-CN"/>
              <a:t> MIR100HG </a:t>
            </a:r>
            <a:r>
              <a:rPr lang="zh-CN" altLang="en-US"/>
              <a:t>的组标签</a:t>
            </a:r>
            <a:endParaRPr lang="zh-CN" altLang="en-US"/>
          </a:p>
          <a:p>
            <a:r>
              <a:rPr lang="en-US" altLang="zh-CN"/>
              <a:t>Unmatched samples across sources were discarded to maintain data integrity.</a:t>
            </a:r>
            <a:r>
              <a:rPr lang="zh-CN" altLang="en-US"/>
              <a:t>丢弃不同来源的不匹配样品以保持数据完整性。</a:t>
            </a:r>
            <a:endParaRPr lang="zh-CN" altLang="en-US"/>
          </a:p>
          <a:p>
            <a:r>
              <a:rPr lang="zh-CN" altLang="en-US"/>
              <a:t>🧼</a:t>
            </a:r>
            <a:r>
              <a:rPr lang="en-US" altLang="zh-CN"/>
              <a:t> Normalization and Scaling</a:t>
            </a:r>
            <a:r>
              <a:rPr lang="zh-CN" altLang="en-US"/>
              <a:t>🧼</a:t>
            </a:r>
            <a:r>
              <a:rPr lang="en-US" altLang="zh-CN"/>
              <a:t> </a:t>
            </a:r>
            <a:r>
              <a:rPr lang="zh-CN" altLang="en-US"/>
              <a:t>规范化和缩放</a:t>
            </a:r>
            <a:endParaRPr lang="zh-CN" altLang="en-US"/>
          </a:p>
          <a:p>
            <a:r>
              <a:rPr lang="en-US" altLang="zh-CN"/>
              <a:t>No further normalization was applied because:</a:t>
            </a:r>
            <a:r>
              <a:rPr lang="zh-CN" altLang="en-US"/>
              <a:t>没有进一步规范化，因为：</a:t>
            </a:r>
            <a:endParaRPr lang="zh-CN" altLang="en-US"/>
          </a:p>
          <a:p>
            <a:r>
              <a:rPr lang="en-US" altLang="zh-CN"/>
              <a:t>Gene expression values were provided as log</a:t>
            </a:r>
            <a:r>
              <a:rPr lang="en-US" altLang="en-US"/>
              <a:t>₂</a:t>
            </a:r>
            <a:r>
              <a:rPr lang="en-US" altLang="zh-CN"/>
              <a:t>(TPM + 0.001)</a:t>
            </a:r>
            <a:r>
              <a:rPr lang="zh-CN" altLang="en-US"/>
              <a:t>基因表达值以</a:t>
            </a:r>
            <a:r>
              <a:rPr lang="en-US" altLang="zh-CN"/>
              <a:t> log</a:t>
            </a:r>
            <a:r>
              <a:rPr lang="en-US" altLang="en-US"/>
              <a:t>₂</a:t>
            </a:r>
            <a:r>
              <a:rPr lang="en-US" altLang="zh-CN"/>
              <a:t> </a:t>
            </a:r>
            <a:r>
              <a:rPr lang="zh-CN" altLang="en-US"/>
              <a:t>（</a:t>
            </a:r>
            <a:r>
              <a:rPr lang="en-US" altLang="zh-CN"/>
              <a:t>TPM + 0.001</a:t>
            </a:r>
            <a:r>
              <a:rPr lang="zh-CN" altLang="en-US"/>
              <a:t>）</a:t>
            </a:r>
            <a:r>
              <a:rPr lang="en-US" altLang="zh-CN"/>
              <a:t> </a:t>
            </a:r>
            <a:r>
              <a:rPr lang="zh-CN" altLang="en-US"/>
              <a:t>的形式提供</a:t>
            </a:r>
            <a:endParaRPr lang="zh-CN" altLang="en-US"/>
          </a:p>
          <a:p>
            <a:r>
              <a:rPr lang="en-US" altLang="zh-CN"/>
              <a:t>Methylation values were given as β-values</a:t>
            </a:r>
            <a:r>
              <a:rPr lang="zh-CN" altLang="en-US"/>
              <a:t>甲基化值以</a:t>
            </a:r>
            <a:r>
              <a:rPr lang="en-US" altLang="zh-CN"/>
              <a:t> β </a:t>
            </a:r>
            <a:r>
              <a:rPr lang="zh-CN" altLang="en-US"/>
              <a:t>值给出</a:t>
            </a:r>
            <a:endParaRPr lang="zh-CN" altLang="en-US"/>
          </a:p>
          <a:p>
            <a:r>
              <a:rPr lang="en-US" altLang="zh-CN"/>
              <a:t>All data originated from preprocessed and standardized public sources (TCGA, GTEx)</a:t>
            </a:r>
            <a:r>
              <a:rPr lang="zh-CN" altLang="en-US"/>
              <a:t>所有数据均来自经过预处理的标准化公共来源（</a:t>
            </a:r>
            <a:r>
              <a:rPr lang="en-US" altLang="zh-CN"/>
              <a:t>TCGA</a:t>
            </a:r>
            <a:r>
              <a:rPr lang="zh-CN" altLang="en-US"/>
              <a:t>、</a:t>
            </a:r>
            <a:r>
              <a:rPr lang="en-US" altLang="zh-CN"/>
              <a:t>GTEx</a:t>
            </a:r>
            <a:r>
              <a:rPr lang="zh-CN" altLang="en-US"/>
              <a:t>）</a:t>
            </a:r>
            <a:endParaRPr lang="zh-CN" altLang="en-US"/>
          </a:p>
          <a:p>
            <a:r>
              <a:rPr lang="en-US" altLang="en-US"/>
              <a:t>❌</a:t>
            </a:r>
            <a:r>
              <a:rPr lang="en-US" altLang="zh-CN"/>
              <a:t> Missing Value Handling</a:t>
            </a:r>
            <a:r>
              <a:rPr lang="en-US" altLang="en-US"/>
              <a:t>❌</a:t>
            </a:r>
            <a:r>
              <a:rPr lang="en-US" altLang="zh-CN"/>
              <a:t> </a:t>
            </a:r>
            <a:r>
              <a:rPr lang="zh-CN" altLang="en-US"/>
              <a:t>缺失值处理</a:t>
            </a:r>
            <a:endParaRPr lang="zh-CN" altLang="en-US"/>
          </a:p>
          <a:p>
            <a:r>
              <a:rPr lang="en-US" altLang="zh-CN"/>
              <a:t>Due to the biological sensitivity of methylation and expression features in cancer:</a:t>
            </a:r>
            <a:r>
              <a:rPr lang="zh-CN" altLang="en-US"/>
              <a:t>由于甲基化和表达特征在癌症中的生物学敏感性：</a:t>
            </a:r>
            <a:endParaRPr lang="zh-CN" altLang="en-US"/>
          </a:p>
          <a:p>
            <a:r>
              <a:rPr lang="en-US" altLang="zh-CN"/>
              <a:t>We adopted a strict deletion strategy.</a:t>
            </a:r>
            <a:r>
              <a:rPr lang="zh-CN" altLang="en-US"/>
              <a:t>我们采用了严格的删除策略。</a:t>
            </a:r>
            <a:endParaRPr lang="zh-CN" altLang="en-US"/>
          </a:p>
          <a:p>
            <a:r>
              <a:rPr lang="en-US" altLang="zh-CN"/>
              <a:t>Missing values were not imputed (e.g., by mean/median).</a:t>
            </a:r>
            <a:r>
              <a:rPr lang="zh-CN" altLang="en-US"/>
              <a:t>缺失值未插补（例如，按平均值</a:t>
            </a:r>
            <a:r>
              <a:rPr lang="en-US" altLang="zh-CN"/>
              <a:t>/</a:t>
            </a:r>
            <a:r>
              <a:rPr lang="zh-CN" altLang="en-US"/>
              <a:t>中位数）。</a:t>
            </a:r>
            <a:endParaRPr lang="zh-CN" altLang="en-US"/>
          </a:p>
          <a:p>
            <a:r>
              <a:rPr lang="en-US" altLang="zh-CN"/>
              <a:t>Any feature (row) with missing values was removed entirely.</a:t>
            </a:r>
            <a:r>
              <a:rPr lang="zh-CN" altLang="en-US"/>
              <a:t>任何具有缺失值的要素（行）都将被完全删除。</a:t>
            </a:r>
            <a:endParaRPr lang="zh-CN" altLang="en-US"/>
          </a:p>
          <a:p>
            <a:r>
              <a:rPr lang="en-US" altLang="zh-CN"/>
              <a:t>This decision was based on empirical observation:</a:t>
            </a:r>
            <a:r>
              <a:rPr lang="zh-CN" altLang="en-US"/>
              <a:t>这个决定是基于实证观察的：</a:t>
            </a:r>
            <a:endParaRPr lang="zh-CN" altLang="en-US"/>
          </a:p>
          <a:p>
            <a:r>
              <a:rPr lang="en-US" altLang="zh-CN"/>
              <a:t>Features with missingness were either fully complete or had &gt;80% missing values, indicating non-random patterns.</a:t>
            </a:r>
            <a:r>
              <a:rPr lang="zh-CN" altLang="en-US"/>
              <a:t>缺失的特征要么完全完整，要么缺失值为</a:t>
            </a:r>
            <a:r>
              <a:rPr lang="en-US" altLang="zh-CN"/>
              <a:t> &gt;80%</a:t>
            </a:r>
            <a:r>
              <a:rPr lang="zh-CN" altLang="en-US"/>
              <a:t>，表明存在非随机模式。</a:t>
            </a:r>
            <a:endParaRPr lang="zh-CN" altLang="en-US"/>
          </a:p>
          <a:p>
            <a:r>
              <a:rPr lang="zh-CN" altLang="en-US"/>
              <a:t>📊</a:t>
            </a:r>
            <a:r>
              <a:rPr lang="en-US" altLang="zh-CN"/>
              <a:t> MIR100HG Expression Stratification</a:t>
            </a:r>
            <a:r>
              <a:rPr lang="zh-CN" altLang="en-US"/>
              <a:t>📊</a:t>
            </a:r>
            <a:r>
              <a:rPr lang="en-US" altLang="zh-CN"/>
              <a:t> MIR100HG </a:t>
            </a:r>
            <a:r>
              <a:rPr lang="zh-CN" altLang="en-US"/>
              <a:t>表达式分层</a:t>
            </a:r>
            <a:endParaRPr lang="zh-CN" altLang="en-US"/>
          </a:p>
          <a:p>
            <a:r>
              <a:rPr lang="en-US" altLang="zh-CN"/>
              <a:t>Patients were divided into High and Low expression groups based on the median value of MIR100HG expression.</a:t>
            </a:r>
            <a:r>
              <a:rPr lang="zh-CN" altLang="en-US"/>
              <a:t>根据</a:t>
            </a:r>
            <a:r>
              <a:rPr lang="en-US" altLang="zh-CN"/>
              <a:t> MIR100HG </a:t>
            </a:r>
            <a:r>
              <a:rPr lang="zh-CN" altLang="en-US"/>
              <a:t>表达的中位值将患者分为高表达组和低表达组。</a:t>
            </a:r>
            <a:endParaRPr lang="zh-CN" altLang="en-US"/>
          </a:p>
          <a:p>
            <a:r>
              <a:rPr lang="en-US" altLang="zh-CN"/>
              <a:t>Visualization showed that the distribution of MIR100HG was approximately normal, justifying the use of the median cutoff.</a:t>
            </a:r>
            <a:r>
              <a:rPr lang="zh-CN" altLang="en-US"/>
              <a:t>可视化显示</a:t>
            </a:r>
            <a:r>
              <a:rPr lang="en-US" altLang="zh-CN"/>
              <a:t> MIR100HG </a:t>
            </a:r>
            <a:r>
              <a:rPr lang="zh-CN" altLang="en-US"/>
              <a:t>的分布大致正常，证明了使用中位临界值的合理性。</a:t>
            </a:r>
            <a:endParaRPr lang="zh-CN" altLang="en-US"/>
          </a:p>
          <a:p>
            <a:r>
              <a:rPr lang="en-US" altLang="zh-CN"/>
              <a:t>To retain sufficient sample size, we avoided quartile-based stratification or trimming intermediate cases.</a:t>
            </a:r>
            <a:r>
              <a:rPr lang="zh-CN" altLang="en-US"/>
              <a:t>为了保持足够的样本量，我们避免了基于四分位数的分层或修剪中间案例。</a:t>
            </a:r>
            <a:endParaRPr lang="zh-CN" altLang="en-US"/>
          </a:p>
          <a:p>
            <a:r>
              <a:rPr lang="en-US" altLang="en-US"/>
              <a:t>✅</a:t>
            </a:r>
            <a:r>
              <a:rPr lang="en-US" altLang="zh-CN"/>
              <a:t> Summary:</a:t>
            </a:r>
            <a:r>
              <a:rPr lang="en-US" altLang="en-US"/>
              <a:t>✅</a:t>
            </a:r>
            <a:r>
              <a:rPr lang="en-US" altLang="zh-CN"/>
              <a:t> </a:t>
            </a:r>
            <a:r>
              <a:rPr lang="zh-CN" altLang="en-US"/>
              <a:t>总结：</a:t>
            </a:r>
            <a:endParaRPr lang="zh-CN" altLang="en-US"/>
          </a:p>
          <a:p>
            <a:r>
              <a:rPr lang="en-US" altLang="zh-CN"/>
              <a:t>A rigorous preprocessing pipeline was applied to ensure data integrity, comparability across omics types, and statistical robustness of MIR100HG-based groupings for downstream modeling.</a:t>
            </a:r>
            <a:r>
              <a:rPr lang="zh-CN" altLang="en-US"/>
              <a:t>应用了严格的预处理管道，以确保数据完整性、组学类型之间的可比性以及用于下游建模的基于</a:t>
            </a:r>
            <a:r>
              <a:rPr lang="en-US" altLang="zh-CN"/>
              <a:t> MIR100HG </a:t>
            </a:r>
            <a:r>
              <a:rPr lang="zh-CN" altLang="en-US"/>
              <a:t>的分组的统计稳健性。</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zh-CN" altLang="en-US" b="1" i="0" u="none" strike="noStrike">
                <a:solidFill>
                  <a:srgbClr val="000000"/>
                </a:solidFill>
                <a:effectLst/>
              </a:rPr>
              <a:t>特征缩放的具体步骤如下：</a:t>
            </a:r>
            <a:endParaRPr lang="zh-CN" altLang="en-US" b="1" i="0" u="none" strike="noStrike">
              <a:solidFill>
                <a:srgbClr val="000000"/>
              </a:solidFill>
              <a:effectLst/>
            </a:endParaRPr>
          </a:p>
          <a:p>
            <a:pPr algn="l"/>
            <a:endParaRPr lang="zh-CN" altLang="en-US" b="1" i="0" u="none" strike="noStrike">
              <a:solidFill>
                <a:srgbClr val="000000"/>
              </a:solidFill>
              <a:effectLst/>
            </a:endParaRPr>
          </a:p>
          <a:p>
            <a:pPr algn="l"/>
            <a:r>
              <a:rPr lang="en-US" altLang="zh-CN" b="1" i="0" u="none" strike="noStrike">
                <a:solidFill>
                  <a:srgbClr val="000000"/>
                </a:solidFill>
                <a:effectLst/>
              </a:rPr>
              <a:t>1. **</a:t>
            </a:r>
            <a:r>
              <a:rPr lang="zh-CN" altLang="en-US" b="1" i="0" u="none" strike="noStrike">
                <a:solidFill>
                  <a:srgbClr val="000000"/>
                </a:solidFill>
                <a:effectLst/>
              </a:rPr>
              <a:t>计算每个变量的均值和标准差**：</a:t>
            </a:r>
            <a:endParaRPr lang="zh-CN" altLang="en-US" b="1" i="0" u="none" strike="noStrike">
              <a:solidFill>
                <a:srgbClr val="000000"/>
              </a:solidFill>
              <a:effectLst/>
            </a:endParaRPr>
          </a:p>
          <a:p>
            <a:pPr algn="l"/>
            <a:r>
              <a:rPr lang="zh-CN" altLang="en-US" b="1" i="0" u="none" strike="noStrike">
                <a:solidFill>
                  <a:srgbClr val="000000"/>
                </a:solidFill>
                <a:effectLst/>
              </a:rPr>
              <a:t>   </a:t>
            </a:r>
            <a:r>
              <a:rPr lang="en-US" altLang="zh-CN" b="1" i="0" u="none" strike="noStrike">
                <a:solidFill>
                  <a:srgbClr val="000000"/>
                </a:solidFill>
                <a:effectLst/>
              </a:rPr>
              <a:t>- </a:t>
            </a:r>
            <a:r>
              <a:rPr lang="zh-CN" altLang="en-US" b="1" i="0" u="none" strike="noStrike">
                <a:solidFill>
                  <a:srgbClr val="000000"/>
                </a:solidFill>
                <a:effectLst/>
              </a:rPr>
              <a:t>对于每个数值变量，计算其在整个数据集中的均值（</a:t>
            </a:r>
            <a:r>
              <a:rPr lang="el-GR" altLang="zh-CN" b="1" i="0" u="none" strike="noStrike">
                <a:solidFill>
                  <a:srgbClr val="000000"/>
                </a:solidFill>
                <a:effectLst/>
              </a:rPr>
              <a:t>μ</a:t>
            </a:r>
            <a:r>
              <a:rPr lang="zh-CN" altLang="el-GR" b="1" i="0" u="none" strike="noStrike">
                <a:solidFill>
                  <a:srgbClr val="000000"/>
                </a:solidFill>
                <a:effectLst/>
              </a:rPr>
              <a:t>）</a:t>
            </a:r>
            <a:r>
              <a:rPr lang="zh-CN" altLang="en-US" b="1" i="0" u="none" strike="noStrike">
                <a:solidFill>
                  <a:srgbClr val="000000"/>
                </a:solidFill>
                <a:effectLst/>
              </a:rPr>
              <a:t>和标准差（</a:t>
            </a:r>
            <a:r>
              <a:rPr lang="el-GR" altLang="zh-CN" b="1" i="0" u="none" strike="noStrike">
                <a:solidFill>
                  <a:srgbClr val="000000"/>
                </a:solidFill>
                <a:effectLst/>
              </a:rPr>
              <a:t>σ</a:t>
            </a:r>
            <a:r>
              <a:rPr lang="zh-CN" altLang="el-GR" b="1" i="0" u="none" strike="noStrike">
                <a:solidFill>
                  <a:srgbClr val="000000"/>
                </a:solidFill>
                <a:effectLst/>
              </a:rPr>
              <a:t>）。</a:t>
            </a:r>
            <a:endParaRPr lang="zh-CN" altLang="el-GR" b="1" i="0" u="none" strike="noStrike">
              <a:solidFill>
                <a:srgbClr val="000000"/>
              </a:solidFill>
              <a:effectLst/>
            </a:endParaRPr>
          </a:p>
          <a:p>
            <a:pPr algn="l"/>
            <a:endParaRPr lang="zh-CN" altLang="el-GR" b="1" i="0" u="none" strike="noStrike">
              <a:solidFill>
                <a:srgbClr val="000000"/>
              </a:solidFill>
              <a:effectLst/>
            </a:endParaRPr>
          </a:p>
          <a:p>
            <a:pPr algn="l"/>
            <a:r>
              <a:rPr lang="el-GR" altLang="zh-CN" b="1" i="0" u="none" strike="noStrike">
                <a:solidFill>
                  <a:srgbClr val="000000"/>
                </a:solidFill>
                <a:effectLst/>
              </a:rPr>
              <a:t>2. **</a:t>
            </a:r>
            <a:r>
              <a:rPr lang="zh-CN" altLang="en-US" b="1" i="0" u="none" strike="noStrike">
                <a:solidFill>
                  <a:srgbClr val="000000"/>
                </a:solidFill>
                <a:effectLst/>
              </a:rPr>
              <a:t>应用</a:t>
            </a:r>
            <a:r>
              <a:rPr lang="en-GB" altLang="zh-CN" b="1" i="0" u="none" strike="noStrike">
                <a:solidFill>
                  <a:srgbClr val="000000"/>
                </a:solidFill>
                <a:effectLst/>
              </a:rPr>
              <a:t>Z-Score</a:t>
            </a:r>
            <a:r>
              <a:rPr lang="zh-CN" altLang="en-US" b="1" i="0" u="none" strike="noStrike">
                <a:solidFill>
                  <a:srgbClr val="000000"/>
                </a:solidFill>
                <a:effectLst/>
              </a:rPr>
              <a:t>标准化**：</a:t>
            </a:r>
            <a:endParaRPr lang="zh-CN" altLang="en-US" b="1" i="0" u="none" strike="noStrike">
              <a:solidFill>
                <a:srgbClr val="000000"/>
              </a:solidFill>
              <a:effectLst/>
            </a:endParaRPr>
          </a:p>
          <a:p>
            <a:pPr algn="l"/>
            <a:r>
              <a:rPr lang="zh-CN" altLang="en-US" b="1" i="0" u="none" strike="noStrike">
                <a:solidFill>
                  <a:srgbClr val="000000"/>
                </a:solidFill>
                <a:effectLst/>
              </a:rPr>
              <a:t>   </a:t>
            </a:r>
            <a:r>
              <a:rPr lang="en-US" altLang="zh-CN" b="1" i="0" u="none" strike="noStrike">
                <a:solidFill>
                  <a:srgbClr val="000000"/>
                </a:solidFill>
                <a:effectLst/>
              </a:rPr>
              <a:t>- </a:t>
            </a:r>
            <a:r>
              <a:rPr lang="zh-CN" altLang="en-US" b="1" i="0" u="none" strike="noStrike">
                <a:solidFill>
                  <a:srgbClr val="000000"/>
                </a:solidFill>
                <a:effectLst/>
              </a:rPr>
              <a:t>对于每个数值变量中的每个数据点，应用</a:t>
            </a:r>
            <a:r>
              <a:rPr lang="en-GB" altLang="zh-CN" b="1" i="0" u="none" strike="noStrike">
                <a:solidFill>
                  <a:srgbClr val="000000"/>
                </a:solidFill>
                <a:effectLst/>
              </a:rPr>
              <a:t>Z-Score</a:t>
            </a:r>
            <a:r>
              <a:rPr lang="zh-CN" altLang="en-US" b="1" i="0" u="none" strike="noStrike">
                <a:solidFill>
                  <a:srgbClr val="000000"/>
                </a:solidFill>
                <a:effectLst/>
              </a:rPr>
              <a:t>标准化公式：</a:t>
            </a:r>
            <a:endParaRPr lang="zh-CN" altLang="en-US" b="1" i="0" u="none" strike="noStrike">
              <a:solidFill>
                <a:srgbClr val="000000"/>
              </a:solidFill>
              <a:effectLst/>
            </a:endParaRPr>
          </a:p>
          <a:p>
            <a:pPr algn="l"/>
            <a:r>
              <a:rPr lang="zh-CN" altLang="en-US" b="1" i="0" u="none" strike="noStrike">
                <a:solidFill>
                  <a:srgbClr val="000000"/>
                </a:solidFill>
                <a:effectLst/>
              </a:rPr>
              <a:t>     </a:t>
            </a:r>
            <a:r>
              <a:rPr lang="en-US" altLang="zh-CN" b="1" i="0" u="none" strike="noStrike">
                <a:solidFill>
                  <a:srgbClr val="000000"/>
                </a:solidFill>
                <a:effectLst/>
              </a:rPr>
              <a:t>\[</a:t>
            </a:r>
            <a:endParaRPr lang="en-US" altLang="zh-CN" b="1" i="0" u="none" strike="noStrike">
              <a:solidFill>
                <a:srgbClr val="000000"/>
              </a:solidFill>
              <a:effectLst/>
            </a:endParaRPr>
          </a:p>
          <a:p>
            <a:pPr algn="l"/>
            <a:r>
              <a:rPr lang="en-US" altLang="zh-CN" b="1" i="0" u="none" strike="noStrike">
                <a:solidFill>
                  <a:srgbClr val="000000"/>
                </a:solidFill>
                <a:effectLst/>
              </a:rPr>
              <a:t>     </a:t>
            </a:r>
            <a:r>
              <a:rPr lang="en-GB" altLang="zh-CN" b="1" i="0" u="none" strike="noStrike">
                <a:solidFill>
                  <a:srgbClr val="000000"/>
                </a:solidFill>
                <a:effectLst/>
              </a:rPr>
              <a:t>z = \frac{x - \mu}{\sigma}</a:t>
            </a:r>
            <a:endParaRPr lang="en-GB" altLang="zh-CN" b="1" i="0" u="none" strike="noStrike">
              <a:solidFill>
                <a:srgbClr val="000000"/>
              </a:solidFill>
              <a:effectLst/>
            </a:endParaRPr>
          </a:p>
          <a:p>
            <a:pPr algn="l"/>
            <a:r>
              <a:rPr lang="en-GB" altLang="zh-CN" b="1" i="0" u="none" strike="noStrike">
                <a:solidFill>
                  <a:srgbClr val="000000"/>
                </a:solidFill>
                <a:effectLst/>
              </a:rPr>
              <a:t>     \]</a:t>
            </a:r>
            <a:endParaRPr lang="en-GB" altLang="zh-CN" b="1" i="0" u="none" strike="noStrike">
              <a:solidFill>
                <a:srgbClr val="000000"/>
              </a:solidFill>
              <a:effectLst/>
            </a:endParaRPr>
          </a:p>
          <a:p>
            <a:pPr algn="l"/>
            <a:r>
              <a:rPr lang="en-GB" altLang="zh-CN" b="1" i="0" u="none" strike="noStrike">
                <a:solidFill>
                  <a:srgbClr val="000000"/>
                </a:solidFill>
                <a:effectLst/>
              </a:rPr>
              <a:t>   </a:t>
            </a:r>
            <a:r>
              <a:rPr lang="zh-CN" altLang="en-US" b="1" i="0" u="none" strike="noStrike">
                <a:solidFill>
                  <a:srgbClr val="000000"/>
                </a:solidFill>
                <a:effectLst/>
              </a:rPr>
              <a:t>其中，</a:t>
            </a:r>
            <a:r>
              <a:rPr lang="en-US" altLang="zh-CN" b="1" i="0" u="none" strike="noStrike">
                <a:solidFill>
                  <a:srgbClr val="000000"/>
                </a:solidFill>
                <a:effectLst/>
              </a:rPr>
              <a:t>\( </a:t>
            </a:r>
            <a:r>
              <a:rPr lang="en-GB" altLang="zh-CN" b="1" i="0" u="none" strike="noStrike">
                <a:solidFill>
                  <a:srgbClr val="000000"/>
                </a:solidFill>
                <a:effectLst/>
              </a:rPr>
              <a:t>z \) </a:t>
            </a:r>
            <a:r>
              <a:rPr lang="zh-CN" altLang="en-US" b="1" i="0" u="none" strike="noStrike">
                <a:solidFill>
                  <a:srgbClr val="000000"/>
                </a:solidFill>
                <a:effectLst/>
              </a:rPr>
              <a:t>是标准化后的数值，</a:t>
            </a:r>
            <a:r>
              <a:rPr lang="en-US" altLang="zh-CN" b="1" i="0" u="none" strike="noStrike">
                <a:solidFill>
                  <a:srgbClr val="000000"/>
                </a:solidFill>
                <a:effectLst/>
              </a:rPr>
              <a:t>\( </a:t>
            </a:r>
            <a:r>
              <a:rPr lang="en-GB" altLang="zh-CN" b="1" i="0" u="none" strike="noStrike">
                <a:solidFill>
                  <a:srgbClr val="000000"/>
                </a:solidFill>
                <a:effectLst/>
              </a:rPr>
              <a:t>x \) </a:t>
            </a:r>
            <a:r>
              <a:rPr lang="zh-CN" altLang="en-US" b="1" i="0" u="none" strike="noStrike">
                <a:solidFill>
                  <a:srgbClr val="000000"/>
                </a:solidFill>
                <a:effectLst/>
              </a:rPr>
              <a:t>是原始数值，</a:t>
            </a:r>
            <a:r>
              <a:rPr lang="en-US" altLang="zh-CN" b="1" i="0" u="none" strike="noStrike">
                <a:solidFill>
                  <a:srgbClr val="000000"/>
                </a:solidFill>
                <a:effectLst/>
              </a:rPr>
              <a:t>\( \</a:t>
            </a:r>
            <a:r>
              <a:rPr lang="en-GB" altLang="zh-CN" b="1" i="0" u="none" strike="noStrike">
                <a:solidFill>
                  <a:srgbClr val="000000"/>
                </a:solidFill>
                <a:effectLst/>
              </a:rPr>
              <a:t>mu \) </a:t>
            </a:r>
            <a:r>
              <a:rPr lang="zh-CN" altLang="en-US" b="1" i="0" u="none" strike="noStrike">
                <a:solidFill>
                  <a:srgbClr val="000000"/>
                </a:solidFill>
                <a:effectLst/>
              </a:rPr>
              <a:t>是变量的均值，</a:t>
            </a:r>
            <a:r>
              <a:rPr lang="en-US" altLang="zh-CN" b="1" i="0" u="none" strike="noStrike">
                <a:solidFill>
                  <a:srgbClr val="000000"/>
                </a:solidFill>
                <a:effectLst/>
              </a:rPr>
              <a:t>\( \</a:t>
            </a:r>
            <a:r>
              <a:rPr lang="en-GB" altLang="zh-CN" b="1" i="0" u="none" strike="noStrike">
                <a:solidFill>
                  <a:srgbClr val="000000"/>
                </a:solidFill>
                <a:effectLst/>
              </a:rPr>
              <a:t>sigma \) </a:t>
            </a:r>
            <a:r>
              <a:rPr lang="zh-CN" altLang="en-US" b="1" i="0" u="none" strike="noStrike">
                <a:solidFill>
                  <a:srgbClr val="000000"/>
                </a:solidFill>
                <a:effectLst/>
              </a:rPr>
              <a:t>是变量的标准差。</a:t>
            </a:r>
            <a:endParaRPr lang="zh-CN" altLang="en-US" b="1" i="0" u="none" strike="noStrike">
              <a:solidFill>
                <a:srgbClr val="000000"/>
              </a:solidFill>
              <a:effectLst/>
            </a:endParaRPr>
          </a:p>
          <a:p>
            <a:pPr algn="l"/>
            <a:endParaRPr lang="zh-CN" altLang="en-US" b="1" i="0" u="none" strike="noStrike">
              <a:solidFill>
                <a:srgbClr val="000000"/>
              </a:solidFill>
              <a:effectLst/>
            </a:endParaRPr>
          </a:p>
          <a:p>
            <a:pPr algn="l"/>
            <a:r>
              <a:rPr lang="en-US" altLang="zh-CN" b="1" i="0" u="none" strike="noStrike">
                <a:solidFill>
                  <a:srgbClr val="000000"/>
                </a:solidFill>
                <a:effectLst/>
              </a:rPr>
              <a:t>3. **</a:t>
            </a:r>
            <a:r>
              <a:rPr lang="zh-CN" altLang="en-US" b="1" i="0" u="none" strike="noStrike">
                <a:solidFill>
                  <a:srgbClr val="000000"/>
                </a:solidFill>
                <a:effectLst/>
              </a:rPr>
              <a:t>处理缺失值**：</a:t>
            </a:r>
            <a:endParaRPr lang="zh-CN" altLang="en-US" b="1" i="0" u="none" strike="noStrike">
              <a:solidFill>
                <a:srgbClr val="000000"/>
              </a:solidFill>
              <a:effectLst/>
            </a:endParaRPr>
          </a:p>
          <a:p>
            <a:pPr algn="l"/>
            <a:r>
              <a:rPr lang="zh-CN" altLang="en-US" b="1" i="0" u="none" strike="noStrike">
                <a:solidFill>
                  <a:srgbClr val="000000"/>
                </a:solidFill>
                <a:effectLst/>
              </a:rPr>
              <a:t>   </a:t>
            </a:r>
            <a:r>
              <a:rPr lang="en-US" altLang="zh-CN" b="1" i="0" u="none" strike="noStrike">
                <a:solidFill>
                  <a:srgbClr val="000000"/>
                </a:solidFill>
                <a:effectLst/>
              </a:rPr>
              <a:t>- </a:t>
            </a:r>
            <a:r>
              <a:rPr lang="zh-CN" altLang="en-US" b="1" i="0" u="none" strike="noStrike">
                <a:solidFill>
                  <a:srgbClr val="000000"/>
                </a:solidFill>
                <a:effectLst/>
              </a:rPr>
              <a:t>在标准化之前，先通过</a:t>
            </a:r>
            <a:r>
              <a:rPr lang="en-GB" altLang="zh-CN" b="1" i="0" u="none" strike="noStrike">
                <a:solidFill>
                  <a:srgbClr val="000000"/>
                </a:solidFill>
                <a:effectLst/>
              </a:rPr>
              <a:t>missMDA</a:t>
            </a:r>
            <a:r>
              <a:rPr lang="zh-CN" altLang="en-US" b="1" i="0" u="none" strike="noStrike">
                <a:solidFill>
                  <a:srgbClr val="000000"/>
                </a:solidFill>
                <a:effectLst/>
              </a:rPr>
              <a:t>包使用主成分分析（</a:t>
            </a:r>
            <a:r>
              <a:rPr lang="en-GB" altLang="zh-CN" b="1" i="0" u="none" strike="noStrike">
                <a:solidFill>
                  <a:srgbClr val="000000"/>
                </a:solidFill>
                <a:effectLst/>
              </a:rPr>
              <a:t>PCA</a:t>
            </a:r>
            <a:r>
              <a:rPr lang="zh-CN" altLang="en-GB" b="1" i="0" u="none" strike="noStrike">
                <a:solidFill>
                  <a:srgbClr val="000000"/>
                </a:solidFill>
                <a:effectLst/>
              </a:rPr>
              <a:t>）</a:t>
            </a:r>
            <a:r>
              <a:rPr lang="zh-CN" altLang="en-US" b="1" i="0" u="none" strike="noStrike">
                <a:solidFill>
                  <a:srgbClr val="000000"/>
                </a:solidFill>
                <a:effectLst/>
              </a:rPr>
              <a:t>模型对缺失值进行插补，以确保完整的数据集。这一步骤确保在计算均值和标准差时不受缺失值的影响。</a:t>
            </a:r>
            <a:endParaRPr lang="zh-CN" altLang="en-US" b="1" i="0" u="none" strike="noStrike">
              <a:solidFill>
                <a:srgbClr val="000000"/>
              </a:solidFill>
              <a:effectLst/>
            </a:endParaRPr>
          </a:p>
          <a:p>
            <a:pPr algn="l"/>
            <a:endParaRPr lang="zh-CN" altLang="en-US" b="1" i="0" u="none" strike="noStrike">
              <a:solidFill>
                <a:srgbClr val="000000"/>
              </a:solidFill>
              <a:effectLst/>
            </a:endParaRPr>
          </a:p>
          <a:p>
            <a:pPr algn="l"/>
            <a:r>
              <a:rPr lang="en-US" altLang="zh-CN" b="1" i="0" u="none" strike="noStrike">
                <a:solidFill>
                  <a:srgbClr val="000000"/>
                </a:solidFill>
                <a:effectLst/>
              </a:rPr>
              <a:t>4. **</a:t>
            </a:r>
            <a:r>
              <a:rPr lang="zh-CN" altLang="en-US" b="1" i="0" u="none" strike="noStrike">
                <a:solidFill>
                  <a:srgbClr val="000000"/>
                </a:solidFill>
                <a:effectLst/>
              </a:rPr>
              <a:t>确保数据集一致性**：</a:t>
            </a:r>
            <a:endParaRPr lang="zh-CN" altLang="en-US" b="1" i="0" u="none" strike="noStrike">
              <a:solidFill>
                <a:srgbClr val="000000"/>
              </a:solidFill>
              <a:effectLst/>
            </a:endParaRPr>
          </a:p>
          <a:p>
            <a:pPr algn="l"/>
            <a:r>
              <a:rPr lang="zh-CN" altLang="en-US" b="1" i="0" u="none" strike="noStrike">
                <a:solidFill>
                  <a:srgbClr val="000000"/>
                </a:solidFill>
                <a:effectLst/>
              </a:rPr>
              <a:t>   </a:t>
            </a:r>
            <a:r>
              <a:rPr lang="en-US" altLang="zh-CN" b="1" i="0" u="none" strike="noStrike">
                <a:solidFill>
                  <a:srgbClr val="000000"/>
                </a:solidFill>
                <a:effectLst/>
              </a:rPr>
              <a:t>- </a:t>
            </a:r>
            <a:r>
              <a:rPr lang="zh-CN" altLang="en-US" b="1" i="0" u="none" strike="noStrike">
                <a:solidFill>
                  <a:srgbClr val="000000"/>
                </a:solidFill>
                <a:effectLst/>
              </a:rPr>
              <a:t>在整个数据集上应用相同的标准化步骤，以确保训练集和测试集在同一尺度上进行建模和预测。</a:t>
            </a:r>
            <a:endParaRPr lang="zh-CN" altLang="en-US" b="1" i="0" u="none" strike="noStrike">
              <a:solidFill>
                <a:srgbClr val="000000"/>
              </a:solidFill>
              <a:effectLst/>
            </a:endParaRPr>
          </a:p>
          <a:p>
            <a:pPr algn="l"/>
            <a:endParaRPr lang="zh-CN" altLang="en-US" b="1" i="0" u="none" strike="noStrike">
              <a:solidFill>
                <a:srgbClr val="000000"/>
              </a:solidFill>
              <a:effectLst/>
            </a:endParaRPr>
          </a:p>
          <a:p>
            <a:pPr algn="l"/>
            <a:r>
              <a:rPr lang="en-US" altLang="zh-CN" b="1" i="0" u="none" strike="noStrike">
                <a:solidFill>
                  <a:srgbClr val="000000"/>
                </a:solidFill>
                <a:effectLst/>
              </a:rPr>
              <a:t>5. **</a:t>
            </a:r>
            <a:r>
              <a:rPr lang="zh-CN" altLang="en-US" b="1" i="0" u="none" strike="noStrike">
                <a:solidFill>
                  <a:srgbClr val="000000"/>
                </a:solidFill>
                <a:effectLst/>
              </a:rPr>
              <a:t>不对选定的预测变量进行进一步缩放**：</a:t>
            </a:r>
            <a:endParaRPr lang="zh-CN" altLang="en-US" b="1" i="0" u="none" strike="noStrike">
              <a:solidFill>
                <a:srgbClr val="000000"/>
              </a:solidFill>
              <a:effectLst/>
            </a:endParaRPr>
          </a:p>
          <a:p>
            <a:pPr algn="l"/>
            <a:r>
              <a:rPr lang="zh-CN" altLang="en-US" b="1" i="0" u="none" strike="noStrike">
                <a:solidFill>
                  <a:srgbClr val="000000"/>
                </a:solidFill>
                <a:effectLst/>
              </a:rPr>
              <a:t>   </a:t>
            </a:r>
            <a:r>
              <a:rPr lang="en-US" altLang="zh-CN" b="1" i="0" u="none" strike="noStrike">
                <a:solidFill>
                  <a:srgbClr val="000000"/>
                </a:solidFill>
                <a:effectLst/>
              </a:rPr>
              <a:t>- </a:t>
            </a:r>
            <a:r>
              <a:rPr lang="zh-CN" altLang="en-US" b="1" i="0" u="none" strike="noStrike">
                <a:solidFill>
                  <a:srgbClr val="000000"/>
                </a:solidFill>
                <a:effectLst/>
              </a:rPr>
              <a:t>对于使用</a:t>
            </a:r>
            <a:r>
              <a:rPr lang="en-GB" altLang="zh-CN" b="1" i="0" u="none" strike="noStrike">
                <a:solidFill>
                  <a:srgbClr val="000000"/>
                </a:solidFill>
                <a:effectLst/>
              </a:rPr>
              <a:t>XGBoost</a:t>
            </a:r>
            <a:r>
              <a:rPr lang="zh-CN" altLang="en-US" b="1" i="0" u="none" strike="noStrike">
                <a:solidFill>
                  <a:srgbClr val="000000"/>
                </a:solidFill>
                <a:effectLst/>
              </a:rPr>
              <a:t>模型的情况，特征缩放对所选预测变量没有进一步应用，因为</a:t>
            </a:r>
            <a:r>
              <a:rPr lang="en-GB" altLang="zh-CN" b="1" i="0" u="none" strike="noStrike">
                <a:solidFill>
                  <a:srgbClr val="000000"/>
                </a:solidFill>
                <a:effectLst/>
              </a:rPr>
              <a:t>XGBoost</a:t>
            </a:r>
            <a:r>
              <a:rPr lang="zh-CN" altLang="en-US" b="1" i="0" u="none" strike="noStrike">
                <a:solidFill>
                  <a:srgbClr val="000000"/>
                </a:solidFill>
                <a:effectLst/>
              </a:rPr>
              <a:t>的决策树算法对输入数据的尺度不敏感，分裂点的位置不受特征缩放的影响。</a:t>
            </a:r>
            <a:endParaRPr lang="zh-CN" altLang="en-US" b="1" i="0" u="none" strike="noStrike">
              <a:solidFill>
                <a:srgbClr val="000000"/>
              </a:solidFill>
              <a:effectLst/>
            </a:endParaRPr>
          </a:p>
          <a:p>
            <a:pPr algn="l"/>
            <a:endParaRPr lang="zh-CN" altLang="en-US" b="1" i="0" u="none" strike="noStrike">
              <a:solidFill>
                <a:srgbClr val="000000"/>
              </a:solidFill>
              <a:effectLst/>
            </a:endParaRPr>
          </a:p>
          <a:p>
            <a:pPr algn="l"/>
            <a:r>
              <a:rPr lang="zh-CN" altLang="en-US" b="1" i="0" u="none" strike="noStrike">
                <a:solidFill>
                  <a:srgbClr val="000000"/>
                </a:solidFill>
                <a:effectLst/>
              </a:rPr>
              <a:t>在论文中，这些步骤保证了数据的标准化处理，从而使得模型能够更有效地处理和分析数据</a:t>
            </a:r>
            <a:r>
              <a:rPr lang="en-US" altLang="zh-CN" b="1" i="0" u="none" strike="noStrike">
                <a:solidFill>
                  <a:srgbClr val="000000"/>
                </a:solidFill>
                <a:effectLst/>
              </a:rPr>
              <a:t>【7†</a:t>
            </a:r>
            <a:r>
              <a:rPr lang="en-GB" altLang="zh-CN" b="1" i="0" u="none" strike="noStrike">
                <a:solidFill>
                  <a:srgbClr val="000000"/>
                </a:solidFill>
                <a:effectLst/>
              </a:rPr>
              <a:t>source】</a:t>
            </a:r>
            <a:r>
              <a:rPr lang="zh-CN" altLang="en-GB" b="1" i="0" u="none" strike="noStrike">
                <a:solidFill>
                  <a:srgbClr val="000000"/>
                </a:solidFill>
                <a:effectLst/>
              </a:rPr>
              <a:t>。</a:t>
            </a:r>
            <a:endParaRPr lang="en-GB" altLang="zh-CN" b="0" i="0" u="none" strike="noStrike">
              <a:solidFill>
                <a:srgbClr val="000000"/>
              </a:solidFill>
              <a:effectLs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GB" b="0" i="0" u="none" strike="noStrike">
                <a:solidFill>
                  <a:srgbClr val="000000"/>
                </a:solidFill>
                <a:effectLst/>
              </a:rPr>
              <a:t>我们</a:t>
            </a:r>
            <a:r>
              <a:rPr lang="zh-CN" altLang="en-US" b="0" i="0" u="none" strike="noStrike">
                <a:solidFill>
                  <a:srgbClr val="000000"/>
                </a:solidFill>
                <a:effectLst/>
              </a:rPr>
              <a:t>用类似的方法</a:t>
            </a:r>
            <a:r>
              <a:rPr lang="zh-CN" altLang="en-US" sz="1200">
                <a:solidFill>
                  <a:prstClr val="black"/>
                </a:solidFill>
                <a:latin typeface="等线 Light" panose="020F0302020204030204"/>
                <a:ea typeface="等线 Light" panose="02010600030101010101" pitchFamily="2" charset="-122"/>
              </a:rPr>
              <a:t>继续将</a:t>
            </a:r>
            <a:r>
              <a:rPr lang="en-GB" altLang="zh-CN" sz="1200">
                <a:solidFill>
                  <a:prstClr val="black"/>
                </a:solidFill>
                <a:latin typeface="等线 Light" panose="020F0302020204030204"/>
                <a:ea typeface="等线 Light" panose="02010600030101010101" pitchFamily="2" charset="-122"/>
              </a:rPr>
              <a:t>XGBoost</a:t>
            </a:r>
            <a:r>
              <a:rPr lang="zh-CN" altLang="en-US" sz="1200">
                <a:solidFill>
                  <a:prstClr val="black"/>
                </a:solidFill>
                <a:latin typeface="等线 Light" panose="020F0302020204030204"/>
                <a:ea typeface="等线 Light" panose="02010600030101010101" pitchFamily="2" charset="-122"/>
              </a:rPr>
              <a:t>模型的性能与</a:t>
            </a:r>
            <a:r>
              <a:rPr lang="zh-CN" altLang="en-US" sz="2400" b="1">
                <a:solidFill>
                  <a:srgbClr val="01328B"/>
                </a:solidFill>
                <a:latin typeface="方正小标宋简体" panose="02010601030101010101" charset="-122"/>
                <a:ea typeface="方正小标宋简体" panose="02010601030101010101" charset="-122"/>
                <a:cs typeface="方正小标宋简体" panose="02010601030101010101" charset="-122"/>
              </a:rPr>
              <a:t>随机森林和人工神经网络进行比较：</a:t>
            </a:r>
            <a:r>
              <a:rPr lang="zh-CN" altLang="en-US" sz="1200">
                <a:solidFill>
                  <a:srgbClr val="FFFFFF">
                    <a:lumMod val="50000"/>
                  </a:srgbClr>
                </a:solidFill>
                <a:latin typeface="微软雅黑 Light" panose="020B0502040204020203" charset="-122"/>
                <a:ea typeface="微软雅黑 Light" panose="020B0502040204020203" charset="-122"/>
              </a:rPr>
              <a:t>结果如表所示。使用均方误差</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MSE)</a:t>
            </a:r>
            <a:r>
              <a:rPr lang="zh-CN" altLang="en-US" sz="1200">
                <a:solidFill>
                  <a:srgbClr val="FFFFFF">
                    <a:lumMod val="50000"/>
                  </a:srgbClr>
                </a:solidFill>
                <a:latin typeface="微软雅黑 Light" panose="020B0502040204020203" charset="-122"/>
                <a:ea typeface="微软雅黑 Light" panose="020B0502040204020203" charset="-122"/>
              </a:rPr>
              <a:t>作为损失函数，均方根传播</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RMSprop)</a:t>
            </a:r>
            <a:r>
              <a:rPr lang="zh-CN" altLang="en-US" sz="1200">
                <a:solidFill>
                  <a:srgbClr val="FFFFFF">
                    <a:lumMod val="50000"/>
                  </a:srgbClr>
                </a:solidFill>
                <a:latin typeface="微软雅黑 Light" panose="020B0502040204020203" charset="-122"/>
                <a:ea typeface="微软雅黑 Light" panose="020B0502040204020203" charset="-122"/>
              </a:rPr>
              <a:t>作为学习率为</a:t>
            </a:r>
            <a:r>
              <a:rPr lang="en-US" altLang="zh-CN" sz="1200">
                <a:solidFill>
                  <a:srgbClr val="FFFFFF">
                    <a:lumMod val="50000"/>
                  </a:srgbClr>
                </a:solidFill>
                <a:latin typeface="微软雅黑 Light" panose="020B0502040204020203" charset="-122"/>
                <a:ea typeface="微软雅黑 Light" panose="020B0502040204020203" charset="-122"/>
              </a:rPr>
              <a:t>0.005</a:t>
            </a:r>
            <a:r>
              <a:rPr lang="zh-CN" altLang="en-US" sz="1200">
                <a:solidFill>
                  <a:srgbClr val="FFFFFF">
                    <a:lumMod val="50000"/>
                  </a:srgbClr>
                </a:solidFill>
                <a:latin typeface="微软雅黑 Light" panose="020B0502040204020203" charset="-122"/>
                <a:ea typeface="微软雅黑 Light" panose="020B0502040204020203" charset="-122"/>
              </a:rPr>
              <a:t>的优化器，平均绝对误差</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MAE)</a:t>
            </a:r>
            <a:r>
              <a:rPr lang="zh-CN" altLang="en-US" sz="1200">
                <a:solidFill>
                  <a:srgbClr val="FFFFFF">
                    <a:lumMod val="50000"/>
                  </a:srgbClr>
                </a:solidFill>
                <a:latin typeface="微软雅黑 Light" panose="020B0502040204020203" charset="-122"/>
                <a:ea typeface="微软雅黑 Light" panose="020B0502040204020203" charset="-122"/>
              </a:rPr>
              <a:t>作为性能度量，对模型进行编译。</a:t>
            </a:r>
            <a:r>
              <a:rPr lang="en-GB" altLang="zh-CN" sz="1200">
                <a:solidFill>
                  <a:srgbClr val="FFFFFF">
                    <a:lumMod val="50000"/>
                  </a:srgbClr>
                </a:solidFill>
                <a:latin typeface="微软雅黑 Light" panose="020B0502040204020203" charset="-122"/>
                <a:ea typeface="微软雅黑 Light" panose="020B0502040204020203" charset="-122"/>
              </a:rPr>
              <a:t> </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XGBoost</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模型分别优于</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ANN</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和</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RF</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模型。</a:t>
            </a:r>
            <a:r>
              <a:rPr lang="en-GB" altLang="zh-CN" sz="1200">
                <a:solidFill>
                  <a:srgbClr val="FFFFFF">
                    <a:lumMod val="50000"/>
                  </a:srgbClr>
                </a:solidFill>
                <a:latin typeface="微软雅黑 Light" panose="020B0502040204020203" charset="-122"/>
                <a:ea typeface="微软雅黑 Light" panose="020B0502040204020203" charset="-122"/>
              </a:rPr>
              <a:t>XGBoost</a:t>
            </a:r>
            <a:r>
              <a:rPr lang="zh-CN" altLang="en-US" sz="1200">
                <a:solidFill>
                  <a:srgbClr val="FFFFFF">
                    <a:lumMod val="50000"/>
                  </a:srgbClr>
                </a:solidFill>
                <a:latin typeface="微软雅黑 Light" panose="020B0502040204020203" charset="-122"/>
                <a:ea typeface="微软雅黑 Light" panose="020B0502040204020203" charset="-122"/>
              </a:rPr>
              <a:t>和</a:t>
            </a:r>
            <a:r>
              <a:rPr lang="en-GB" altLang="zh-CN" sz="1200">
                <a:solidFill>
                  <a:srgbClr val="FFFFFF">
                    <a:lumMod val="50000"/>
                  </a:srgbClr>
                </a:solidFill>
                <a:latin typeface="微软雅黑 Light" panose="020B0502040204020203" charset="-122"/>
                <a:ea typeface="微软雅黑 Light" panose="020B0502040204020203" charset="-122"/>
              </a:rPr>
              <a:t>RF</a:t>
            </a:r>
            <a:r>
              <a:rPr lang="zh-CN" altLang="en-US" sz="1200">
                <a:solidFill>
                  <a:srgbClr val="FFFFFF">
                    <a:lumMod val="50000"/>
                  </a:srgbClr>
                </a:solidFill>
                <a:latin typeface="微软雅黑 Light" panose="020B0502040204020203" charset="-122"/>
                <a:ea typeface="微软雅黑 Light" panose="020B0502040204020203" charset="-122"/>
              </a:rPr>
              <a:t>模型在模型训练运行时间方面是有效的。在这方面，</a:t>
            </a:r>
            <a:r>
              <a:rPr lang="en-GB" altLang="zh-CN" sz="1200">
                <a:solidFill>
                  <a:srgbClr val="FFFFFF">
                    <a:lumMod val="50000"/>
                  </a:srgbClr>
                </a:solidFill>
                <a:latin typeface="微软雅黑 Light" panose="020B0502040204020203" charset="-122"/>
                <a:ea typeface="微软雅黑 Light" panose="020B0502040204020203" charset="-122"/>
              </a:rPr>
              <a:t>ANN</a:t>
            </a:r>
            <a:r>
              <a:rPr lang="zh-CN" altLang="en-US" sz="1200">
                <a:solidFill>
                  <a:srgbClr val="FFFFFF">
                    <a:lumMod val="50000"/>
                  </a:srgbClr>
                </a:solidFill>
                <a:latin typeface="微软雅黑 Light" panose="020B0502040204020203" charset="-122"/>
                <a:ea typeface="微软雅黑 Light" panose="020B0502040204020203" charset="-122"/>
              </a:rPr>
              <a:t>模型表现不佳。</a:t>
            </a:r>
            <a:endParaRPr lang="en-US" altLang="zh-CN" sz="1200">
              <a:solidFill>
                <a:srgbClr val="FFFFFF">
                  <a:lumMod val="50000"/>
                </a:srgbClr>
              </a:solidFill>
              <a:latin typeface="微软雅黑 Light" panose="020B0502040204020203" charset="-122"/>
              <a:ea typeface="微软雅黑 Light" panose="020B0502040204020203" charset="-122"/>
            </a:endParaRPr>
          </a:p>
          <a:p>
            <a:pPr algn="l"/>
            <a:endParaRPr lang="en-US" altLang="zh-CN" sz="1200" b="0" i="0" u="none" strike="noStrike">
              <a:solidFill>
                <a:srgbClr val="FFFFFF">
                  <a:lumMod val="50000"/>
                </a:srgbClr>
              </a:solidFill>
              <a:effectLst/>
              <a:latin typeface="微软雅黑 Light" panose="020B0502040204020203" charset="-122"/>
              <a:ea typeface="微软雅黑 Light" panose="020B0502040204020203" charset="-122"/>
            </a:endParaRPr>
          </a:p>
          <a:p>
            <a:pPr algn="l"/>
            <a:r>
              <a:rPr lang="zh-CN" altLang="en-US" sz="1200" b="0" i="0" u="none" strike="noStrike">
                <a:solidFill>
                  <a:srgbClr val="FFFFFF">
                    <a:lumMod val="50000"/>
                  </a:srgbClr>
                </a:solidFill>
                <a:effectLst/>
                <a:latin typeface="微软雅黑 Light" panose="020B0502040204020203" charset="-122"/>
                <a:ea typeface="微软雅黑 Light" panose="020B0502040204020203" charset="-122"/>
              </a:rPr>
              <a:t>因此最后我们选择利用</a:t>
            </a:r>
            <a:r>
              <a:rPr lang="zh-CN" altLang="en-US"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极限梯度增强</a:t>
            </a:r>
            <a:r>
              <a:rPr lang="en-US" altLang="zh-CN"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a:t>
            </a:r>
            <a:r>
              <a:rPr lang="en-GB" altLang="zh-CN"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XGBoost)</a:t>
            </a:r>
            <a:r>
              <a:rPr lang="zh-CN" altLang="en-US"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算法对成员国的数据进行寿命预测。</a:t>
            </a:r>
            <a:endParaRPr lang="en-GB" altLang="zh-CN" b="0" i="0" u="none" strike="noStrike">
              <a:solidFill>
                <a:srgbClr val="000000"/>
              </a:solidFill>
              <a:effectLst/>
            </a:endParaRPr>
          </a:p>
        </p:txBody>
      </p:sp>
      <p:sp>
        <p:nvSpPr>
          <p:cNvPr id="4" name="灯片编号占位符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defRPr/>
            </a:pPr>
            <a:fld id="{C1499AD4-E722-484B-9751-AA89CAA54D8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5E8DB0-55DC-4221-A99C-988BCD133BF3}"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en-US" altLang="zh-CN" sz="1200" b="0" i="0" u="none" strike="noStrike" kern="1200" cap="none" spc="0" normalizeH="0" baseline="0" noProof="0" dirty="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lvl="0" indent="-342900" algn="just">
              <a:buFont typeface="Wingdings" panose="05000000000000000000" pitchFamily="2" charset="2"/>
              <a:buChar char=""/>
            </a:pPr>
            <a:endParaRPr lang="zh-CN" altLang="zh-CN" sz="1800" kern="100">
              <a:effectLst/>
              <a:latin typeface="Calibri" panose="020F0502020204030204" pitchFamily="34" charset="0"/>
              <a:ea typeface="宋体" pitchFamily="2" charset="-122"/>
              <a:cs typeface="Times New Roman" panose="02020503050405090304" charset="0"/>
            </a:endParaRPr>
          </a:p>
        </p:txBody>
      </p:sp>
      <p:sp>
        <p:nvSpPr>
          <p:cNvPr id="4" name="灯片编号占位符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defRPr/>
            </a:pPr>
            <a:fld id="{F5E6C439-5B31-42A4-9D65-F2D199E8886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GB" b="0" i="0" u="none" strike="noStrike">
                <a:solidFill>
                  <a:srgbClr val="000000"/>
                </a:solidFill>
                <a:effectLst/>
              </a:rPr>
              <a:t>我们</a:t>
            </a:r>
            <a:r>
              <a:rPr lang="zh-CN" altLang="en-US" b="0" i="0" u="none" strike="noStrike">
                <a:solidFill>
                  <a:srgbClr val="000000"/>
                </a:solidFill>
                <a:effectLst/>
              </a:rPr>
              <a:t>用类似的方法</a:t>
            </a:r>
            <a:r>
              <a:rPr lang="zh-CN" altLang="en-US" sz="1200">
                <a:solidFill>
                  <a:prstClr val="black"/>
                </a:solidFill>
                <a:latin typeface="等线 Light" panose="020F0302020204030204"/>
                <a:ea typeface="等线 Light" panose="02010600030101010101" pitchFamily="2" charset="-122"/>
              </a:rPr>
              <a:t>继续将</a:t>
            </a:r>
            <a:r>
              <a:rPr lang="en-GB" altLang="zh-CN" sz="1200">
                <a:solidFill>
                  <a:prstClr val="black"/>
                </a:solidFill>
                <a:latin typeface="等线 Light" panose="020F0302020204030204"/>
                <a:ea typeface="等线 Light" panose="02010600030101010101" pitchFamily="2" charset="-122"/>
              </a:rPr>
              <a:t>XGBoost</a:t>
            </a:r>
            <a:r>
              <a:rPr lang="zh-CN" altLang="en-US" sz="1200">
                <a:solidFill>
                  <a:prstClr val="black"/>
                </a:solidFill>
                <a:latin typeface="等线 Light" panose="020F0302020204030204"/>
                <a:ea typeface="等线 Light" panose="02010600030101010101" pitchFamily="2" charset="-122"/>
              </a:rPr>
              <a:t>模型的性能与</a:t>
            </a:r>
            <a:r>
              <a:rPr lang="zh-CN" altLang="en-US" sz="2400" b="1">
                <a:solidFill>
                  <a:srgbClr val="01328B"/>
                </a:solidFill>
                <a:latin typeface="方正小标宋简体" panose="02010601030101010101" charset="-122"/>
                <a:ea typeface="方正小标宋简体" panose="02010601030101010101" charset="-122"/>
                <a:cs typeface="方正小标宋简体" panose="02010601030101010101" charset="-122"/>
              </a:rPr>
              <a:t>随机森林和人工神经网络进行比较：</a:t>
            </a:r>
            <a:r>
              <a:rPr lang="zh-CN" altLang="en-US" sz="1200">
                <a:solidFill>
                  <a:srgbClr val="FFFFFF">
                    <a:lumMod val="50000"/>
                  </a:srgbClr>
                </a:solidFill>
                <a:latin typeface="微软雅黑 Light" panose="020B0502040204020203" charset="-122"/>
                <a:ea typeface="微软雅黑 Light" panose="020B0502040204020203" charset="-122"/>
              </a:rPr>
              <a:t>结果如表所示。使用均方误差</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MSE)</a:t>
            </a:r>
            <a:r>
              <a:rPr lang="zh-CN" altLang="en-US" sz="1200">
                <a:solidFill>
                  <a:srgbClr val="FFFFFF">
                    <a:lumMod val="50000"/>
                  </a:srgbClr>
                </a:solidFill>
                <a:latin typeface="微软雅黑 Light" panose="020B0502040204020203" charset="-122"/>
                <a:ea typeface="微软雅黑 Light" panose="020B0502040204020203" charset="-122"/>
              </a:rPr>
              <a:t>作为损失函数，均方根传播</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RMSprop)</a:t>
            </a:r>
            <a:r>
              <a:rPr lang="zh-CN" altLang="en-US" sz="1200">
                <a:solidFill>
                  <a:srgbClr val="FFFFFF">
                    <a:lumMod val="50000"/>
                  </a:srgbClr>
                </a:solidFill>
                <a:latin typeface="微软雅黑 Light" panose="020B0502040204020203" charset="-122"/>
                <a:ea typeface="微软雅黑 Light" panose="020B0502040204020203" charset="-122"/>
              </a:rPr>
              <a:t>作为学习率为</a:t>
            </a:r>
            <a:r>
              <a:rPr lang="en-US" altLang="zh-CN" sz="1200">
                <a:solidFill>
                  <a:srgbClr val="FFFFFF">
                    <a:lumMod val="50000"/>
                  </a:srgbClr>
                </a:solidFill>
                <a:latin typeface="微软雅黑 Light" panose="020B0502040204020203" charset="-122"/>
                <a:ea typeface="微软雅黑 Light" panose="020B0502040204020203" charset="-122"/>
              </a:rPr>
              <a:t>0.005</a:t>
            </a:r>
            <a:r>
              <a:rPr lang="zh-CN" altLang="en-US" sz="1200">
                <a:solidFill>
                  <a:srgbClr val="FFFFFF">
                    <a:lumMod val="50000"/>
                  </a:srgbClr>
                </a:solidFill>
                <a:latin typeface="微软雅黑 Light" panose="020B0502040204020203" charset="-122"/>
                <a:ea typeface="微软雅黑 Light" panose="020B0502040204020203" charset="-122"/>
              </a:rPr>
              <a:t>的优化器，平均绝对误差</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MAE)</a:t>
            </a:r>
            <a:r>
              <a:rPr lang="zh-CN" altLang="en-US" sz="1200">
                <a:solidFill>
                  <a:srgbClr val="FFFFFF">
                    <a:lumMod val="50000"/>
                  </a:srgbClr>
                </a:solidFill>
                <a:latin typeface="微软雅黑 Light" panose="020B0502040204020203" charset="-122"/>
                <a:ea typeface="微软雅黑 Light" panose="020B0502040204020203" charset="-122"/>
              </a:rPr>
              <a:t>作为性能度量，对模型进行编译。</a:t>
            </a:r>
            <a:r>
              <a:rPr lang="en-GB" altLang="zh-CN" sz="1200">
                <a:solidFill>
                  <a:srgbClr val="FFFFFF">
                    <a:lumMod val="50000"/>
                  </a:srgbClr>
                </a:solidFill>
                <a:latin typeface="微软雅黑 Light" panose="020B0502040204020203" charset="-122"/>
                <a:ea typeface="微软雅黑 Light" panose="020B0502040204020203" charset="-122"/>
              </a:rPr>
              <a:t> </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XGBoost</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模型分别优于</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ANN</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和</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RF</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模型。</a:t>
            </a:r>
            <a:r>
              <a:rPr lang="en-GB" altLang="zh-CN" sz="1200">
                <a:solidFill>
                  <a:srgbClr val="FFFFFF">
                    <a:lumMod val="50000"/>
                  </a:srgbClr>
                </a:solidFill>
                <a:latin typeface="微软雅黑 Light" panose="020B0502040204020203" charset="-122"/>
                <a:ea typeface="微软雅黑 Light" panose="020B0502040204020203" charset="-122"/>
              </a:rPr>
              <a:t>XGBoost</a:t>
            </a:r>
            <a:r>
              <a:rPr lang="zh-CN" altLang="en-US" sz="1200">
                <a:solidFill>
                  <a:srgbClr val="FFFFFF">
                    <a:lumMod val="50000"/>
                  </a:srgbClr>
                </a:solidFill>
                <a:latin typeface="微软雅黑 Light" panose="020B0502040204020203" charset="-122"/>
                <a:ea typeface="微软雅黑 Light" panose="020B0502040204020203" charset="-122"/>
              </a:rPr>
              <a:t>和</a:t>
            </a:r>
            <a:r>
              <a:rPr lang="en-GB" altLang="zh-CN" sz="1200">
                <a:solidFill>
                  <a:srgbClr val="FFFFFF">
                    <a:lumMod val="50000"/>
                  </a:srgbClr>
                </a:solidFill>
                <a:latin typeface="微软雅黑 Light" panose="020B0502040204020203" charset="-122"/>
                <a:ea typeface="微软雅黑 Light" panose="020B0502040204020203" charset="-122"/>
              </a:rPr>
              <a:t>RF</a:t>
            </a:r>
            <a:r>
              <a:rPr lang="zh-CN" altLang="en-US" sz="1200">
                <a:solidFill>
                  <a:srgbClr val="FFFFFF">
                    <a:lumMod val="50000"/>
                  </a:srgbClr>
                </a:solidFill>
                <a:latin typeface="微软雅黑 Light" panose="020B0502040204020203" charset="-122"/>
                <a:ea typeface="微软雅黑 Light" panose="020B0502040204020203" charset="-122"/>
              </a:rPr>
              <a:t>模型在模型训练运行时间方面是有效的。在这方面，</a:t>
            </a:r>
            <a:r>
              <a:rPr lang="en-GB" altLang="zh-CN" sz="1200">
                <a:solidFill>
                  <a:srgbClr val="FFFFFF">
                    <a:lumMod val="50000"/>
                  </a:srgbClr>
                </a:solidFill>
                <a:latin typeface="微软雅黑 Light" panose="020B0502040204020203" charset="-122"/>
                <a:ea typeface="微软雅黑 Light" panose="020B0502040204020203" charset="-122"/>
              </a:rPr>
              <a:t>ANN</a:t>
            </a:r>
            <a:r>
              <a:rPr lang="zh-CN" altLang="en-US" sz="1200">
                <a:solidFill>
                  <a:srgbClr val="FFFFFF">
                    <a:lumMod val="50000"/>
                  </a:srgbClr>
                </a:solidFill>
                <a:latin typeface="微软雅黑 Light" panose="020B0502040204020203" charset="-122"/>
                <a:ea typeface="微软雅黑 Light" panose="020B0502040204020203" charset="-122"/>
              </a:rPr>
              <a:t>模型表现不佳。</a:t>
            </a:r>
            <a:endParaRPr lang="en-US" altLang="zh-CN" sz="1200">
              <a:solidFill>
                <a:srgbClr val="FFFFFF">
                  <a:lumMod val="50000"/>
                </a:srgbClr>
              </a:solidFill>
              <a:latin typeface="微软雅黑 Light" panose="020B0502040204020203" charset="-122"/>
              <a:ea typeface="微软雅黑 Light" panose="020B0502040204020203" charset="-122"/>
            </a:endParaRPr>
          </a:p>
          <a:p>
            <a:pPr algn="l"/>
            <a:endParaRPr lang="en-US" altLang="zh-CN" sz="1200" b="0" i="0" u="none" strike="noStrike">
              <a:solidFill>
                <a:srgbClr val="FFFFFF">
                  <a:lumMod val="50000"/>
                </a:srgbClr>
              </a:solidFill>
              <a:effectLst/>
              <a:latin typeface="微软雅黑 Light" panose="020B0502040204020203" charset="-122"/>
              <a:ea typeface="微软雅黑 Light" panose="020B0502040204020203" charset="-122"/>
            </a:endParaRPr>
          </a:p>
          <a:p>
            <a:pPr algn="l"/>
            <a:r>
              <a:rPr lang="zh-CN" altLang="en-US" sz="1200" b="0" i="0" u="none" strike="noStrike">
                <a:solidFill>
                  <a:srgbClr val="FFFFFF">
                    <a:lumMod val="50000"/>
                  </a:srgbClr>
                </a:solidFill>
                <a:effectLst/>
                <a:latin typeface="微软雅黑 Light" panose="020B0502040204020203" charset="-122"/>
                <a:ea typeface="微软雅黑 Light" panose="020B0502040204020203" charset="-122"/>
              </a:rPr>
              <a:t>因此最后我们选择利用</a:t>
            </a:r>
            <a:r>
              <a:rPr lang="zh-CN" altLang="en-US"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极限梯度增强</a:t>
            </a:r>
            <a:r>
              <a:rPr lang="en-US" altLang="zh-CN"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a:t>
            </a:r>
            <a:r>
              <a:rPr lang="en-GB" altLang="zh-CN"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XGBoost)</a:t>
            </a:r>
            <a:r>
              <a:rPr lang="zh-CN" altLang="en-US"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算法对成员国的数据进行寿命预测。</a:t>
            </a:r>
            <a:endParaRPr lang="en-GB" altLang="zh-CN" b="0" i="0" u="none" strike="noStrike">
              <a:solidFill>
                <a:srgbClr val="000000"/>
              </a:solidFill>
              <a:effectLst/>
            </a:endParaRPr>
          </a:p>
        </p:txBody>
      </p:sp>
      <p:sp>
        <p:nvSpPr>
          <p:cNvPr id="4" name="灯片编号占位符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defRPr/>
            </a:pPr>
            <a:fld id="{C1499AD4-E722-484B-9751-AA89CAA54D8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a:t>
            </a:r>
            <a:r>
              <a:rPr lang="en-US" altLang="zh-CN"/>
              <a:t> Research Tasks</a:t>
            </a:r>
            <a:r>
              <a:rPr lang="zh-CN" altLang="en-US"/>
              <a:t>🎯</a:t>
            </a:r>
            <a:r>
              <a:rPr lang="en-US" altLang="zh-CN"/>
              <a:t> </a:t>
            </a:r>
            <a:r>
              <a:rPr lang="zh-CN" altLang="en-US"/>
              <a:t>研究任务</a:t>
            </a:r>
            <a:endParaRPr lang="zh-CN" altLang="en-US"/>
          </a:p>
          <a:p>
            <a:r>
              <a:rPr lang="en-US" altLang="en-US"/>
              <a:t>✅</a:t>
            </a:r>
            <a:r>
              <a:rPr lang="en-US" altLang="zh-CN"/>
              <a:t> Task 1 – Cancer: Multi-omics integration in tumor tissues</a:t>
            </a:r>
            <a:r>
              <a:rPr lang="en-US" altLang="en-US"/>
              <a:t>✅</a:t>
            </a:r>
            <a:r>
              <a:rPr lang="en-US" altLang="zh-CN"/>
              <a:t> </a:t>
            </a:r>
            <a:r>
              <a:rPr lang="zh-CN" altLang="en-US"/>
              <a:t>任务</a:t>
            </a:r>
            <a:r>
              <a:rPr lang="en-US" altLang="zh-CN"/>
              <a:t> 1 – </a:t>
            </a:r>
            <a:r>
              <a:rPr lang="zh-CN" altLang="en-US"/>
              <a:t>癌症：肿瘤组织中的多组学整合</a:t>
            </a:r>
            <a:endParaRPr lang="zh-CN" altLang="en-US"/>
          </a:p>
          <a:p>
            <a:endParaRPr lang="en-US" altLang="zh-CN"/>
          </a:p>
          <a:p>
            <a:r>
              <a:rPr lang="en-US" altLang="zh-CN"/>
              <a:t>Integrate gene expression, DNA methylation, and transcription factor–target relationships in five cancer types (PRAD, PDAC, LUAD, SKCM, STAD), stratified by high vs. low MIR100HG expression.</a:t>
            </a:r>
            <a:r>
              <a:rPr lang="zh-CN" altLang="en-US"/>
              <a:t>整合五种癌症类型（</a:t>
            </a:r>
            <a:r>
              <a:rPr lang="en-US" altLang="zh-CN"/>
              <a:t>PRAD</a:t>
            </a:r>
            <a:r>
              <a:rPr lang="zh-CN" altLang="en-US"/>
              <a:t>、</a:t>
            </a:r>
            <a:r>
              <a:rPr lang="en-US" altLang="zh-CN"/>
              <a:t>PDAC</a:t>
            </a:r>
            <a:r>
              <a:rPr lang="zh-CN" altLang="en-US"/>
              <a:t>、</a:t>
            </a:r>
            <a:r>
              <a:rPr lang="en-US" altLang="zh-CN"/>
              <a:t>LUAD</a:t>
            </a:r>
            <a:r>
              <a:rPr lang="zh-CN" altLang="en-US"/>
              <a:t>、</a:t>
            </a:r>
            <a:r>
              <a:rPr lang="en-US" altLang="zh-CN"/>
              <a:t>SKCM</a:t>
            </a:r>
            <a:r>
              <a:rPr lang="zh-CN" altLang="en-US"/>
              <a:t>、</a:t>
            </a:r>
            <a:r>
              <a:rPr lang="en-US" altLang="zh-CN"/>
              <a:t>STAD</a:t>
            </a:r>
            <a:r>
              <a:rPr lang="zh-CN" altLang="en-US"/>
              <a:t>）中的基因表达、</a:t>
            </a:r>
            <a:r>
              <a:rPr lang="en-US" altLang="zh-CN"/>
              <a:t>DNA </a:t>
            </a:r>
            <a:r>
              <a:rPr lang="zh-CN" altLang="en-US"/>
              <a:t>甲基化和转录因子</a:t>
            </a:r>
            <a:r>
              <a:rPr lang="en-US" altLang="zh-CN"/>
              <a:t>-</a:t>
            </a:r>
            <a:r>
              <a:rPr lang="zh-CN" altLang="en-US"/>
              <a:t>靶标关系，按高表达与低</a:t>
            </a:r>
            <a:r>
              <a:rPr lang="en-US" altLang="zh-CN"/>
              <a:t> MIR100HG </a:t>
            </a:r>
            <a:r>
              <a:rPr lang="zh-CN" altLang="en-US"/>
              <a:t>表达进行分层。</a:t>
            </a:r>
            <a:endParaRPr lang="zh-CN" altLang="en-US"/>
          </a:p>
          <a:p>
            <a:r>
              <a:rPr lang="en-US" altLang="zh-CN"/>
              <a:t>Identify key genes and regulators associated with MIR100HG.</a:t>
            </a:r>
            <a:r>
              <a:rPr lang="zh-CN" altLang="en-US"/>
              <a:t>确定与</a:t>
            </a:r>
            <a:r>
              <a:rPr lang="en-US" altLang="zh-CN"/>
              <a:t> MIR100HG </a:t>
            </a:r>
            <a:r>
              <a:rPr lang="zh-CN" altLang="en-US"/>
              <a:t>相关的关键基因和调节因子。</a:t>
            </a:r>
            <a:endParaRPr lang="zh-CN" altLang="en-US"/>
          </a:p>
          <a:p>
            <a:r>
              <a:rPr lang="en-US" altLang="zh-CN"/>
              <a:t>Compare common vs. cancer-specific features.</a:t>
            </a:r>
            <a:r>
              <a:rPr lang="zh-CN" altLang="en-US"/>
              <a:t>比较常见特征与癌症特异性特征。</a:t>
            </a:r>
            <a:endParaRPr lang="zh-CN" altLang="en-US"/>
          </a:p>
          <a:p>
            <a:r>
              <a:rPr lang="en-US" altLang="en-US"/>
              <a:t>✅</a:t>
            </a:r>
            <a:r>
              <a:rPr lang="en-US" altLang="zh-CN"/>
              <a:t> Task 2 – Normal: Expression-based regulatory modeling in normal tissues</a:t>
            </a:r>
            <a:r>
              <a:rPr lang="en-US" altLang="en-US"/>
              <a:t>✅</a:t>
            </a:r>
            <a:r>
              <a:rPr lang="en-US" altLang="zh-CN"/>
              <a:t> </a:t>
            </a:r>
            <a:r>
              <a:rPr lang="zh-CN" altLang="en-US"/>
              <a:t>任务</a:t>
            </a:r>
            <a:r>
              <a:rPr lang="en-US" altLang="zh-CN"/>
              <a:t> 2 – </a:t>
            </a:r>
            <a:r>
              <a:rPr lang="zh-CN" altLang="en-US"/>
              <a:t>正常：正常组织中基于表达的调节建模</a:t>
            </a:r>
            <a:endParaRPr lang="zh-CN" altLang="en-US"/>
          </a:p>
          <a:p>
            <a:endParaRPr lang="en-US" altLang="zh-CN"/>
          </a:p>
          <a:p>
            <a:r>
              <a:rPr lang="en-US" altLang="zh-CN"/>
              <a:t>Apply the same expression-based and TF–target analysis to normal tissues from GTEx, also grouped by MIR100HG expression level.</a:t>
            </a:r>
            <a:r>
              <a:rPr lang="zh-CN" altLang="en-US"/>
              <a:t>将相同的基于表达和</a:t>
            </a:r>
            <a:r>
              <a:rPr lang="en-US" altLang="zh-CN"/>
              <a:t> TF </a:t>
            </a:r>
            <a:r>
              <a:rPr lang="zh-CN" altLang="en-US"/>
              <a:t>靶向分析应用于</a:t>
            </a:r>
            <a:r>
              <a:rPr lang="en-US" altLang="zh-CN"/>
              <a:t> GTEx </a:t>
            </a:r>
            <a:r>
              <a:rPr lang="zh-CN" altLang="en-US"/>
              <a:t>的正常组织，也按表达水平分组</a:t>
            </a:r>
            <a:r>
              <a:rPr lang="en-US" altLang="zh-CN"/>
              <a:t>MIR100HG</a:t>
            </a:r>
            <a:endParaRPr lang="en-US" altLang="zh-CN"/>
          </a:p>
          <a:p>
            <a:r>
              <a:rPr lang="en-US" altLang="zh-CN"/>
              <a:t>Investigate whether any features differ between high and low MIR100HG expression in healthy tissues.</a:t>
            </a:r>
            <a:r>
              <a:rPr lang="zh-CN" altLang="en-US"/>
              <a:t>调查健康组织中高</a:t>
            </a:r>
            <a:r>
              <a:rPr lang="en-US" altLang="zh-CN"/>
              <a:t>MIR100HG</a:t>
            </a:r>
            <a:r>
              <a:rPr lang="zh-CN" altLang="en-US"/>
              <a:t>表达和低表达之间是否有任何特征差异。</a:t>
            </a:r>
            <a:endParaRPr lang="zh-CN" altLang="en-US"/>
          </a:p>
          <a:p>
            <a:r>
              <a:rPr lang="en-US" altLang="en-US"/>
              <a:t>✅</a:t>
            </a:r>
            <a:r>
              <a:rPr lang="en-US" altLang="zh-CN"/>
              <a:t> Task 3 – Cancer vs. Normal: Identifying cancer-specific regulation</a:t>
            </a:r>
            <a:r>
              <a:rPr lang="en-US" altLang="en-US"/>
              <a:t>✅</a:t>
            </a:r>
            <a:r>
              <a:rPr lang="en-US" altLang="zh-CN"/>
              <a:t> </a:t>
            </a:r>
            <a:r>
              <a:rPr lang="zh-CN" altLang="en-US"/>
              <a:t>任务</a:t>
            </a:r>
            <a:r>
              <a:rPr lang="en-US" altLang="zh-CN"/>
              <a:t> 3 – </a:t>
            </a:r>
            <a:r>
              <a:rPr lang="zh-CN" altLang="en-US"/>
              <a:t>癌症与正常：确定癌症特异性调节</a:t>
            </a:r>
            <a:endParaRPr lang="zh-CN" altLang="en-US"/>
          </a:p>
          <a:p>
            <a:endParaRPr lang="en-US" altLang="zh-CN"/>
          </a:p>
          <a:p>
            <a:r>
              <a:rPr lang="en-US" altLang="zh-CN"/>
              <a:t>Compare tumor and matched normal tissue results across all five cancer types.</a:t>
            </a:r>
            <a:r>
              <a:rPr lang="zh-CN" altLang="en-US"/>
              <a:t>比较所有五种癌症类型的肿瘤和匹配的正常组织结果。</a:t>
            </a:r>
            <a:endParaRPr lang="zh-CN" altLang="en-US"/>
          </a:p>
          <a:p>
            <a:r>
              <a:rPr lang="en-US" altLang="zh-CN"/>
              <a:t>Distinguish cancer-specific alterations and regulatory signatures from background variation.</a:t>
            </a:r>
            <a:r>
              <a:rPr lang="zh-CN" altLang="en-US"/>
              <a:t>区分癌症特异性改变和调节特征与背景变异。</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GB" b="0" i="0" u="none" strike="noStrike">
                <a:solidFill>
                  <a:srgbClr val="000000"/>
                </a:solidFill>
                <a:effectLst/>
              </a:rPr>
              <a:t>我们</a:t>
            </a:r>
            <a:r>
              <a:rPr lang="zh-CN" altLang="en-US" b="0" i="0" u="none" strike="noStrike">
                <a:solidFill>
                  <a:srgbClr val="000000"/>
                </a:solidFill>
                <a:effectLst/>
              </a:rPr>
              <a:t>用类似的方法</a:t>
            </a:r>
            <a:r>
              <a:rPr lang="zh-CN" altLang="en-US" sz="1200">
                <a:solidFill>
                  <a:prstClr val="black"/>
                </a:solidFill>
                <a:latin typeface="等线 Light" panose="020F0302020204030204"/>
                <a:ea typeface="等线 Light" panose="02010600030101010101" pitchFamily="2" charset="-122"/>
              </a:rPr>
              <a:t>继续将</a:t>
            </a:r>
            <a:r>
              <a:rPr lang="en-GB" altLang="zh-CN" sz="1200">
                <a:solidFill>
                  <a:prstClr val="black"/>
                </a:solidFill>
                <a:latin typeface="等线 Light" panose="020F0302020204030204"/>
                <a:ea typeface="等线 Light" panose="02010600030101010101" pitchFamily="2" charset="-122"/>
              </a:rPr>
              <a:t>XGBoost</a:t>
            </a:r>
            <a:r>
              <a:rPr lang="zh-CN" altLang="en-US" sz="1200">
                <a:solidFill>
                  <a:prstClr val="black"/>
                </a:solidFill>
                <a:latin typeface="等线 Light" panose="020F0302020204030204"/>
                <a:ea typeface="等线 Light" panose="02010600030101010101" pitchFamily="2" charset="-122"/>
              </a:rPr>
              <a:t>模型的性能与</a:t>
            </a:r>
            <a:r>
              <a:rPr lang="zh-CN" altLang="en-US" sz="2400" b="1">
                <a:solidFill>
                  <a:srgbClr val="01328B"/>
                </a:solidFill>
                <a:latin typeface="方正小标宋简体" panose="02010601030101010101" charset="-122"/>
                <a:ea typeface="方正小标宋简体" panose="02010601030101010101" charset="-122"/>
                <a:cs typeface="方正小标宋简体" panose="02010601030101010101" charset="-122"/>
              </a:rPr>
              <a:t>随机森林和人工神经网络进行比较：</a:t>
            </a:r>
            <a:r>
              <a:rPr lang="zh-CN" altLang="en-US" sz="1200">
                <a:solidFill>
                  <a:srgbClr val="FFFFFF">
                    <a:lumMod val="50000"/>
                  </a:srgbClr>
                </a:solidFill>
                <a:latin typeface="微软雅黑 Light" panose="020B0502040204020203" charset="-122"/>
                <a:ea typeface="微软雅黑 Light" panose="020B0502040204020203" charset="-122"/>
              </a:rPr>
              <a:t>结果如表所示。使用均方误差</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MSE)</a:t>
            </a:r>
            <a:r>
              <a:rPr lang="zh-CN" altLang="en-US" sz="1200">
                <a:solidFill>
                  <a:srgbClr val="FFFFFF">
                    <a:lumMod val="50000"/>
                  </a:srgbClr>
                </a:solidFill>
                <a:latin typeface="微软雅黑 Light" panose="020B0502040204020203" charset="-122"/>
                <a:ea typeface="微软雅黑 Light" panose="020B0502040204020203" charset="-122"/>
              </a:rPr>
              <a:t>作为损失函数，均方根传播</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RMSprop)</a:t>
            </a:r>
            <a:r>
              <a:rPr lang="zh-CN" altLang="en-US" sz="1200">
                <a:solidFill>
                  <a:srgbClr val="FFFFFF">
                    <a:lumMod val="50000"/>
                  </a:srgbClr>
                </a:solidFill>
                <a:latin typeface="微软雅黑 Light" panose="020B0502040204020203" charset="-122"/>
                <a:ea typeface="微软雅黑 Light" panose="020B0502040204020203" charset="-122"/>
              </a:rPr>
              <a:t>作为学习率为</a:t>
            </a:r>
            <a:r>
              <a:rPr lang="en-US" altLang="zh-CN" sz="1200">
                <a:solidFill>
                  <a:srgbClr val="FFFFFF">
                    <a:lumMod val="50000"/>
                  </a:srgbClr>
                </a:solidFill>
                <a:latin typeface="微软雅黑 Light" panose="020B0502040204020203" charset="-122"/>
                <a:ea typeface="微软雅黑 Light" panose="020B0502040204020203" charset="-122"/>
              </a:rPr>
              <a:t>0.005</a:t>
            </a:r>
            <a:r>
              <a:rPr lang="zh-CN" altLang="en-US" sz="1200">
                <a:solidFill>
                  <a:srgbClr val="FFFFFF">
                    <a:lumMod val="50000"/>
                  </a:srgbClr>
                </a:solidFill>
                <a:latin typeface="微软雅黑 Light" panose="020B0502040204020203" charset="-122"/>
                <a:ea typeface="微软雅黑 Light" panose="020B0502040204020203" charset="-122"/>
              </a:rPr>
              <a:t>的优化器，平均绝对误差</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MAE)</a:t>
            </a:r>
            <a:r>
              <a:rPr lang="zh-CN" altLang="en-US" sz="1200">
                <a:solidFill>
                  <a:srgbClr val="FFFFFF">
                    <a:lumMod val="50000"/>
                  </a:srgbClr>
                </a:solidFill>
                <a:latin typeface="微软雅黑 Light" panose="020B0502040204020203" charset="-122"/>
                <a:ea typeface="微软雅黑 Light" panose="020B0502040204020203" charset="-122"/>
              </a:rPr>
              <a:t>作为性能度量，对模型进行编译。</a:t>
            </a:r>
            <a:r>
              <a:rPr lang="en-GB" altLang="zh-CN" sz="1200">
                <a:solidFill>
                  <a:srgbClr val="FFFFFF">
                    <a:lumMod val="50000"/>
                  </a:srgbClr>
                </a:solidFill>
                <a:latin typeface="微软雅黑 Light" panose="020B0502040204020203" charset="-122"/>
                <a:ea typeface="微软雅黑 Light" panose="020B0502040204020203" charset="-122"/>
              </a:rPr>
              <a:t> </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XGBoost</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模型分别优于</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ANN</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和</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RF</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模型。</a:t>
            </a:r>
            <a:r>
              <a:rPr lang="en-GB" altLang="zh-CN" sz="1200">
                <a:solidFill>
                  <a:srgbClr val="FFFFFF">
                    <a:lumMod val="50000"/>
                  </a:srgbClr>
                </a:solidFill>
                <a:latin typeface="微软雅黑 Light" panose="020B0502040204020203" charset="-122"/>
                <a:ea typeface="微软雅黑 Light" panose="020B0502040204020203" charset="-122"/>
              </a:rPr>
              <a:t>XGBoost</a:t>
            </a:r>
            <a:r>
              <a:rPr lang="zh-CN" altLang="en-US" sz="1200">
                <a:solidFill>
                  <a:srgbClr val="FFFFFF">
                    <a:lumMod val="50000"/>
                  </a:srgbClr>
                </a:solidFill>
                <a:latin typeface="微软雅黑 Light" panose="020B0502040204020203" charset="-122"/>
                <a:ea typeface="微软雅黑 Light" panose="020B0502040204020203" charset="-122"/>
              </a:rPr>
              <a:t>和</a:t>
            </a:r>
            <a:r>
              <a:rPr lang="en-GB" altLang="zh-CN" sz="1200">
                <a:solidFill>
                  <a:srgbClr val="FFFFFF">
                    <a:lumMod val="50000"/>
                  </a:srgbClr>
                </a:solidFill>
                <a:latin typeface="微软雅黑 Light" panose="020B0502040204020203" charset="-122"/>
                <a:ea typeface="微软雅黑 Light" panose="020B0502040204020203" charset="-122"/>
              </a:rPr>
              <a:t>RF</a:t>
            </a:r>
            <a:r>
              <a:rPr lang="zh-CN" altLang="en-US" sz="1200">
                <a:solidFill>
                  <a:srgbClr val="FFFFFF">
                    <a:lumMod val="50000"/>
                  </a:srgbClr>
                </a:solidFill>
                <a:latin typeface="微软雅黑 Light" panose="020B0502040204020203" charset="-122"/>
                <a:ea typeface="微软雅黑 Light" panose="020B0502040204020203" charset="-122"/>
              </a:rPr>
              <a:t>模型在模型训练运行时间方面是有效的。在这方面，</a:t>
            </a:r>
            <a:r>
              <a:rPr lang="en-GB" altLang="zh-CN" sz="1200">
                <a:solidFill>
                  <a:srgbClr val="FFFFFF">
                    <a:lumMod val="50000"/>
                  </a:srgbClr>
                </a:solidFill>
                <a:latin typeface="微软雅黑 Light" panose="020B0502040204020203" charset="-122"/>
                <a:ea typeface="微软雅黑 Light" panose="020B0502040204020203" charset="-122"/>
              </a:rPr>
              <a:t>ANN</a:t>
            </a:r>
            <a:r>
              <a:rPr lang="zh-CN" altLang="en-US" sz="1200">
                <a:solidFill>
                  <a:srgbClr val="FFFFFF">
                    <a:lumMod val="50000"/>
                  </a:srgbClr>
                </a:solidFill>
                <a:latin typeface="微软雅黑 Light" panose="020B0502040204020203" charset="-122"/>
                <a:ea typeface="微软雅黑 Light" panose="020B0502040204020203" charset="-122"/>
              </a:rPr>
              <a:t>模型表现不佳。</a:t>
            </a:r>
            <a:endParaRPr lang="en-US" altLang="zh-CN" sz="1200">
              <a:solidFill>
                <a:srgbClr val="FFFFFF">
                  <a:lumMod val="50000"/>
                </a:srgbClr>
              </a:solidFill>
              <a:latin typeface="微软雅黑 Light" panose="020B0502040204020203" charset="-122"/>
              <a:ea typeface="微软雅黑 Light" panose="020B0502040204020203" charset="-122"/>
            </a:endParaRPr>
          </a:p>
          <a:p>
            <a:pPr algn="l"/>
            <a:endParaRPr lang="en-US" altLang="zh-CN" sz="1200" b="0" i="0" u="none" strike="noStrike">
              <a:solidFill>
                <a:srgbClr val="FFFFFF">
                  <a:lumMod val="50000"/>
                </a:srgbClr>
              </a:solidFill>
              <a:effectLst/>
              <a:latin typeface="微软雅黑 Light" panose="020B0502040204020203" charset="-122"/>
              <a:ea typeface="微软雅黑 Light" panose="020B0502040204020203" charset="-122"/>
            </a:endParaRPr>
          </a:p>
          <a:p>
            <a:pPr algn="l"/>
            <a:r>
              <a:rPr lang="zh-CN" altLang="en-US" sz="1200" b="0" i="0" u="none" strike="noStrike">
                <a:solidFill>
                  <a:srgbClr val="FFFFFF">
                    <a:lumMod val="50000"/>
                  </a:srgbClr>
                </a:solidFill>
                <a:effectLst/>
                <a:latin typeface="微软雅黑 Light" panose="020B0502040204020203" charset="-122"/>
                <a:ea typeface="微软雅黑 Light" panose="020B0502040204020203" charset="-122"/>
              </a:rPr>
              <a:t>因此最后我们选择利用</a:t>
            </a:r>
            <a:r>
              <a:rPr lang="zh-CN" altLang="en-US"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极限梯度增强</a:t>
            </a:r>
            <a:r>
              <a:rPr lang="en-US" altLang="zh-CN"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a:t>
            </a:r>
            <a:r>
              <a:rPr lang="en-GB" altLang="zh-CN"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XGBoost)</a:t>
            </a:r>
            <a:r>
              <a:rPr lang="zh-CN" altLang="en-US"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算法对成员国的数据进行寿命预测。</a:t>
            </a:r>
            <a:endParaRPr lang="en-GB" altLang="zh-CN" b="0" i="0" u="none" strike="noStrike">
              <a:solidFill>
                <a:srgbClr val="000000"/>
              </a:solidFill>
              <a:effectLst/>
            </a:endParaRPr>
          </a:p>
        </p:txBody>
      </p:sp>
      <p:sp>
        <p:nvSpPr>
          <p:cNvPr id="4" name="灯片编号占位符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defRPr/>
            </a:pPr>
            <a:fld id="{C1499AD4-E722-484B-9751-AA89CAA54D8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1. Interest in Artificial Intelligence (AI)</a:t>
            </a:r>
            <a:endParaRPr lang="zh-CN" altLang="en-US"/>
          </a:p>
          <a:p>
            <a:endParaRPr lang="zh-CN" altLang="en-US"/>
          </a:p>
          <a:p>
            <a:r>
              <a:rPr lang="zh-CN" altLang="en-US"/>
              <a:t>AI's Practical Value: AI is not only a trending research field but also has proven applications in solving real-world problems.</a:t>
            </a:r>
            <a:endParaRPr lang="zh-CN" altLang="en-US"/>
          </a:p>
          <a:p>
            <a:r>
              <a:rPr lang="zh-CN" altLang="en-US"/>
              <a:t>Undergraduate Experience: Developed Intel ACE, an AI-based job interview software, which provided hands-on experience with AI's transformative power.</a:t>
            </a:r>
            <a:endParaRPr lang="zh-CN" altLang="en-US"/>
          </a:p>
          <a:p>
            <a:r>
              <a:rPr lang="zh-CN" altLang="en-US"/>
              <a:t>Future Goal: Inspired to explore AI further, especially for tools that assist with complex and technical tasks.</a:t>
            </a:r>
            <a:endParaRPr lang="zh-CN" altLang="en-US"/>
          </a:p>
          <a:p>
            <a:r>
              <a:rPr lang="zh-CN" altLang="en-US"/>
              <a:t>2. Fascination with Formal Verification</a:t>
            </a:r>
            <a:endParaRPr lang="zh-CN" altLang="en-US"/>
          </a:p>
          <a:p>
            <a:endParaRPr lang="zh-CN" altLang="en-US"/>
          </a:p>
          <a:p>
            <a:r>
              <a:rPr lang="zh-CN" altLang="en-US"/>
              <a:t>Importance for Safety: Critical for ensuring the safety and reliability of systems like autonomous driving.</a:t>
            </a:r>
            <a:endParaRPr lang="zh-CN" altLang="en-US"/>
          </a:p>
          <a:p>
            <a:r>
              <a:rPr lang="zh-CN" altLang="en-US"/>
              <a:t>Focus Areas: Interested in both simulation-based and visual verification methods, which complement each other to enhance system performance.</a:t>
            </a:r>
            <a:endParaRPr lang="zh-CN" altLang="en-US"/>
          </a:p>
          <a:p>
            <a:r>
              <a:rPr lang="zh-CN" altLang="en-US"/>
              <a:t>Goal: Use formal verification to help complex systems transition from development to real-world applications.</a:t>
            </a:r>
            <a:endParaRPr lang="zh-CN" altLang="en-US"/>
          </a:p>
          <a:p>
            <a:r>
              <a:rPr lang="zh-CN" altLang="en-US"/>
              <a:t>3. Passion for System Robustness</a:t>
            </a:r>
            <a:endParaRPr lang="zh-CN" altLang="en-US"/>
          </a:p>
          <a:p>
            <a:endParaRPr lang="zh-CN" altLang="en-US"/>
          </a:p>
          <a:p>
            <a:r>
              <a:rPr lang="zh-CN" altLang="en-US"/>
              <a:t>Interest in Reliability: Fascinated by designing systems that can operate consistently under dynamic or uncertain conditions.</a:t>
            </a:r>
            <a:endParaRPr lang="zh-CN" altLang="en-US"/>
          </a:p>
          <a:p>
            <a:r>
              <a:rPr lang="zh-CN" altLang="en-US"/>
              <a:t>Relevance to Real-World Applications: Robustness is essential for applications like autonomous driving, where systems must remain stable despite unpredictability.</a:t>
            </a:r>
            <a:endParaRPr lang="zh-CN" altLang="en-US"/>
          </a:p>
          <a:p>
            <a:r>
              <a:rPr lang="zh-CN" altLang="en-US"/>
              <a:t>Future Goal: Aim to improve system performance and resilience by integrating robustness into AI and formal verification.</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GB" b="0" i="0" u="none" strike="noStrike">
                <a:solidFill>
                  <a:srgbClr val="000000"/>
                </a:solidFill>
                <a:effectLst/>
              </a:rPr>
              <a:t>我们</a:t>
            </a:r>
            <a:r>
              <a:rPr lang="zh-CN" altLang="en-US" b="0" i="0" u="none" strike="noStrike">
                <a:solidFill>
                  <a:srgbClr val="000000"/>
                </a:solidFill>
                <a:effectLst/>
              </a:rPr>
              <a:t>用类似的方法</a:t>
            </a:r>
            <a:r>
              <a:rPr lang="zh-CN" altLang="en-US" sz="1200">
                <a:solidFill>
                  <a:prstClr val="black"/>
                </a:solidFill>
                <a:latin typeface="等线 Light" panose="020F0302020204030204"/>
                <a:ea typeface="等线 Light" panose="02010600030101010101" pitchFamily="2" charset="-122"/>
              </a:rPr>
              <a:t>继续将</a:t>
            </a:r>
            <a:r>
              <a:rPr lang="en-GB" altLang="zh-CN" sz="1200">
                <a:solidFill>
                  <a:prstClr val="black"/>
                </a:solidFill>
                <a:latin typeface="等线 Light" panose="020F0302020204030204"/>
                <a:ea typeface="等线 Light" panose="02010600030101010101" pitchFamily="2" charset="-122"/>
              </a:rPr>
              <a:t>XGBoost</a:t>
            </a:r>
            <a:r>
              <a:rPr lang="zh-CN" altLang="en-US" sz="1200">
                <a:solidFill>
                  <a:prstClr val="black"/>
                </a:solidFill>
                <a:latin typeface="等线 Light" panose="020F0302020204030204"/>
                <a:ea typeface="等线 Light" panose="02010600030101010101" pitchFamily="2" charset="-122"/>
              </a:rPr>
              <a:t>模型的性能与</a:t>
            </a:r>
            <a:r>
              <a:rPr lang="zh-CN" altLang="en-US" sz="2400" b="1">
                <a:solidFill>
                  <a:srgbClr val="01328B"/>
                </a:solidFill>
                <a:latin typeface="方正小标宋简体" panose="02010601030101010101" charset="-122"/>
                <a:ea typeface="方正小标宋简体" panose="02010601030101010101" charset="-122"/>
                <a:cs typeface="方正小标宋简体" panose="02010601030101010101" charset="-122"/>
              </a:rPr>
              <a:t>随机森林和人工神经网络进行比较：</a:t>
            </a:r>
            <a:r>
              <a:rPr lang="zh-CN" altLang="en-US" sz="1200">
                <a:solidFill>
                  <a:srgbClr val="FFFFFF">
                    <a:lumMod val="50000"/>
                  </a:srgbClr>
                </a:solidFill>
                <a:latin typeface="微软雅黑 Light" panose="020B0502040204020203" charset="-122"/>
                <a:ea typeface="微软雅黑 Light" panose="020B0502040204020203" charset="-122"/>
              </a:rPr>
              <a:t>结果如表所示。使用均方误差</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MSE)</a:t>
            </a:r>
            <a:r>
              <a:rPr lang="zh-CN" altLang="en-US" sz="1200">
                <a:solidFill>
                  <a:srgbClr val="FFFFFF">
                    <a:lumMod val="50000"/>
                  </a:srgbClr>
                </a:solidFill>
                <a:latin typeface="微软雅黑 Light" panose="020B0502040204020203" charset="-122"/>
                <a:ea typeface="微软雅黑 Light" panose="020B0502040204020203" charset="-122"/>
              </a:rPr>
              <a:t>作为损失函数，均方根传播</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RMSprop)</a:t>
            </a:r>
            <a:r>
              <a:rPr lang="zh-CN" altLang="en-US" sz="1200">
                <a:solidFill>
                  <a:srgbClr val="FFFFFF">
                    <a:lumMod val="50000"/>
                  </a:srgbClr>
                </a:solidFill>
                <a:latin typeface="微软雅黑 Light" panose="020B0502040204020203" charset="-122"/>
                <a:ea typeface="微软雅黑 Light" panose="020B0502040204020203" charset="-122"/>
              </a:rPr>
              <a:t>作为学习率为</a:t>
            </a:r>
            <a:r>
              <a:rPr lang="en-US" altLang="zh-CN" sz="1200">
                <a:solidFill>
                  <a:srgbClr val="FFFFFF">
                    <a:lumMod val="50000"/>
                  </a:srgbClr>
                </a:solidFill>
                <a:latin typeface="微软雅黑 Light" panose="020B0502040204020203" charset="-122"/>
                <a:ea typeface="微软雅黑 Light" panose="020B0502040204020203" charset="-122"/>
              </a:rPr>
              <a:t>0.005</a:t>
            </a:r>
            <a:r>
              <a:rPr lang="zh-CN" altLang="en-US" sz="1200">
                <a:solidFill>
                  <a:srgbClr val="FFFFFF">
                    <a:lumMod val="50000"/>
                  </a:srgbClr>
                </a:solidFill>
                <a:latin typeface="微软雅黑 Light" panose="020B0502040204020203" charset="-122"/>
                <a:ea typeface="微软雅黑 Light" panose="020B0502040204020203" charset="-122"/>
              </a:rPr>
              <a:t>的优化器，平均绝对误差</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MAE)</a:t>
            </a:r>
            <a:r>
              <a:rPr lang="zh-CN" altLang="en-US" sz="1200">
                <a:solidFill>
                  <a:srgbClr val="FFFFFF">
                    <a:lumMod val="50000"/>
                  </a:srgbClr>
                </a:solidFill>
                <a:latin typeface="微软雅黑 Light" panose="020B0502040204020203" charset="-122"/>
                <a:ea typeface="微软雅黑 Light" panose="020B0502040204020203" charset="-122"/>
              </a:rPr>
              <a:t>作为性能度量，对模型进行编译。</a:t>
            </a:r>
            <a:r>
              <a:rPr lang="en-GB" altLang="zh-CN" sz="1200">
                <a:solidFill>
                  <a:srgbClr val="FFFFFF">
                    <a:lumMod val="50000"/>
                  </a:srgbClr>
                </a:solidFill>
                <a:latin typeface="微软雅黑 Light" panose="020B0502040204020203" charset="-122"/>
                <a:ea typeface="微软雅黑 Light" panose="020B0502040204020203" charset="-122"/>
              </a:rPr>
              <a:t> </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XGBoost</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模型分别优于</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ANN</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和</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RF</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模型。</a:t>
            </a:r>
            <a:r>
              <a:rPr lang="en-GB" altLang="zh-CN" sz="1200">
                <a:solidFill>
                  <a:srgbClr val="FFFFFF">
                    <a:lumMod val="50000"/>
                  </a:srgbClr>
                </a:solidFill>
                <a:latin typeface="微软雅黑 Light" panose="020B0502040204020203" charset="-122"/>
                <a:ea typeface="微软雅黑 Light" panose="020B0502040204020203" charset="-122"/>
              </a:rPr>
              <a:t>XGBoost</a:t>
            </a:r>
            <a:r>
              <a:rPr lang="zh-CN" altLang="en-US" sz="1200">
                <a:solidFill>
                  <a:srgbClr val="FFFFFF">
                    <a:lumMod val="50000"/>
                  </a:srgbClr>
                </a:solidFill>
                <a:latin typeface="微软雅黑 Light" panose="020B0502040204020203" charset="-122"/>
                <a:ea typeface="微软雅黑 Light" panose="020B0502040204020203" charset="-122"/>
              </a:rPr>
              <a:t>和</a:t>
            </a:r>
            <a:r>
              <a:rPr lang="en-GB" altLang="zh-CN" sz="1200">
                <a:solidFill>
                  <a:srgbClr val="FFFFFF">
                    <a:lumMod val="50000"/>
                  </a:srgbClr>
                </a:solidFill>
                <a:latin typeface="微软雅黑 Light" panose="020B0502040204020203" charset="-122"/>
                <a:ea typeface="微软雅黑 Light" panose="020B0502040204020203" charset="-122"/>
              </a:rPr>
              <a:t>RF</a:t>
            </a:r>
            <a:r>
              <a:rPr lang="zh-CN" altLang="en-US" sz="1200">
                <a:solidFill>
                  <a:srgbClr val="FFFFFF">
                    <a:lumMod val="50000"/>
                  </a:srgbClr>
                </a:solidFill>
                <a:latin typeface="微软雅黑 Light" panose="020B0502040204020203" charset="-122"/>
                <a:ea typeface="微软雅黑 Light" panose="020B0502040204020203" charset="-122"/>
              </a:rPr>
              <a:t>模型在模型训练运行时间方面是有效的。在这方面，</a:t>
            </a:r>
            <a:r>
              <a:rPr lang="en-GB" altLang="zh-CN" sz="1200">
                <a:solidFill>
                  <a:srgbClr val="FFFFFF">
                    <a:lumMod val="50000"/>
                  </a:srgbClr>
                </a:solidFill>
                <a:latin typeface="微软雅黑 Light" panose="020B0502040204020203" charset="-122"/>
                <a:ea typeface="微软雅黑 Light" panose="020B0502040204020203" charset="-122"/>
              </a:rPr>
              <a:t>ANN</a:t>
            </a:r>
            <a:r>
              <a:rPr lang="zh-CN" altLang="en-US" sz="1200">
                <a:solidFill>
                  <a:srgbClr val="FFFFFF">
                    <a:lumMod val="50000"/>
                  </a:srgbClr>
                </a:solidFill>
                <a:latin typeface="微软雅黑 Light" panose="020B0502040204020203" charset="-122"/>
                <a:ea typeface="微软雅黑 Light" panose="020B0502040204020203" charset="-122"/>
              </a:rPr>
              <a:t>模型表现不佳。</a:t>
            </a:r>
            <a:endParaRPr lang="en-US" altLang="zh-CN" sz="1200">
              <a:solidFill>
                <a:srgbClr val="FFFFFF">
                  <a:lumMod val="50000"/>
                </a:srgbClr>
              </a:solidFill>
              <a:latin typeface="微软雅黑 Light" panose="020B0502040204020203" charset="-122"/>
              <a:ea typeface="微软雅黑 Light" panose="020B0502040204020203" charset="-122"/>
            </a:endParaRPr>
          </a:p>
          <a:p>
            <a:pPr algn="l"/>
            <a:endParaRPr lang="en-US" altLang="zh-CN" sz="1200" b="0" i="0" u="none" strike="noStrike">
              <a:solidFill>
                <a:srgbClr val="FFFFFF">
                  <a:lumMod val="50000"/>
                </a:srgbClr>
              </a:solidFill>
              <a:effectLst/>
              <a:latin typeface="微软雅黑 Light" panose="020B0502040204020203" charset="-122"/>
              <a:ea typeface="微软雅黑 Light" panose="020B0502040204020203" charset="-122"/>
            </a:endParaRPr>
          </a:p>
          <a:p>
            <a:pPr algn="l"/>
            <a:r>
              <a:rPr lang="zh-CN" altLang="en-US" sz="1200" b="0" i="0" u="none" strike="noStrike">
                <a:solidFill>
                  <a:srgbClr val="FFFFFF">
                    <a:lumMod val="50000"/>
                  </a:srgbClr>
                </a:solidFill>
                <a:effectLst/>
                <a:latin typeface="微软雅黑 Light" panose="020B0502040204020203" charset="-122"/>
                <a:ea typeface="微软雅黑 Light" panose="020B0502040204020203" charset="-122"/>
              </a:rPr>
              <a:t>因此最后我们选择利用</a:t>
            </a:r>
            <a:r>
              <a:rPr lang="zh-CN" altLang="en-US"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极限梯度增强</a:t>
            </a:r>
            <a:r>
              <a:rPr lang="en-US" altLang="zh-CN"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a:t>
            </a:r>
            <a:r>
              <a:rPr lang="en-GB" altLang="zh-CN"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XGBoost)</a:t>
            </a:r>
            <a:r>
              <a:rPr lang="zh-CN" altLang="en-US"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算法对成员国的数据进行寿命预测。</a:t>
            </a:r>
            <a:endParaRPr lang="en-GB" altLang="zh-CN" b="0" i="0" u="none" strike="noStrike">
              <a:solidFill>
                <a:srgbClr val="000000"/>
              </a:solidFill>
              <a:effectLst/>
            </a:endParaRPr>
          </a:p>
        </p:txBody>
      </p:sp>
      <p:sp>
        <p:nvSpPr>
          <p:cNvPr id="4" name="灯片编号占位符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defRPr/>
            </a:pPr>
            <a:fld id="{C1499AD4-E722-484B-9751-AA89CAA54D8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GB" b="0" i="0" u="none" strike="noStrike">
                <a:solidFill>
                  <a:srgbClr val="000000"/>
                </a:solidFill>
                <a:effectLst/>
              </a:rPr>
              <a:t>我们</a:t>
            </a:r>
            <a:r>
              <a:rPr lang="zh-CN" altLang="en-US" b="0" i="0" u="none" strike="noStrike">
                <a:solidFill>
                  <a:srgbClr val="000000"/>
                </a:solidFill>
                <a:effectLst/>
              </a:rPr>
              <a:t>用类似的方法</a:t>
            </a:r>
            <a:r>
              <a:rPr lang="zh-CN" altLang="en-US" sz="1200">
                <a:solidFill>
                  <a:prstClr val="black"/>
                </a:solidFill>
                <a:latin typeface="等线 Light" panose="020F0302020204030204"/>
                <a:ea typeface="等线 Light" panose="02010600030101010101" pitchFamily="2" charset="-122"/>
              </a:rPr>
              <a:t>继续将</a:t>
            </a:r>
            <a:r>
              <a:rPr lang="en-GB" altLang="zh-CN" sz="1200">
                <a:solidFill>
                  <a:prstClr val="black"/>
                </a:solidFill>
                <a:latin typeface="等线 Light" panose="020F0302020204030204"/>
                <a:ea typeface="等线 Light" panose="02010600030101010101" pitchFamily="2" charset="-122"/>
              </a:rPr>
              <a:t>XGBoost</a:t>
            </a:r>
            <a:r>
              <a:rPr lang="zh-CN" altLang="en-US" sz="1200">
                <a:solidFill>
                  <a:prstClr val="black"/>
                </a:solidFill>
                <a:latin typeface="等线 Light" panose="020F0302020204030204"/>
                <a:ea typeface="等线 Light" panose="02010600030101010101" pitchFamily="2" charset="-122"/>
              </a:rPr>
              <a:t>模型的性能与</a:t>
            </a:r>
            <a:r>
              <a:rPr lang="zh-CN" altLang="en-US" sz="2400" b="1">
                <a:solidFill>
                  <a:srgbClr val="01328B"/>
                </a:solidFill>
                <a:latin typeface="方正小标宋简体" panose="02010601030101010101" charset="-122"/>
                <a:ea typeface="方正小标宋简体" panose="02010601030101010101" charset="-122"/>
                <a:cs typeface="方正小标宋简体" panose="02010601030101010101" charset="-122"/>
              </a:rPr>
              <a:t>随机森林和人工神经网络进行比较：</a:t>
            </a:r>
            <a:r>
              <a:rPr lang="zh-CN" altLang="en-US" sz="1200">
                <a:solidFill>
                  <a:srgbClr val="FFFFFF">
                    <a:lumMod val="50000"/>
                  </a:srgbClr>
                </a:solidFill>
                <a:latin typeface="微软雅黑 Light" panose="020B0502040204020203" charset="-122"/>
                <a:ea typeface="微软雅黑 Light" panose="020B0502040204020203" charset="-122"/>
              </a:rPr>
              <a:t>结果如表所示。使用均方误差</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MSE)</a:t>
            </a:r>
            <a:r>
              <a:rPr lang="zh-CN" altLang="en-US" sz="1200">
                <a:solidFill>
                  <a:srgbClr val="FFFFFF">
                    <a:lumMod val="50000"/>
                  </a:srgbClr>
                </a:solidFill>
                <a:latin typeface="微软雅黑 Light" panose="020B0502040204020203" charset="-122"/>
                <a:ea typeface="微软雅黑 Light" panose="020B0502040204020203" charset="-122"/>
              </a:rPr>
              <a:t>作为损失函数，均方根传播</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RMSprop)</a:t>
            </a:r>
            <a:r>
              <a:rPr lang="zh-CN" altLang="en-US" sz="1200">
                <a:solidFill>
                  <a:srgbClr val="FFFFFF">
                    <a:lumMod val="50000"/>
                  </a:srgbClr>
                </a:solidFill>
                <a:latin typeface="微软雅黑 Light" panose="020B0502040204020203" charset="-122"/>
                <a:ea typeface="微软雅黑 Light" panose="020B0502040204020203" charset="-122"/>
              </a:rPr>
              <a:t>作为学习率为</a:t>
            </a:r>
            <a:r>
              <a:rPr lang="en-US" altLang="zh-CN" sz="1200">
                <a:solidFill>
                  <a:srgbClr val="FFFFFF">
                    <a:lumMod val="50000"/>
                  </a:srgbClr>
                </a:solidFill>
                <a:latin typeface="微软雅黑 Light" panose="020B0502040204020203" charset="-122"/>
                <a:ea typeface="微软雅黑 Light" panose="020B0502040204020203" charset="-122"/>
              </a:rPr>
              <a:t>0.005</a:t>
            </a:r>
            <a:r>
              <a:rPr lang="zh-CN" altLang="en-US" sz="1200">
                <a:solidFill>
                  <a:srgbClr val="FFFFFF">
                    <a:lumMod val="50000"/>
                  </a:srgbClr>
                </a:solidFill>
                <a:latin typeface="微软雅黑 Light" panose="020B0502040204020203" charset="-122"/>
                <a:ea typeface="微软雅黑 Light" panose="020B0502040204020203" charset="-122"/>
              </a:rPr>
              <a:t>的优化器，平均绝对误差</a:t>
            </a:r>
            <a:r>
              <a:rPr lang="en-US" altLang="zh-CN" sz="1200">
                <a:solidFill>
                  <a:srgbClr val="FFFFFF">
                    <a:lumMod val="50000"/>
                  </a:srgbClr>
                </a:solidFill>
                <a:latin typeface="微软雅黑 Light" panose="020B0502040204020203" charset="-122"/>
                <a:ea typeface="微软雅黑 Light" panose="020B0502040204020203" charset="-122"/>
              </a:rPr>
              <a:t>(</a:t>
            </a:r>
            <a:r>
              <a:rPr lang="en-GB" altLang="zh-CN" sz="1200">
                <a:solidFill>
                  <a:srgbClr val="FFFFFF">
                    <a:lumMod val="50000"/>
                  </a:srgbClr>
                </a:solidFill>
                <a:latin typeface="微软雅黑 Light" panose="020B0502040204020203" charset="-122"/>
                <a:ea typeface="微软雅黑 Light" panose="020B0502040204020203" charset="-122"/>
              </a:rPr>
              <a:t>MAE)</a:t>
            </a:r>
            <a:r>
              <a:rPr lang="zh-CN" altLang="en-US" sz="1200">
                <a:solidFill>
                  <a:srgbClr val="FFFFFF">
                    <a:lumMod val="50000"/>
                  </a:srgbClr>
                </a:solidFill>
                <a:latin typeface="微软雅黑 Light" panose="020B0502040204020203" charset="-122"/>
                <a:ea typeface="微软雅黑 Light" panose="020B0502040204020203" charset="-122"/>
              </a:rPr>
              <a:t>作为性能度量，对模型进行编译。</a:t>
            </a:r>
            <a:r>
              <a:rPr lang="en-GB" altLang="zh-CN" sz="1200">
                <a:solidFill>
                  <a:srgbClr val="FFFFFF">
                    <a:lumMod val="50000"/>
                  </a:srgbClr>
                </a:solidFill>
                <a:latin typeface="微软雅黑 Light" panose="020B0502040204020203" charset="-122"/>
                <a:ea typeface="微软雅黑 Light" panose="020B0502040204020203" charset="-122"/>
              </a:rPr>
              <a:t> </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XGBoost</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模型分别优于</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ANN</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和</a:t>
            </a:r>
            <a:r>
              <a:rPr lang="en-GB" altLang="zh-CN" sz="1200">
                <a:solidFill>
                  <a:srgbClr val="FFFFFF">
                    <a:lumMod val="50000"/>
                  </a:srgbClr>
                </a:solidFill>
                <a:highlight>
                  <a:srgbClr val="C0C0C0"/>
                </a:highlight>
                <a:latin typeface="微软雅黑 Light" panose="020B0502040204020203" charset="-122"/>
                <a:ea typeface="微软雅黑 Light" panose="020B0502040204020203" charset="-122"/>
              </a:rPr>
              <a:t>RF</a:t>
            </a:r>
            <a:r>
              <a:rPr lang="zh-CN" altLang="en-US" sz="1200">
                <a:solidFill>
                  <a:srgbClr val="FFFFFF">
                    <a:lumMod val="50000"/>
                  </a:srgbClr>
                </a:solidFill>
                <a:highlight>
                  <a:srgbClr val="C0C0C0"/>
                </a:highlight>
                <a:latin typeface="微软雅黑 Light" panose="020B0502040204020203" charset="-122"/>
                <a:ea typeface="微软雅黑 Light" panose="020B0502040204020203" charset="-122"/>
              </a:rPr>
              <a:t>模型。</a:t>
            </a:r>
            <a:r>
              <a:rPr lang="en-GB" altLang="zh-CN" sz="1200">
                <a:solidFill>
                  <a:srgbClr val="FFFFFF">
                    <a:lumMod val="50000"/>
                  </a:srgbClr>
                </a:solidFill>
                <a:latin typeface="微软雅黑 Light" panose="020B0502040204020203" charset="-122"/>
                <a:ea typeface="微软雅黑 Light" panose="020B0502040204020203" charset="-122"/>
              </a:rPr>
              <a:t>XGBoost</a:t>
            </a:r>
            <a:r>
              <a:rPr lang="zh-CN" altLang="en-US" sz="1200">
                <a:solidFill>
                  <a:srgbClr val="FFFFFF">
                    <a:lumMod val="50000"/>
                  </a:srgbClr>
                </a:solidFill>
                <a:latin typeface="微软雅黑 Light" panose="020B0502040204020203" charset="-122"/>
                <a:ea typeface="微软雅黑 Light" panose="020B0502040204020203" charset="-122"/>
              </a:rPr>
              <a:t>和</a:t>
            </a:r>
            <a:r>
              <a:rPr lang="en-GB" altLang="zh-CN" sz="1200">
                <a:solidFill>
                  <a:srgbClr val="FFFFFF">
                    <a:lumMod val="50000"/>
                  </a:srgbClr>
                </a:solidFill>
                <a:latin typeface="微软雅黑 Light" panose="020B0502040204020203" charset="-122"/>
                <a:ea typeface="微软雅黑 Light" panose="020B0502040204020203" charset="-122"/>
              </a:rPr>
              <a:t>RF</a:t>
            </a:r>
            <a:r>
              <a:rPr lang="zh-CN" altLang="en-US" sz="1200">
                <a:solidFill>
                  <a:srgbClr val="FFFFFF">
                    <a:lumMod val="50000"/>
                  </a:srgbClr>
                </a:solidFill>
                <a:latin typeface="微软雅黑 Light" panose="020B0502040204020203" charset="-122"/>
                <a:ea typeface="微软雅黑 Light" panose="020B0502040204020203" charset="-122"/>
              </a:rPr>
              <a:t>模型在模型训练运行时间方面是有效的。在这方面，</a:t>
            </a:r>
            <a:r>
              <a:rPr lang="en-GB" altLang="zh-CN" sz="1200">
                <a:solidFill>
                  <a:srgbClr val="FFFFFF">
                    <a:lumMod val="50000"/>
                  </a:srgbClr>
                </a:solidFill>
                <a:latin typeface="微软雅黑 Light" panose="020B0502040204020203" charset="-122"/>
                <a:ea typeface="微软雅黑 Light" panose="020B0502040204020203" charset="-122"/>
              </a:rPr>
              <a:t>ANN</a:t>
            </a:r>
            <a:r>
              <a:rPr lang="zh-CN" altLang="en-US" sz="1200">
                <a:solidFill>
                  <a:srgbClr val="FFFFFF">
                    <a:lumMod val="50000"/>
                  </a:srgbClr>
                </a:solidFill>
                <a:latin typeface="微软雅黑 Light" panose="020B0502040204020203" charset="-122"/>
                <a:ea typeface="微软雅黑 Light" panose="020B0502040204020203" charset="-122"/>
              </a:rPr>
              <a:t>模型表现不佳。</a:t>
            </a:r>
            <a:endParaRPr lang="en-US" altLang="zh-CN" sz="1200">
              <a:solidFill>
                <a:srgbClr val="FFFFFF">
                  <a:lumMod val="50000"/>
                </a:srgbClr>
              </a:solidFill>
              <a:latin typeface="微软雅黑 Light" panose="020B0502040204020203" charset="-122"/>
              <a:ea typeface="微软雅黑 Light" panose="020B0502040204020203" charset="-122"/>
            </a:endParaRPr>
          </a:p>
          <a:p>
            <a:pPr algn="l"/>
            <a:endParaRPr lang="en-US" altLang="zh-CN" sz="1200" b="0" i="0" u="none" strike="noStrike">
              <a:solidFill>
                <a:srgbClr val="FFFFFF">
                  <a:lumMod val="50000"/>
                </a:srgbClr>
              </a:solidFill>
              <a:effectLst/>
              <a:latin typeface="微软雅黑 Light" panose="020B0502040204020203" charset="-122"/>
              <a:ea typeface="微软雅黑 Light" panose="020B0502040204020203" charset="-122"/>
            </a:endParaRPr>
          </a:p>
          <a:p>
            <a:pPr algn="l"/>
            <a:r>
              <a:rPr lang="zh-CN" altLang="en-US" sz="1200" b="0" i="0" u="none" strike="noStrike">
                <a:solidFill>
                  <a:srgbClr val="FFFFFF">
                    <a:lumMod val="50000"/>
                  </a:srgbClr>
                </a:solidFill>
                <a:effectLst/>
                <a:latin typeface="微软雅黑 Light" panose="020B0502040204020203" charset="-122"/>
                <a:ea typeface="微软雅黑 Light" panose="020B0502040204020203" charset="-122"/>
              </a:rPr>
              <a:t>因此最后我们选择利用</a:t>
            </a:r>
            <a:r>
              <a:rPr lang="zh-CN" altLang="en-US"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极限梯度增强</a:t>
            </a:r>
            <a:r>
              <a:rPr lang="en-US" altLang="zh-CN"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a:t>
            </a:r>
            <a:r>
              <a:rPr lang="en-GB" altLang="zh-CN"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XGBoost)</a:t>
            </a:r>
            <a:r>
              <a:rPr lang="zh-CN" altLang="en-US" sz="1200" dirty="0">
                <a:solidFill>
                  <a:prstClr val="black">
                    <a:lumMod val="75000"/>
                    <a:lumOff val="25000"/>
                  </a:prstClr>
                </a:solidFill>
                <a:latin typeface="Open Sans Light" panose="020B0306030504020204" pitchFamily="34" charset="0"/>
                <a:ea typeface="Open Sans Light" panose="020B0306030504020204" pitchFamily="34" charset="0"/>
                <a:cs typeface="Open Sans Light" panose="020B0306030504020204" pitchFamily="34" charset="0"/>
              </a:rPr>
              <a:t>算法对成员国的数据进行寿命预测。</a:t>
            </a:r>
            <a:endParaRPr lang="en-GB" altLang="zh-CN" b="0" i="0" u="none" strike="noStrike">
              <a:solidFill>
                <a:srgbClr val="000000"/>
              </a:solidFill>
              <a:effectLst/>
            </a:endParaRPr>
          </a:p>
        </p:txBody>
      </p:sp>
      <p:sp>
        <p:nvSpPr>
          <p:cNvPr id="4" name="灯片编号占位符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defRPr/>
            </a:pPr>
            <a:fld id="{C1499AD4-E722-484B-9751-AA89CAA54D8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5E8DB0-55DC-4221-A99C-988BCD133BF3}"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en-US" altLang="zh-CN" sz="1200" b="0" i="0" u="none" strike="noStrike" kern="1200" cap="none" spc="0" normalizeH="0" baseline="0" noProof="0" dirty="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5E8DB0-55DC-4221-A99C-988BCD133BF3}"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charset="-122"/>
                <a:cs typeface="+mn-cs"/>
              </a:rPr>
            </a:fld>
            <a:endParaRPr kumimoji="0" lang="en-US" altLang="zh-CN" sz="1200" b="0" i="0" u="none" strike="noStrike" kern="1200" cap="none" spc="0" normalizeH="0" baseline="0" noProof="0" dirty="0">
              <a:ln>
                <a:noFill/>
              </a:ln>
              <a:solidFill>
                <a:prstClr val="black"/>
              </a:solidFill>
              <a:effectLst/>
              <a:uLnTx/>
              <a:uFillTx/>
              <a:latin typeface="等线"/>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zh-CN" altLang="en-US" b="1" i="0" u="none" strike="noStrike">
                <a:solidFill>
                  <a:srgbClr val="000000"/>
                </a:solidFill>
                <a:effectLst/>
              </a:rPr>
              <a:t>特征缩放的具体步骤如下：</a:t>
            </a:r>
            <a:endParaRPr lang="zh-CN" altLang="en-US" b="1" i="0" u="none" strike="noStrike">
              <a:solidFill>
                <a:srgbClr val="000000"/>
              </a:solidFill>
              <a:effectLst/>
            </a:endParaRPr>
          </a:p>
          <a:p>
            <a:pPr algn="l"/>
            <a:endParaRPr lang="zh-CN" altLang="en-US" b="1" i="0" u="none" strike="noStrike">
              <a:solidFill>
                <a:srgbClr val="000000"/>
              </a:solidFill>
              <a:effectLst/>
            </a:endParaRPr>
          </a:p>
          <a:p>
            <a:pPr algn="l"/>
            <a:r>
              <a:rPr lang="en-US" altLang="zh-CN" b="1" i="0" u="none" strike="noStrike">
                <a:solidFill>
                  <a:srgbClr val="000000"/>
                </a:solidFill>
                <a:effectLst/>
              </a:rPr>
              <a:t>1. **</a:t>
            </a:r>
            <a:r>
              <a:rPr lang="zh-CN" altLang="en-US" b="1" i="0" u="none" strike="noStrike">
                <a:solidFill>
                  <a:srgbClr val="000000"/>
                </a:solidFill>
                <a:effectLst/>
              </a:rPr>
              <a:t>计算每个变量的均值和标准差**：</a:t>
            </a:r>
            <a:endParaRPr lang="zh-CN" altLang="en-US" b="1" i="0" u="none" strike="noStrike">
              <a:solidFill>
                <a:srgbClr val="000000"/>
              </a:solidFill>
              <a:effectLst/>
            </a:endParaRPr>
          </a:p>
          <a:p>
            <a:pPr algn="l"/>
            <a:r>
              <a:rPr lang="zh-CN" altLang="en-US" b="1" i="0" u="none" strike="noStrike">
                <a:solidFill>
                  <a:srgbClr val="000000"/>
                </a:solidFill>
                <a:effectLst/>
              </a:rPr>
              <a:t>   </a:t>
            </a:r>
            <a:r>
              <a:rPr lang="en-US" altLang="zh-CN" b="1" i="0" u="none" strike="noStrike">
                <a:solidFill>
                  <a:srgbClr val="000000"/>
                </a:solidFill>
                <a:effectLst/>
              </a:rPr>
              <a:t>- </a:t>
            </a:r>
            <a:r>
              <a:rPr lang="zh-CN" altLang="en-US" b="1" i="0" u="none" strike="noStrike">
                <a:solidFill>
                  <a:srgbClr val="000000"/>
                </a:solidFill>
                <a:effectLst/>
              </a:rPr>
              <a:t>对于每个数值变量，计算其在整个数据集中的均值（</a:t>
            </a:r>
            <a:r>
              <a:rPr lang="el-GR" altLang="zh-CN" b="1" i="0" u="none" strike="noStrike">
                <a:solidFill>
                  <a:srgbClr val="000000"/>
                </a:solidFill>
                <a:effectLst/>
              </a:rPr>
              <a:t>μ</a:t>
            </a:r>
            <a:r>
              <a:rPr lang="zh-CN" altLang="el-GR" b="1" i="0" u="none" strike="noStrike">
                <a:solidFill>
                  <a:srgbClr val="000000"/>
                </a:solidFill>
                <a:effectLst/>
              </a:rPr>
              <a:t>）</a:t>
            </a:r>
            <a:r>
              <a:rPr lang="zh-CN" altLang="en-US" b="1" i="0" u="none" strike="noStrike">
                <a:solidFill>
                  <a:srgbClr val="000000"/>
                </a:solidFill>
                <a:effectLst/>
              </a:rPr>
              <a:t>和标准差（</a:t>
            </a:r>
            <a:r>
              <a:rPr lang="el-GR" altLang="zh-CN" b="1" i="0" u="none" strike="noStrike">
                <a:solidFill>
                  <a:srgbClr val="000000"/>
                </a:solidFill>
                <a:effectLst/>
              </a:rPr>
              <a:t>σ</a:t>
            </a:r>
            <a:r>
              <a:rPr lang="zh-CN" altLang="el-GR" b="1" i="0" u="none" strike="noStrike">
                <a:solidFill>
                  <a:srgbClr val="000000"/>
                </a:solidFill>
                <a:effectLst/>
              </a:rPr>
              <a:t>）。</a:t>
            </a:r>
            <a:endParaRPr lang="zh-CN" altLang="el-GR" b="1" i="0" u="none" strike="noStrike">
              <a:solidFill>
                <a:srgbClr val="000000"/>
              </a:solidFill>
              <a:effectLst/>
            </a:endParaRPr>
          </a:p>
          <a:p>
            <a:pPr algn="l"/>
            <a:endParaRPr lang="zh-CN" altLang="el-GR" b="1" i="0" u="none" strike="noStrike">
              <a:solidFill>
                <a:srgbClr val="000000"/>
              </a:solidFill>
              <a:effectLst/>
            </a:endParaRPr>
          </a:p>
          <a:p>
            <a:pPr algn="l"/>
            <a:r>
              <a:rPr lang="el-GR" altLang="zh-CN" b="1" i="0" u="none" strike="noStrike">
                <a:solidFill>
                  <a:srgbClr val="000000"/>
                </a:solidFill>
                <a:effectLst/>
              </a:rPr>
              <a:t>2. **</a:t>
            </a:r>
            <a:r>
              <a:rPr lang="zh-CN" altLang="en-US" b="1" i="0" u="none" strike="noStrike">
                <a:solidFill>
                  <a:srgbClr val="000000"/>
                </a:solidFill>
                <a:effectLst/>
              </a:rPr>
              <a:t>应用</a:t>
            </a:r>
            <a:r>
              <a:rPr lang="en-GB" altLang="zh-CN" b="1" i="0" u="none" strike="noStrike">
                <a:solidFill>
                  <a:srgbClr val="000000"/>
                </a:solidFill>
                <a:effectLst/>
              </a:rPr>
              <a:t>Z-Score</a:t>
            </a:r>
            <a:r>
              <a:rPr lang="zh-CN" altLang="en-US" b="1" i="0" u="none" strike="noStrike">
                <a:solidFill>
                  <a:srgbClr val="000000"/>
                </a:solidFill>
                <a:effectLst/>
              </a:rPr>
              <a:t>标准化**：</a:t>
            </a:r>
            <a:endParaRPr lang="zh-CN" altLang="en-US" b="1" i="0" u="none" strike="noStrike">
              <a:solidFill>
                <a:srgbClr val="000000"/>
              </a:solidFill>
              <a:effectLst/>
            </a:endParaRPr>
          </a:p>
          <a:p>
            <a:pPr algn="l"/>
            <a:r>
              <a:rPr lang="zh-CN" altLang="en-US" b="1" i="0" u="none" strike="noStrike">
                <a:solidFill>
                  <a:srgbClr val="000000"/>
                </a:solidFill>
                <a:effectLst/>
              </a:rPr>
              <a:t>   </a:t>
            </a:r>
            <a:r>
              <a:rPr lang="en-US" altLang="zh-CN" b="1" i="0" u="none" strike="noStrike">
                <a:solidFill>
                  <a:srgbClr val="000000"/>
                </a:solidFill>
                <a:effectLst/>
              </a:rPr>
              <a:t>- </a:t>
            </a:r>
            <a:r>
              <a:rPr lang="zh-CN" altLang="en-US" b="1" i="0" u="none" strike="noStrike">
                <a:solidFill>
                  <a:srgbClr val="000000"/>
                </a:solidFill>
                <a:effectLst/>
              </a:rPr>
              <a:t>对于每个数值变量中的每个数据点，应用</a:t>
            </a:r>
            <a:r>
              <a:rPr lang="en-GB" altLang="zh-CN" b="1" i="0" u="none" strike="noStrike">
                <a:solidFill>
                  <a:srgbClr val="000000"/>
                </a:solidFill>
                <a:effectLst/>
              </a:rPr>
              <a:t>Z-Score</a:t>
            </a:r>
            <a:r>
              <a:rPr lang="zh-CN" altLang="en-US" b="1" i="0" u="none" strike="noStrike">
                <a:solidFill>
                  <a:srgbClr val="000000"/>
                </a:solidFill>
                <a:effectLst/>
              </a:rPr>
              <a:t>标准化公式：</a:t>
            </a:r>
            <a:endParaRPr lang="zh-CN" altLang="en-US" b="1" i="0" u="none" strike="noStrike">
              <a:solidFill>
                <a:srgbClr val="000000"/>
              </a:solidFill>
              <a:effectLst/>
            </a:endParaRPr>
          </a:p>
          <a:p>
            <a:pPr algn="l"/>
            <a:r>
              <a:rPr lang="zh-CN" altLang="en-US" b="1" i="0" u="none" strike="noStrike">
                <a:solidFill>
                  <a:srgbClr val="000000"/>
                </a:solidFill>
                <a:effectLst/>
              </a:rPr>
              <a:t>     </a:t>
            </a:r>
            <a:r>
              <a:rPr lang="en-US" altLang="zh-CN" b="1" i="0" u="none" strike="noStrike">
                <a:solidFill>
                  <a:srgbClr val="000000"/>
                </a:solidFill>
                <a:effectLst/>
              </a:rPr>
              <a:t>\[</a:t>
            </a:r>
            <a:endParaRPr lang="en-US" altLang="zh-CN" b="1" i="0" u="none" strike="noStrike">
              <a:solidFill>
                <a:srgbClr val="000000"/>
              </a:solidFill>
              <a:effectLst/>
            </a:endParaRPr>
          </a:p>
          <a:p>
            <a:pPr algn="l"/>
            <a:r>
              <a:rPr lang="en-US" altLang="zh-CN" b="1" i="0" u="none" strike="noStrike">
                <a:solidFill>
                  <a:srgbClr val="000000"/>
                </a:solidFill>
                <a:effectLst/>
              </a:rPr>
              <a:t>     </a:t>
            </a:r>
            <a:r>
              <a:rPr lang="en-GB" altLang="zh-CN" b="1" i="0" u="none" strike="noStrike">
                <a:solidFill>
                  <a:srgbClr val="000000"/>
                </a:solidFill>
                <a:effectLst/>
              </a:rPr>
              <a:t>z = \frac{x - \mu}{\sigma}</a:t>
            </a:r>
            <a:endParaRPr lang="en-GB" altLang="zh-CN" b="1" i="0" u="none" strike="noStrike">
              <a:solidFill>
                <a:srgbClr val="000000"/>
              </a:solidFill>
              <a:effectLst/>
            </a:endParaRPr>
          </a:p>
          <a:p>
            <a:pPr algn="l"/>
            <a:r>
              <a:rPr lang="en-GB" altLang="zh-CN" b="1" i="0" u="none" strike="noStrike">
                <a:solidFill>
                  <a:srgbClr val="000000"/>
                </a:solidFill>
                <a:effectLst/>
              </a:rPr>
              <a:t>     \]</a:t>
            </a:r>
            <a:endParaRPr lang="en-GB" altLang="zh-CN" b="1" i="0" u="none" strike="noStrike">
              <a:solidFill>
                <a:srgbClr val="000000"/>
              </a:solidFill>
              <a:effectLst/>
            </a:endParaRPr>
          </a:p>
          <a:p>
            <a:pPr algn="l"/>
            <a:r>
              <a:rPr lang="en-GB" altLang="zh-CN" b="1" i="0" u="none" strike="noStrike">
                <a:solidFill>
                  <a:srgbClr val="000000"/>
                </a:solidFill>
                <a:effectLst/>
              </a:rPr>
              <a:t>   </a:t>
            </a:r>
            <a:r>
              <a:rPr lang="zh-CN" altLang="en-US" b="1" i="0" u="none" strike="noStrike">
                <a:solidFill>
                  <a:srgbClr val="000000"/>
                </a:solidFill>
                <a:effectLst/>
              </a:rPr>
              <a:t>其中，</a:t>
            </a:r>
            <a:r>
              <a:rPr lang="en-US" altLang="zh-CN" b="1" i="0" u="none" strike="noStrike">
                <a:solidFill>
                  <a:srgbClr val="000000"/>
                </a:solidFill>
                <a:effectLst/>
              </a:rPr>
              <a:t>\( </a:t>
            </a:r>
            <a:r>
              <a:rPr lang="en-GB" altLang="zh-CN" b="1" i="0" u="none" strike="noStrike">
                <a:solidFill>
                  <a:srgbClr val="000000"/>
                </a:solidFill>
                <a:effectLst/>
              </a:rPr>
              <a:t>z \) </a:t>
            </a:r>
            <a:r>
              <a:rPr lang="zh-CN" altLang="en-US" b="1" i="0" u="none" strike="noStrike">
                <a:solidFill>
                  <a:srgbClr val="000000"/>
                </a:solidFill>
                <a:effectLst/>
              </a:rPr>
              <a:t>是标准化后的数值，</a:t>
            </a:r>
            <a:r>
              <a:rPr lang="en-US" altLang="zh-CN" b="1" i="0" u="none" strike="noStrike">
                <a:solidFill>
                  <a:srgbClr val="000000"/>
                </a:solidFill>
                <a:effectLst/>
              </a:rPr>
              <a:t>\( </a:t>
            </a:r>
            <a:r>
              <a:rPr lang="en-GB" altLang="zh-CN" b="1" i="0" u="none" strike="noStrike">
                <a:solidFill>
                  <a:srgbClr val="000000"/>
                </a:solidFill>
                <a:effectLst/>
              </a:rPr>
              <a:t>x \) </a:t>
            </a:r>
            <a:r>
              <a:rPr lang="zh-CN" altLang="en-US" b="1" i="0" u="none" strike="noStrike">
                <a:solidFill>
                  <a:srgbClr val="000000"/>
                </a:solidFill>
                <a:effectLst/>
              </a:rPr>
              <a:t>是原始数值，</a:t>
            </a:r>
            <a:r>
              <a:rPr lang="en-US" altLang="zh-CN" b="1" i="0" u="none" strike="noStrike">
                <a:solidFill>
                  <a:srgbClr val="000000"/>
                </a:solidFill>
                <a:effectLst/>
              </a:rPr>
              <a:t>\( \</a:t>
            </a:r>
            <a:r>
              <a:rPr lang="en-GB" altLang="zh-CN" b="1" i="0" u="none" strike="noStrike">
                <a:solidFill>
                  <a:srgbClr val="000000"/>
                </a:solidFill>
                <a:effectLst/>
              </a:rPr>
              <a:t>mu \) </a:t>
            </a:r>
            <a:r>
              <a:rPr lang="zh-CN" altLang="en-US" b="1" i="0" u="none" strike="noStrike">
                <a:solidFill>
                  <a:srgbClr val="000000"/>
                </a:solidFill>
                <a:effectLst/>
              </a:rPr>
              <a:t>是变量的均值，</a:t>
            </a:r>
            <a:r>
              <a:rPr lang="en-US" altLang="zh-CN" b="1" i="0" u="none" strike="noStrike">
                <a:solidFill>
                  <a:srgbClr val="000000"/>
                </a:solidFill>
                <a:effectLst/>
              </a:rPr>
              <a:t>\( \</a:t>
            </a:r>
            <a:r>
              <a:rPr lang="en-GB" altLang="zh-CN" b="1" i="0" u="none" strike="noStrike">
                <a:solidFill>
                  <a:srgbClr val="000000"/>
                </a:solidFill>
                <a:effectLst/>
              </a:rPr>
              <a:t>sigma \) </a:t>
            </a:r>
            <a:r>
              <a:rPr lang="zh-CN" altLang="en-US" b="1" i="0" u="none" strike="noStrike">
                <a:solidFill>
                  <a:srgbClr val="000000"/>
                </a:solidFill>
                <a:effectLst/>
              </a:rPr>
              <a:t>是变量的标准差。</a:t>
            </a:r>
            <a:endParaRPr lang="zh-CN" altLang="en-US" b="1" i="0" u="none" strike="noStrike">
              <a:solidFill>
                <a:srgbClr val="000000"/>
              </a:solidFill>
              <a:effectLst/>
            </a:endParaRPr>
          </a:p>
          <a:p>
            <a:pPr algn="l"/>
            <a:endParaRPr lang="zh-CN" altLang="en-US" b="1" i="0" u="none" strike="noStrike">
              <a:solidFill>
                <a:srgbClr val="000000"/>
              </a:solidFill>
              <a:effectLst/>
            </a:endParaRPr>
          </a:p>
          <a:p>
            <a:pPr algn="l"/>
            <a:r>
              <a:rPr lang="en-US" altLang="zh-CN" b="1" i="0" u="none" strike="noStrike">
                <a:solidFill>
                  <a:srgbClr val="000000"/>
                </a:solidFill>
                <a:effectLst/>
              </a:rPr>
              <a:t>3. **</a:t>
            </a:r>
            <a:r>
              <a:rPr lang="zh-CN" altLang="en-US" b="1" i="0" u="none" strike="noStrike">
                <a:solidFill>
                  <a:srgbClr val="000000"/>
                </a:solidFill>
                <a:effectLst/>
              </a:rPr>
              <a:t>处理缺失值**：</a:t>
            </a:r>
            <a:endParaRPr lang="zh-CN" altLang="en-US" b="1" i="0" u="none" strike="noStrike">
              <a:solidFill>
                <a:srgbClr val="000000"/>
              </a:solidFill>
              <a:effectLst/>
            </a:endParaRPr>
          </a:p>
          <a:p>
            <a:pPr algn="l"/>
            <a:r>
              <a:rPr lang="zh-CN" altLang="en-US" b="1" i="0" u="none" strike="noStrike">
                <a:solidFill>
                  <a:srgbClr val="000000"/>
                </a:solidFill>
                <a:effectLst/>
              </a:rPr>
              <a:t>   </a:t>
            </a:r>
            <a:r>
              <a:rPr lang="en-US" altLang="zh-CN" b="1" i="0" u="none" strike="noStrike">
                <a:solidFill>
                  <a:srgbClr val="000000"/>
                </a:solidFill>
                <a:effectLst/>
              </a:rPr>
              <a:t>- </a:t>
            </a:r>
            <a:r>
              <a:rPr lang="zh-CN" altLang="en-US" b="1" i="0" u="none" strike="noStrike">
                <a:solidFill>
                  <a:srgbClr val="000000"/>
                </a:solidFill>
                <a:effectLst/>
              </a:rPr>
              <a:t>在标准化之前，先通过</a:t>
            </a:r>
            <a:r>
              <a:rPr lang="en-GB" altLang="zh-CN" b="1" i="0" u="none" strike="noStrike">
                <a:solidFill>
                  <a:srgbClr val="000000"/>
                </a:solidFill>
                <a:effectLst/>
              </a:rPr>
              <a:t>missMDA</a:t>
            </a:r>
            <a:r>
              <a:rPr lang="zh-CN" altLang="en-US" b="1" i="0" u="none" strike="noStrike">
                <a:solidFill>
                  <a:srgbClr val="000000"/>
                </a:solidFill>
                <a:effectLst/>
              </a:rPr>
              <a:t>包使用主成分分析（</a:t>
            </a:r>
            <a:r>
              <a:rPr lang="en-GB" altLang="zh-CN" b="1" i="0" u="none" strike="noStrike">
                <a:solidFill>
                  <a:srgbClr val="000000"/>
                </a:solidFill>
                <a:effectLst/>
              </a:rPr>
              <a:t>PCA</a:t>
            </a:r>
            <a:r>
              <a:rPr lang="zh-CN" altLang="en-GB" b="1" i="0" u="none" strike="noStrike">
                <a:solidFill>
                  <a:srgbClr val="000000"/>
                </a:solidFill>
                <a:effectLst/>
              </a:rPr>
              <a:t>）</a:t>
            </a:r>
            <a:r>
              <a:rPr lang="zh-CN" altLang="en-US" b="1" i="0" u="none" strike="noStrike">
                <a:solidFill>
                  <a:srgbClr val="000000"/>
                </a:solidFill>
                <a:effectLst/>
              </a:rPr>
              <a:t>模型对缺失值进行插补，以确保完整的数据集。这一步骤确保在计算均值和标准差时不受缺失值的影响。</a:t>
            </a:r>
            <a:endParaRPr lang="zh-CN" altLang="en-US" b="1" i="0" u="none" strike="noStrike">
              <a:solidFill>
                <a:srgbClr val="000000"/>
              </a:solidFill>
              <a:effectLst/>
            </a:endParaRPr>
          </a:p>
          <a:p>
            <a:pPr algn="l"/>
            <a:endParaRPr lang="zh-CN" altLang="en-US" b="1" i="0" u="none" strike="noStrike">
              <a:solidFill>
                <a:srgbClr val="000000"/>
              </a:solidFill>
              <a:effectLst/>
            </a:endParaRPr>
          </a:p>
          <a:p>
            <a:pPr algn="l"/>
            <a:r>
              <a:rPr lang="en-US" altLang="zh-CN" b="1" i="0" u="none" strike="noStrike">
                <a:solidFill>
                  <a:srgbClr val="000000"/>
                </a:solidFill>
                <a:effectLst/>
              </a:rPr>
              <a:t>4. **</a:t>
            </a:r>
            <a:r>
              <a:rPr lang="zh-CN" altLang="en-US" b="1" i="0" u="none" strike="noStrike">
                <a:solidFill>
                  <a:srgbClr val="000000"/>
                </a:solidFill>
                <a:effectLst/>
              </a:rPr>
              <a:t>确保数据集一致性**：</a:t>
            </a:r>
            <a:endParaRPr lang="zh-CN" altLang="en-US" b="1" i="0" u="none" strike="noStrike">
              <a:solidFill>
                <a:srgbClr val="000000"/>
              </a:solidFill>
              <a:effectLst/>
            </a:endParaRPr>
          </a:p>
          <a:p>
            <a:pPr algn="l"/>
            <a:r>
              <a:rPr lang="zh-CN" altLang="en-US" b="1" i="0" u="none" strike="noStrike">
                <a:solidFill>
                  <a:srgbClr val="000000"/>
                </a:solidFill>
                <a:effectLst/>
              </a:rPr>
              <a:t>   </a:t>
            </a:r>
            <a:r>
              <a:rPr lang="en-US" altLang="zh-CN" b="1" i="0" u="none" strike="noStrike">
                <a:solidFill>
                  <a:srgbClr val="000000"/>
                </a:solidFill>
                <a:effectLst/>
              </a:rPr>
              <a:t>- </a:t>
            </a:r>
            <a:r>
              <a:rPr lang="zh-CN" altLang="en-US" b="1" i="0" u="none" strike="noStrike">
                <a:solidFill>
                  <a:srgbClr val="000000"/>
                </a:solidFill>
                <a:effectLst/>
              </a:rPr>
              <a:t>在整个数据集上应用相同的标准化步骤，以确保训练集和测试集在同一尺度上进行建模和预测。</a:t>
            </a:r>
            <a:endParaRPr lang="zh-CN" altLang="en-US" b="1" i="0" u="none" strike="noStrike">
              <a:solidFill>
                <a:srgbClr val="000000"/>
              </a:solidFill>
              <a:effectLst/>
            </a:endParaRPr>
          </a:p>
          <a:p>
            <a:pPr algn="l"/>
            <a:endParaRPr lang="zh-CN" altLang="en-US" b="1" i="0" u="none" strike="noStrike">
              <a:solidFill>
                <a:srgbClr val="000000"/>
              </a:solidFill>
              <a:effectLst/>
            </a:endParaRPr>
          </a:p>
          <a:p>
            <a:pPr algn="l"/>
            <a:r>
              <a:rPr lang="en-US" altLang="zh-CN" b="1" i="0" u="none" strike="noStrike">
                <a:solidFill>
                  <a:srgbClr val="000000"/>
                </a:solidFill>
                <a:effectLst/>
              </a:rPr>
              <a:t>5. **</a:t>
            </a:r>
            <a:r>
              <a:rPr lang="zh-CN" altLang="en-US" b="1" i="0" u="none" strike="noStrike">
                <a:solidFill>
                  <a:srgbClr val="000000"/>
                </a:solidFill>
                <a:effectLst/>
              </a:rPr>
              <a:t>不对选定的预测变量进行进一步缩放**：</a:t>
            </a:r>
            <a:endParaRPr lang="zh-CN" altLang="en-US" b="1" i="0" u="none" strike="noStrike">
              <a:solidFill>
                <a:srgbClr val="000000"/>
              </a:solidFill>
              <a:effectLst/>
            </a:endParaRPr>
          </a:p>
          <a:p>
            <a:pPr algn="l"/>
            <a:r>
              <a:rPr lang="zh-CN" altLang="en-US" b="1" i="0" u="none" strike="noStrike">
                <a:solidFill>
                  <a:srgbClr val="000000"/>
                </a:solidFill>
                <a:effectLst/>
              </a:rPr>
              <a:t>   </a:t>
            </a:r>
            <a:r>
              <a:rPr lang="en-US" altLang="zh-CN" b="1" i="0" u="none" strike="noStrike">
                <a:solidFill>
                  <a:srgbClr val="000000"/>
                </a:solidFill>
                <a:effectLst/>
              </a:rPr>
              <a:t>- </a:t>
            </a:r>
            <a:r>
              <a:rPr lang="zh-CN" altLang="en-US" b="1" i="0" u="none" strike="noStrike">
                <a:solidFill>
                  <a:srgbClr val="000000"/>
                </a:solidFill>
                <a:effectLst/>
              </a:rPr>
              <a:t>对于使用</a:t>
            </a:r>
            <a:r>
              <a:rPr lang="en-GB" altLang="zh-CN" b="1" i="0" u="none" strike="noStrike">
                <a:solidFill>
                  <a:srgbClr val="000000"/>
                </a:solidFill>
                <a:effectLst/>
              </a:rPr>
              <a:t>XGBoost</a:t>
            </a:r>
            <a:r>
              <a:rPr lang="zh-CN" altLang="en-US" b="1" i="0" u="none" strike="noStrike">
                <a:solidFill>
                  <a:srgbClr val="000000"/>
                </a:solidFill>
                <a:effectLst/>
              </a:rPr>
              <a:t>模型的情况，特征缩放对所选预测变量没有进一步应用，因为</a:t>
            </a:r>
            <a:r>
              <a:rPr lang="en-GB" altLang="zh-CN" b="1" i="0" u="none" strike="noStrike">
                <a:solidFill>
                  <a:srgbClr val="000000"/>
                </a:solidFill>
                <a:effectLst/>
              </a:rPr>
              <a:t>XGBoost</a:t>
            </a:r>
            <a:r>
              <a:rPr lang="zh-CN" altLang="en-US" b="1" i="0" u="none" strike="noStrike">
                <a:solidFill>
                  <a:srgbClr val="000000"/>
                </a:solidFill>
                <a:effectLst/>
              </a:rPr>
              <a:t>的决策树算法对输入数据的尺度不敏感，分裂点的位置不受特征缩放的影响。</a:t>
            </a:r>
            <a:endParaRPr lang="zh-CN" altLang="en-US" b="1" i="0" u="none" strike="noStrike">
              <a:solidFill>
                <a:srgbClr val="000000"/>
              </a:solidFill>
              <a:effectLst/>
            </a:endParaRPr>
          </a:p>
          <a:p>
            <a:pPr algn="l"/>
            <a:endParaRPr lang="zh-CN" altLang="en-US" b="1" i="0" u="none" strike="noStrike">
              <a:solidFill>
                <a:srgbClr val="000000"/>
              </a:solidFill>
              <a:effectLst/>
            </a:endParaRPr>
          </a:p>
          <a:p>
            <a:pPr algn="l"/>
            <a:r>
              <a:rPr lang="zh-CN" altLang="en-US" b="1" i="0" u="none" strike="noStrike">
                <a:solidFill>
                  <a:srgbClr val="000000"/>
                </a:solidFill>
                <a:effectLst/>
              </a:rPr>
              <a:t>在论文中，这些步骤保证了数据的标准化处理，从而使得模型能够更有效地处理和分析数据</a:t>
            </a:r>
            <a:r>
              <a:rPr lang="en-US" altLang="zh-CN" b="1" i="0" u="none" strike="noStrike">
                <a:solidFill>
                  <a:srgbClr val="000000"/>
                </a:solidFill>
                <a:effectLst/>
              </a:rPr>
              <a:t>【7†</a:t>
            </a:r>
            <a:r>
              <a:rPr lang="en-GB" altLang="zh-CN" b="1" i="0" u="none" strike="noStrike">
                <a:solidFill>
                  <a:srgbClr val="000000"/>
                </a:solidFill>
                <a:effectLst/>
              </a:rPr>
              <a:t>source】</a:t>
            </a:r>
            <a:r>
              <a:rPr lang="zh-CN" altLang="en-GB" b="1" i="0" u="none" strike="noStrike">
                <a:solidFill>
                  <a:srgbClr val="000000"/>
                </a:solidFill>
                <a:effectLst/>
              </a:rPr>
              <a:t>。</a:t>
            </a:r>
            <a:endParaRPr lang="en-GB" altLang="zh-CN" b="0" i="0" u="none" strike="noStrike">
              <a:solidFill>
                <a:srgbClr val="000000"/>
              </a:solidFill>
              <a:effectLs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F098A4A-D958-473C-B78E-DD0AD34E90D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6A7702-C6B6-4CC0-B52F-64F60003E6B7}" type="slidenum">
              <a:rPr lang="zh-CN" altLang="en-US" smtClean="0"/>
            </a:fld>
            <a:endParaRPr lang="zh-CN" altLang="en-US"/>
          </a:p>
        </p:txBody>
      </p:sp>
      <p:sp>
        <p:nvSpPr>
          <p:cNvPr id="7" name="灯片编号占位符 5"/>
          <p:cNvSpPr txBox="1"/>
          <p:nvPr userDrawn="1"/>
        </p:nvSpPr>
        <p:spPr>
          <a:xfrm>
            <a:off x="8610600" y="6369450"/>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a:solidFill>
                  <a:schemeClr val="tx1">
                    <a:alpha val="0"/>
                  </a:schemeClr>
                </a:solidFill>
              </a:rPr>
              <a:t>YOYOON</a:t>
            </a:r>
            <a:endParaRPr lang="zh-CN" altLang="en-US">
              <a:solidFill>
                <a:schemeClr val="tx1">
                  <a:alpha val="0"/>
                </a:scheme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F098A4A-D958-473C-B78E-DD0AD34E90D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6A7702-C6B6-4CC0-B52F-64F60003E6B7}" type="slidenum">
              <a:rPr lang="zh-CN" altLang="en-US" smtClean="0"/>
            </a:fld>
            <a:endParaRPr lang="zh-CN" altLang="en-US"/>
          </a:p>
        </p:txBody>
      </p:sp>
      <p:sp>
        <p:nvSpPr>
          <p:cNvPr id="7" name="灯片编号占位符 5"/>
          <p:cNvSpPr txBox="1"/>
          <p:nvPr userDrawn="1"/>
        </p:nvSpPr>
        <p:spPr>
          <a:xfrm>
            <a:off x="8610600" y="6369450"/>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a:solidFill>
                  <a:schemeClr val="tx1">
                    <a:alpha val="0"/>
                  </a:schemeClr>
                </a:solidFill>
              </a:rPr>
              <a:t>YOYOON</a:t>
            </a:r>
            <a:endParaRPr lang="zh-CN" altLang="en-US">
              <a:solidFill>
                <a:schemeClr val="tx1">
                  <a:alpha val="0"/>
                </a:scheme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F098A4A-D958-473C-B78E-DD0AD34E90D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6A7702-C6B6-4CC0-B52F-64F60003E6B7}" type="slidenum">
              <a:rPr lang="zh-CN" altLang="en-US" smtClean="0"/>
            </a:fld>
            <a:endParaRPr lang="zh-CN" altLang="en-US"/>
          </a:p>
        </p:txBody>
      </p:sp>
      <p:sp>
        <p:nvSpPr>
          <p:cNvPr id="7" name="灯片编号占位符 5"/>
          <p:cNvSpPr txBox="1"/>
          <p:nvPr userDrawn="1"/>
        </p:nvSpPr>
        <p:spPr>
          <a:xfrm>
            <a:off x="8610600" y="6369450"/>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a:solidFill>
                  <a:schemeClr val="tx1">
                    <a:alpha val="0"/>
                  </a:schemeClr>
                </a:solidFill>
              </a:rPr>
              <a:t>YOYOON</a:t>
            </a:r>
            <a:endParaRPr lang="zh-CN" altLang="en-US">
              <a:solidFill>
                <a:schemeClr val="tx1">
                  <a:alpha val="0"/>
                </a:scheme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5F098A4A-D958-473C-B78E-DD0AD34E90D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6A7702-C6B6-4CC0-B52F-64F60003E6B7}" type="slidenum">
              <a:rPr lang="zh-CN" altLang="en-US" smtClean="0"/>
            </a:fld>
            <a:endParaRPr lang="zh-CN" altLang="en-US"/>
          </a:p>
        </p:txBody>
      </p:sp>
      <p:sp>
        <p:nvSpPr>
          <p:cNvPr id="8" name="灯片编号占位符 5"/>
          <p:cNvSpPr txBox="1"/>
          <p:nvPr userDrawn="1"/>
        </p:nvSpPr>
        <p:spPr>
          <a:xfrm>
            <a:off x="8610600" y="6369450"/>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a:solidFill>
                  <a:schemeClr val="tx1">
                    <a:alpha val="0"/>
                  </a:schemeClr>
                </a:solidFill>
              </a:rPr>
              <a:t>YOYOON</a:t>
            </a:r>
            <a:endParaRPr lang="zh-CN" altLang="en-US">
              <a:solidFill>
                <a:schemeClr val="tx1">
                  <a:alpha val="0"/>
                </a:scheme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F098A4A-D958-473C-B78E-DD0AD34E90D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56A7702-C6B6-4CC0-B52F-64F60003E6B7}" type="slidenum">
              <a:rPr lang="zh-CN" altLang="en-US" smtClean="0"/>
            </a:fld>
            <a:endParaRPr lang="zh-CN" altLang="en-US"/>
          </a:p>
        </p:txBody>
      </p:sp>
      <p:sp>
        <p:nvSpPr>
          <p:cNvPr id="10" name="灯片编号占位符 5"/>
          <p:cNvSpPr txBox="1"/>
          <p:nvPr userDrawn="1"/>
        </p:nvSpPr>
        <p:spPr>
          <a:xfrm>
            <a:off x="8610600" y="6369450"/>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a:solidFill>
                  <a:schemeClr val="tx1">
                    <a:alpha val="0"/>
                  </a:schemeClr>
                </a:solidFill>
              </a:rPr>
              <a:t>YOYOON</a:t>
            </a:r>
            <a:endParaRPr lang="zh-CN" altLang="en-US">
              <a:solidFill>
                <a:schemeClr val="tx1">
                  <a:alpha val="0"/>
                </a:scheme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F098A4A-D958-473C-B78E-DD0AD34E90D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56A7702-C6B6-4CC0-B52F-64F60003E6B7}" type="slidenum">
              <a:rPr lang="zh-CN" altLang="en-US" smtClean="0"/>
            </a:fld>
            <a:endParaRPr lang="zh-CN" altLang="en-US"/>
          </a:p>
        </p:txBody>
      </p:sp>
      <p:sp>
        <p:nvSpPr>
          <p:cNvPr id="6" name="灯片编号占位符 5"/>
          <p:cNvSpPr txBox="1"/>
          <p:nvPr userDrawn="1"/>
        </p:nvSpPr>
        <p:spPr>
          <a:xfrm>
            <a:off x="8610600" y="6369450"/>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a:solidFill>
                  <a:schemeClr val="tx1">
                    <a:alpha val="0"/>
                  </a:schemeClr>
                </a:solidFill>
              </a:rPr>
              <a:t>YOYOON</a:t>
            </a:r>
            <a:endParaRPr lang="zh-CN" altLang="en-US">
              <a:solidFill>
                <a:schemeClr val="tx1">
                  <a:alpha val="0"/>
                </a:scheme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F098A4A-D958-473C-B78E-DD0AD34E90D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56A7702-C6B6-4CC0-B52F-64F60003E6B7}" type="slidenum">
              <a:rPr lang="zh-CN" altLang="en-US" smtClean="0"/>
            </a:fld>
            <a:endParaRPr lang="zh-CN" altLang="en-US"/>
          </a:p>
        </p:txBody>
      </p:sp>
      <p:sp>
        <p:nvSpPr>
          <p:cNvPr id="5" name="灯片编号占位符 5"/>
          <p:cNvSpPr txBox="1"/>
          <p:nvPr userDrawn="1"/>
        </p:nvSpPr>
        <p:spPr>
          <a:xfrm>
            <a:off x="8610600" y="6369450"/>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a:solidFill>
                  <a:schemeClr val="tx1">
                    <a:alpha val="0"/>
                  </a:schemeClr>
                </a:solidFill>
              </a:rPr>
              <a:t>YOYOON</a:t>
            </a:r>
            <a:endParaRPr lang="zh-CN" altLang="en-US">
              <a:solidFill>
                <a:schemeClr val="tx1">
                  <a:alpha val="0"/>
                </a:scheme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F098A4A-D958-473C-B78E-DD0AD34E90D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6A7702-C6B6-4CC0-B52F-64F60003E6B7}" type="slidenum">
              <a:rPr lang="zh-CN" altLang="en-US" smtClean="0"/>
            </a:fld>
            <a:endParaRPr lang="zh-CN" altLang="en-US"/>
          </a:p>
        </p:txBody>
      </p:sp>
      <p:sp>
        <p:nvSpPr>
          <p:cNvPr id="8" name="灯片编号占位符 5"/>
          <p:cNvSpPr txBox="1"/>
          <p:nvPr userDrawn="1"/>
        </p:nvSpPr>
        <p:spPr>
          <a:xfrm>
            <a:off x="8610600" y="6369450"/>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a:solidFill>
                  <a:schemeClr val="tx1">
                    <a:alpha val="0"/>
                  </a:schemeClr>
                </a:solidFill>
              </a:rPr>
              <a:t>YOYOON</a:t>
            </a:r>
            <a:endParaRPr lang="zh-CN" altLang="en-US">
              <a:solidFill>
                <a:schemeClr val="tx1">
                  <a:alpha val="0"/>
                </a:scheme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F098A4A-D958-473C-B78E-DD0AD34E90D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6A7702-C6B6-4CC0-B52F-64F60003E6B7}" type="slidenum">
              <a:rPr lang="zh-CN" altLang="en-US" smtClean="0"/>
            </a:fld>
            <a:endParaRPr lang="zh-CN" altLang="en-US"/>
          </a:p>
        </p:txBody>
      </p:sp>
      <p:sp>
        <p:nvSpPr>
          <p:cNvPr id="8" name="灯片编号占位符 5"/>
          <p:cNvSpPr txBox="1"/>
          <p:nvPr userDrawn="1"/>
        </p:nvSpPr>
        <p:spPr>
          <a:xfrm>
            <a:off x="8610600" y="6369450"/>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a:solidFill>
                  <a:schemeClr val="tx1">
                    <a:alpha val="0"/>
                  </a:schemeClr>
                </a:solidFill>
              </a:rPr>
              <a:t>YOYOON</a:t>
            </a:r>
            <a:endParaRPr lang="zh-CN" altLang="en-US">
              <a:solidFill>
                <a:schemeClr val="tx1">
                  <a:alpha val="0"/>
                </a:scheme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F098A4A-D958-473C-B78E-DD0AD34E90D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6A7702-C6B6-4CC0-B52F-64F60003E6B7}" type="slidenum">
              <a:rPr lang="zh-CN" altLang="en-US" smtClean="0"/>
            </a:fld>
            <a:endParaRPr lang="zh-CN" altLang="en-US"/>
          </a:p>
        </p:txBody>
      </p:sp>
      <p:sp>
        <p:nvSpPr>
          <p:cNvPr id="7" name="灯片编号占位符 5"/>
          <p:cNvSpPr txBox="1"/>
          <p:nvPr userDrawn="1"/>
        </p:nvSpPr>
        <p:spPr>
          <a:xfrm>
            <a:off x="8610600" y="6369450"/>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a:solidFill>
                  <a:schemeClr val="tx1">
                    <a:alpha val="0"/>
                  </a:schemeClr>
                </a:solidFill>
              </a:rPr>
              <a:t>YOYOON</a:t>
            </a:r>
            <a:endParaRPr lang="zh-CN" altLang="en-US">
              <a:solidFill>
                <a:schemeClr val="tx1">
                  <a:alpha val="0"/>
                </a:scheme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F098A4A-D958-473C-B78E-DD0AD34E90D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6A7702-C6B6-4CC0-B52F-64F60003E6B7}" type="slidenum">
              <a:rPr lang="zh-CN" altLang="en-US" smtClean="0"/>
            </a:fld>
            <a:endParaRPr lang="zh-CN" altLang="en-US"/>
          </a:p>
        </p:txBody>
      </p:sp>
      <p:sp>
        <p:nvSpPr>
          <p:cNvPr id="7" name="灯片编号占位符 5"/>
          <p:cNvSpPr txBox="1"/>
          <p:nvPr userDrawn="1"/>
        </p:nvSpPr>
        <p:spPr>
          <a:xfrm>
            <a:off x="8610600" y="6369450"/>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a:solidFill>
                  <a:schemeClr val="tx1">
                    <a:alpha val="0"/>
                  </a:schemeClr>
                </a:solidFill>
              </a:rPr>
              <a:t>YOYOON</a:t>
            </a:r>
            <a:endParaRPr lang="zh-CN" altLang="en-US">
              <a:solidFill>
                <a:schemeClr val="tx1">
                  <a:alpha val="0"/>
                </a:scheme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23_Title Slide">
    <p:spTree>
      <p:nvGrpSpPr>
        <p:cNvPr id="1" name=""/>
        <p:cNvGrpSpPr/>
        <p:nvPr/>
      </p:nvGrpSpPr>
      <p:grpSpPr>
        <a:xfrm>
          <a:off x="0" y="0"/>
          <a:ext cx="0" cy="0"/>
          <a:chOff x="0" y="0"/>
          <a:chExt cx="0" cy="0"/>
        </a:xfrm>
      </p:grpSpPr>
      <p:sp>
        <p:nvSpPr>
          <p:cNvPr id="2" name="TextBox 1"/>
          <p:cNvSpPr txBox="1"/>
          <p:nvPr userDrawn="1"/>
        </p:nvSpPr>
        <p:spPr>
          <a:xfrm rot="10800000" flipV="1">
            <a:off x="11483340" y="6225213"/>
            <a:ext cx="708660" cy="338554"/>
          </a:xfrm>
          <a:prstGeom prst="rect">
            <a:avLst/>
          </a:prstGeom>
          <a:solidFill>
            <a:schemeClr val="bg1">
              <a:alpha val="5000"/>
            </a:schemeClr>
          </a:solidFill>
        </p:spPr>
        <p:txBody>
          <a:bodyPr wrap="square" rtlCol="0">
            <a:spAutoFit/>
          </a:bodyPr>
          <a:lstStyle/>
          <a:p>
            <a:pPr marL="57150" indent="0" algn="l"/>
            <a:fld id="{260E2A6B-A809-4840-BF14-8648BC0BDF87}" type="slidenum">
              <a:rPr lang="id-ID" sz="1600" b="0" i="0" smtClean="0">
                <a:solidFill>
                  <a:schemeClr val="bg1"/>
                </a:solidFill>
                <a:latin typeface="Bebas Neue" panose="020B0606020202050201" pitchFamily="34" charset="0"/>
                <a:ea typeface="Roboto Condensed" panose="02000000000000000000" pitchFamily="2" charset="0"/>
                <a:cs typeface="Segoe UI" panose="020B0502040204020203" pitchFamily="34" charset="0"/>
              </a:rPr>
            </a:fld>
            <a:endParaRPr lang="id-ID" sz="6000" b="0" i="0" dirty="0">
              <a:solidFill>
                <a:schemeClr val="bg1"/>
              </a:solidFill>
              <a:latin typeface="Bebas Neue" panose="020B0606020202050201" pitchFamily="34" charset="0"/>
              <a:ea typeface="Roboto Condensed" panose="02000000000000000000" pitchFamily="2" charset="0"/>
              <a:cs typeface="Segoe UI" panose="020B0502040204020203"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4" name="Picture Placeholder 5"/>
          <p:cNvSpPr>
            <a:spLocks noGrp="1"/>
          </p:cNvSpPr>
          <p:nvPr>
            <p:ph type="pic" sz="quarter" idx="11"/>
          </p:nvPr>
        </p:nvSpPr>
        <p:spPr>
          <a:xfrm>
            <a:off x="1" y="1673156"/>
            <a:ext cx="1971320" cy="1985558"/>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lang="en-US" sz="1400" kern="1200" dirty="0">
                <a:solidFill>
                  <a:schemeClr val="bg1">
                    <a:lumMod val="85000"/>
                  </a:schemeClr>
                </a:solidFill>
                <a:latin typeface="Montserrat Light" panose="00000400000000000000" pitchFamily="50" charset="0"/>
                <a:ea typeface="+mn-ea"/>
                <a:cs typeface="+mn-cs"/>
              </a:defRPr>
            </a:lvl1pPr>
          </a:lstStyle>
          <a:p>
            <a:endParaRPr lang="en-US" dirty="0"/>
          </a:p>
        </p:txBody>
      </p:sp>
      <p:sp>
        <p:nvSpPr>
          <p:cNvPr id="15" name="Picture Placeholder 5"/>
          <p:cNvSpPr>
            <a:spLocks noGrp="1"/>
          </p:cNvSpPr>
          <p:nvPr>
            <p:ph type="pic" sz="quarter" idx="12"/>
          </p:nvPr>
        </p:nvSpPr>
        <p:spPr>
          <a:xfrm>
            <a:off x="3955763" y="1068635"/>
            <a:ext cx="1750964" cy="2608419"/>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lang="en-US" sz="1400" kern="1200" dirty="0">
                <a:solidFill>
                  <a:schemeClr val="bg1">
                    <a:lumMod val="85000"/>
                  </a:schemeClr>
                </a:solidFill>
                <a:latin typeface="Montserrat Light" panose="00000400000000000000" pitchFamily="50" charset="0"/>
                <a:ea typeface="+mn-ea"/>
                <a:cs typeface="+mn-cs"/>
              </a:defRPr>
            </a:lvl1pPr>
          </a:lstStyle>
          <a:p>
            <a:endParaRPr lang="en-US" dirty="0"/>
          </a:p>
        </p:txBody>
      </p:sp>
      <p:sp>
        <p:nvSpPr>
          <p:cNvPr id="16" name="Picture Placeholder 5"/>
          <p:cNvSpPr>
            <a:spLocks noGrp="1"/>
          </p:cNvSpPr>
          <p:nvPr>
            <p:ph type="pic" sz="quarter" idx="13"/>
          </p:nvPr>
        </p:nvSpPr>
        <p:spPr>
          <a:xfrm>
            <a:off x="1997566" y="3658714"/>
            <a:ext cx="1971320" cy="3199286"/>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lang="en-US" sz="1400" kern="1200" dirty="0">
                <a:solidFill>
                  <a:schemeClr val="bg1">
                    <a:lumMod val="85000"/>
                  </a:schemeClr>
                </a:solidFill>
                <a:latin typeface="Montserrat Light" panose="00000400000000000000" pitchFamily="50" charset="0"/>
                <a:ea typeface="+mn-ea"/>
                <a:cs typeface="+mn-cs"/>
              </a:defRPr>
            </a:lvl1pPr>
          </a:lstStyle>
          <a:p>
            <a:endParaRPr lang="en-US" dirty="0"/>
          </a:p>
        </p:txBody>
      </p:sp>
      <p:sp>
        <p:nvSpPr>
          <p:cNvPr id="17" name="Picture Placeholder 5"/>
          <p:cNvSpPr>
            <a:spLocks noGrp="1"/>
          </p:cNvSpPr>
          <p:nvPr>
            <p:ph type="pic" sz="quarter" idx="14"/>
          </p:nvPr>
        </p:nvSpPr>
        <p:spPr>
          <a:xfrm>
            <a:off x="5706726" y="4328806"/>
            <a:ext cx="1984444" cy="1961825"/>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lang="en-US" sz="1400" kern="1200" dirty="0">
                <a:solidFill>
                  <a:schemeClr val="bg1">
                    <a:lumMod val="85000"/>
                  </a:schemeClr>
                </a:solidFill>
                <a:latin typeface="Montserrat Light" panose="00000400000000000000" pitchFamily="50" charset="0"/>
                <a:ea typeface="+mn-ea"/>
                <a:cs typeface="+mn-cs"/>
              </a:defRPr>
            </a:lvl1pPr>
          </a:lstStyle>
          <a:p>
            <a:endParaRPr lang="en-US" dirty="0"/>
          </a:p>
        </p:txBody>
      </p:sp>
      <p:sp>
        <p:nvSpPr>
          <p:cNvPr id="18" name="Picture Placeholder 5"/>
          <p:cNvSpPr>
            <a:spLocks noGrp="1"/>
          </p:cNvSpPr>
          <p:nvPr>
            <p:ph type="pic" sz="quarter" idx="15"/>
          </p:nvPr>
        </p:nvSpPr>
        <p:spPr>
          <a:xfrm>
            <a:off x="9879933" y="4328806"/>
            <a:ext cx="2312067" cy="1335393"/>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lang="en-US" sz="1400" kern="1200" dirty="0">
                <a:solidFill>
                  <a:schemeClr val="bg1">
                    <a:lumMod val="85000"/>
                  </a:schemeClr>
                </a:solidFill>
                <a:latin typeface="Montserrat Light" panose="00000400000000000000" pitchFamily="50" charset="0"/>
                <a:ea typeface="+mn-ea"/>
                <a:cs typeface="+mn-cs"/>
              </a:defRPr>
            </a:lvl1pPr>
          </a:lstStyle>
          <a:p>
            <a:endParaRPr lang="en-US" dirty="0"/>
          </a:p>
        </p:txBody>
      </p:sp>
      <p:sp>
        <p:nvSpPr>
          <p:cNvPr id="19" name="Picture Placeholder 5"/>
          <p:cNvSpPr>
            <a:spLocks noGrp="1"/>
          </p:cNvSpPr>
          <p:nvPr>
            <p:ph type="pic" sz="quarter" idx="16"/>
          </p:nvPr>
        </p:nvSpPr>
        <p:spPr>
          <a:xfrm>
            <a:off x="7691172" y="0"/>
            <a:ext cx="2188762" cy="4321900"/>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lang="en-US" sz="1400" kern="1200" dirty="0">
                <a:solidFill>
                  <a:schemeClr val="bg1">
                    <a:lumMod val="85000"/>
                  </a:schemeClr>
                </a:solidFill>
                <a:latin typeface="Montserrat Light" panose="00000400000000000000" pitchFamily="50" charset="0"/>
                <a:ea typeface="+mn-ea"/>
                <a:cs typeface="+mn-cs"/>
              </a:defRPr>
            </a:lvl1pPr>
          </a:lstStyle>
          <a:p>
            <a:endParaRPr lang="en-US" dirty="0"/>
          </a:p>
        </p:txBody>
      </p:sp>
      <p:sp>
        <p:nvSpPr>
          <p:cNvPr id="8" name="TextBox 7"/>
          <p:cNvSpPr txBox="1"/>
          <p:nvPr userDrawn="1"/>
        </p:nvSpPr>
        <p:spPr>
          <a:xfrm rot="10800000" flipV="1">
            <a:off x="11483340" y="6225213"/>
            <a:ext cx="708660" cy="338554"/>
          </a:xfrm>
          <a:prstGeom prst="rect">
            <a:avLst/>
          </a:prstGeom>
          <a:solidFill>
            <a:schemeClr val="bg1">
              <a:alpha val="5000"/>
            </a:schemeClr>
          </a:solidFill>
        </p:spPr>
        <p:txBody>
          <a:bodyPr wrap="square" rtlCol="0">
            <a:spAutoFit/>
          </a:bodyPr>
          <a:lstStyle/>
          <a:p>
            <a:pPr marL="57150" indent="0" algn="l"/>
            <a:fld id="{260E2A6B-A809-4840-BF14-8648BC0BDF87}" type="slidenum">
              <a:rPr lang="id-ID" sz="1600" b="0" i="0" smtClean="0">
                <a:solidFill>
                  <a:schemeClr val="bg1"/>
                </a:solidFill>
                <a:latin typeface="Bebas Neue" panose="020B0606020202050201" pitchFamily="34" charset="0"/>
                <a:ea typeface="Roboto Condensed" panose="02000000000000000000" pitchFamily="2" charset="0"/>
                <a:cs typeface="Segoe UI" panose="020B0502040204020203" pitchFamily="34" charset="0"/>
              </a:rPr>
            </a:fld>
            <a:endParaRPr lang="id-ID" sz="6000" b="0" i="0" dirty="0">
              <a:solidFill>
                <a:schemeClr val="bg1"/>
              </a:solidFill>
              <a:latin typeface="Bebas Neue" panose="020B0606020202050201" pitchFamily="34" charset="0"/>
              <a:ea typeface="Roboto Condensed" panose="02000000000000000000" pitchFamily="2" charset="0"/>
              <a:cs typeface="Segoe UI" panose="020B0502040204020203"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2_Custom Layout">
    <p:spTree>
      <p:nvGrpSpPr>
        <p:cNvPr id="1" name=""/>
        <p:cNvGrpSpPr/>
        <p:nvPr/>
      </p:nvGrpSpPr>
      <p:grpSpPr>
        <a:xfrm>
          <a:off x="0" y="0"/>
          <a:ext cx="0" cy="0"/>
          <a:chOff x="0" y="0"/>
          <a:chExt cx="0" cy="0"/>
        </a:xfrm>
      </p:grpSpPr>
      <p:sp>
        <p:nvSpPr>
          <p:cNvPr id="2" name="TextBox 1"/>
          <p:cNvSpPr txBox="1"/>
          <p:nvPr userDrawn="1"/>
        </p:nvSpPr>
        <p:spPr>
          <a:xfrm rot="10800000" flipV="1">
            <a:off x="11483340" y="6225213"/>
            <a:ext cx="708660" cy="338554"/>
          </a:xfrm>
          <a:prstGeom prst="rect">
            <a:avLst/>
          </a:prstGeom>
          <a:solidFill>
            <a:schemeClr val="bg1">
              <a:alpha val="5000"/>
            </a:schemeClr>
          </a:solidFill>
        </p:spPr>
        <p:txBody>
          <a:bodyPr wrap="square" rtlCol="0">
            <a:spAutoFit/>
          </a:bodyPr>
          <a:lstStyle/>
          <a:p>
            <a:pPr marL="57150" indent="0" algn="l"/>
            <a:fld id="{260E2A6B-A809-4840-BF14-8648BC0BDF87}" type="slidenum">
              <a:rPr lang="id-ID" sz="1600" b="0" i="0" smtClean="0">
                <a:solidFill>
                  <a:schemeClr val="bg1"/>
                </a:solidFill>
                <a:latin typeface="Bebas Neue" panose="020B0606020202050201" pitchFamily="34" charset="0"/>
                <a:ea typeface="Roboto Condensed" panose="02000000000000000000" pitchFamily="2" charset="0"/>
                <a:cs typeface="Segoe UI" panose="020B0502040204020203" pitchFamily="34" charset="0"/>
              </a:rPr>
            </a:fld>
            <a:endParaRPr lang="id-ID" sz="6000" b="0" i="0" dirty="0">
              <a:solidFill>
                <a:schemeClr val="bg1"/>
              </a:solidFill>
              <a:latin typeface="Bebas Neue" panose="020B0606020202050201" pitchFamily="34" charset="0"/>
              <a:ea typeface="Roboto Condensed" panose="02000000000000000000" pitchFamily="2" charset="0"/>
              <a:cs typeface="Segoe UI" panose="020B0502040204020203"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9_Custom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753979" y="970492"/>
            <a:ext cx="10684043" cy="3933233"/>
          </a:xfrm>
          <a:custGeom>
            <a:avLst/>
            <a:gdLst>
              <a:gd name="connsiteX0" fmla="*/ 216005 w 10684042"/>
              <a:gd name="connsiteY0" fmla="*/ 0 h 3933233"/>
              <a:gd name="connsiteX1" fmla="*/ 10468037 w 10684042"/>
              <a:gd name="connsiteY1" fmla="*/ 0 h 3933233"/>
              <a:gd name="connsiteX2" fmla="*/ 10684042 w 10684042"/>
              <a:gd name="connsiteY2" fmla="*/ 216005 h 3933233"/>
              <a:gd name="connsiteX3" fmla="*/ 10684042 w 10684042"/>
              <a:gd name="connsiteY3" fmla="*/ 3933233 h 3933233"/>
              <a:gd name="connsiteX4" fmla="*/ 0 w 10684042"/>
              <a:gd name="connsiteY4" fmla="*/ 3933233 h 3933233"/>
              <a:gd name="connsiteX5" fmla="*/ 0 w 10684042"/>
              <a:gd name="connsiteY5" fmla="*/ 216005 h 3933233"/>
              <a:gd name="connsiteX6" fmla="*/ 216005 w 10684042"/>
              <a:gd name="connsiteY6" fmla="*/ 0 h 393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84042" h="3933233">
                <a:moveTo>
                  <a:pt x="216005" y="0"/>
                </a:moveTo>
                <a:lnTo>
                  <a:pt x="10468037" y="0"/>
                </a:lnTo>
                <a:cubicBezTo>
                  <a:pt x="10587333" y="0"/>
                  <a:pt x="10684042" y="96709"/>
                  <a:pt x="10684042" y="216005"/>
                </a:cubicBezTo>
                <a:lnTo>
                  <a:pt x="10684042" y="3933233"/>
                </a:lnTo>
                <a:lnTo>
                  <a:pt x="0" y="3933233"/>
                </a:lnTo>
                <a:lnTo>
                  <a:pt x="0" y="216005"/>
                </a:lnTo>
                <a:cubicBezTo>
                  <a:pt x="0" y="96709"/>
                  <a:pt x="96709" y="0"/>
                  <a:pt x="216005" y="0"/>
                </a:cubicBezTo>
                <a:close/>
              </a:path>
            </a:pathLst>
          </a:custGeom>
        </p:spPr>
        <p:txBody>
          <a:bodyPr wrap="square">
            <a:noAutofit/>
          </a:bodyPr>
          <a:lstStyle>
            <a:lvl1pPr>
              <a:defRPr sz="1800">
                <a:solidFill>
                  <a:schemeClr val="bg1">
                    <a:lumMod val="75000"/>
                  </a:schemeClr>
                </a:solidFill>
              </a:defRPr>
            </a:lvl1pPr>
          </a:lstStyle>
          <a:p>
            <a:endParaRPr lang="id-ID"/>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7" Type="http://schemas.openxmlformats.org/officeDocument/2006/relationships/theme" Target="../theme/theme2.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098A4A-D958-473C-B78E-DD0AD34E90D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6A7702-C6B6-4CC0-B52F-64F60003E6B7}" type="slidenum">
              <a:rPr lang="zh-CN" altLang="en-US" smtClean="0"/>
            </a:fld>
            <a:endParaRPr lang="zh-CN" altLang="en-US"/>
          </a:p>
        </p:txBody>
      </p:sp>
      <p:sp>
        <p:nvSpPr>
          <p:cNvPr id="7" name="灯片编号占位符 5"/>
          <p:cNvSpPr txBox="1"/>
          <p:nvPr userDrawn="1"/>
        </p:nvSpPr>
        <p:spPr>
          <a:xfrm>
            <a:off x="8610600" y="6369450"/>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a:solidFill>
                  <a:schemeClr val="tx1">
                    <a:alpha val="0"/>
                  </a:schemeClr>
                </a:solidFill>
              </a:rPr>
              <a:t>YOYOON</a:t>
            </a:r>
            <a:endParaRPr lang="zh-CN" altLang="en-US">
              <a:solidFill>
                <a:schemeClr val="tx1">
                  <a:alpha val="0"/>
                </a:scheme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3.xml"/><Relationship Id="rId3" Type="http://schemas.openxmlformats.org/officeDocument/2006/relationships/image" Target="../media/image1.GIF"/><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4.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image" Target="../media/image1.GI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GIF"/></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8.xml"/><Relationship Id="rId5" Type="http://schemas.openxmlformats.org/officeDocument/2006/relationships/image" Target="../media/image2.png"/><Relationship Id="rId4" Type="http://schemas.openxmlformats.org/officeDocument/2006/relationships/tags" Target="../tags/tag6.xml"/><Relationship Id="rId3" Type="http://schemas.openxmlformats.org/officeDocument/2006/relationships/image" Target="../media/image1.GIF"/><Relationship Id="rId2" Type="http://schemas.openxmlformats.org/officeDocument/2006/relationships/chart" Target="../charts/chart2.xml"/><Relationship Id="rId1"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6.xml"/><Relationship Id="rId1" Type="http://schemas.openxmlformats.org/officeDocument/2006/relationships/image" Target="../media/image1.GIF"/></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7.xml"/><Relationship Id="rId2" Type="http://schemas.openxmlformats.org/officeDocument/2006/relationships/tags" Target="../tags/tag7.xml"/><Relationship Id="rId1" Type="http://schemas.openxmlformats.org/officeDocument/2006/relationships/image" Target="../media/image1.GI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8.xml"/><Relationship Id="rId5" Type="http://schemas.openxmlformats.org/officeDocument/2006/relationships/image" Target="../media/image4.png"/><Relationship Id="rId4" Type="http://schemas.openxmlformats.org/officeDocument/2006/relationships/image" Target="../media/image1.GIF"/><Relationship Id="rId3" Type="http://schemas.openxmlformats.org/officeDocument/2006/relationships/image" Target="../media/image3.png"/><Relationship Id="rId2" Type="http://schemas.openxmlformats.org/officeDocument/2006/relationships/tags" Target="../tags/tag9.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7.xml"/><Relationship Id="rId3" Type="http://schemas.openxmlformats.org/officeDocument/2006/relationships/image" Target="../media/image5.png"/><Relationship Id="rId2" Type="http://schemas.openxmlformats.org/officeDocument/2006/relationships/image" Target="../media/image1.GIF"/><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7.xml"/><Relationship Id="rId3" Type="http://schemas.openxmlformats.org/officeDocument/2006/relationships/image" Target="../media/image6.png"/><Relationship Id="rId2" Type="http://schemas.openxmlformats.org/officeDocument/2006/relationships/image" Target="../media/image1.GIF"/><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7.xml"/><Relationship Id="rId2" Type="http://schemas.openxmlformats.org/officeDocument/2006/relationships/tags" Target="../tags/tag15.xml"/><Relationship Id="rId1" Type="http://schemas.openxmlformats.org/officeDocument/2006/relationships/image" Target="../media/image1.GIF"/></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7.xml"/><Relationship Id="rId4" Type="http://schemas.openxmlformats.org/officeDocument/2006/relationships/tags" Target="../tags/tag18.xml"/><Relationship Id="rId3" Type="http://schemas.openxmlformats.org/officeDocument/2006/relationships/image" Target="../media/image1.GIF"/><Relationship Id="rId2" Type="http://schemas.openxmlformats.org/officeDocument/2006/relationships/tags" Target="../tags/tag17.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image" Target="../media/image1.GIF"/><Relationship Id="rId3" Type="http://schemas.openxmlformats.org/officeDocument/2006/relationships/tags" Target="../tags/tag21.xml"/><Relationship Id="rId2" Type="http://schemas.openxmlformats.org/officeDocument/2006/relationships/tags" Target="../tags/tag20.xml"/><Relationship Id="rId18" Type="http://schemas.openxmlformats.org/officeDocument/2006/relationships/notesSlide" Target="../notesSlides/notesSlide17.xml"/><Relationship Id="rId17" Type="http://schemas.openxmlformats.org/officeDocument/2006/relationships/slideLayout" Target="../slideLayouts/slideLayout27.xml"/><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7.xml"/><Relationship Id="rId2" Type="http://schemas.openxmlformats.org/officeDocument/2006/relationships/image" Target="../media/image1.GIF"/><Relationship Id="rId1" Type="http://schemas.openxmlformats.org/officeDocument/2006/relationships/tags" Target="../tags/tag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24.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7.xml"/><Relationship Id="rId1" Type="http://schemas.openxmlformats.org/officeDocument/2006/relationships/image" Target="../media/image1.GI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6.xml"/><Relationship Id="rId1" Type="http://schemas.openxmlformats.org/officeDocument/2006/relationships/image" Target="../media/image1.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fb514cb1a5e54e89daecde6a77344a3"/>
          <p:cNvPicPr>
            <a:picLocks noChangeAspect="1"/>
          </p:cNvPicPr>
          <p:nvPr/>
        </p:nvPicPr>
        <p:blipFill>
          <a:blip r:embed="rId1"/>
          <a:stretch>
            <a:fillRect/>
          </a:stretch>
        </p:blipFill>
        <p:spPr>
          <a:xfrm>
            <a:off x="323850" y="6040755"/>
            <a:ext cx="2021840" cy="585470"/>
          </a:xfrm>
          <a:prstGeom prst="rect">
            <a:avLst/>
          </a:prstGeom>
        </p:spPr>
      </p:pic>
      <p:sp>
        <p:nvSpPr>
          <p:cNvPr id="5" name="文本框 4"/>
          <p:cNvSpPr txBox="1"/>
          <p:nvPr/>
        </p:nvSpPr>
        <p:spPr>
          <a:xfrm>
            <a:off x="829945" y="2680970"/>
            <a:ext cx="9501505" cy="3157220"/>
          </a:xfrm>
          <a:prstGeom prst="rect">
            <a:avLst/>
          </a:prstGeom>
          <a:noFill/>
        </p:spPr>
        <p:txBody>
          <a:bodyPr wrap="square" rtlCol="0">
            <a:noAutofit/>
          </a:bodyPr>
          <a:p>
            <a:pPr indent="0" algn="l">
              <a:lnSpc>
                <a:spcPct val="150000"/>
              </a:lnSpc>
              <a:buFont typeface="Arial" panose="020B0604020202090204" pitchFamily="34" charset="0"/>
              <a:buNone/>
            </a:pPr>
            <a:r>
              <a:rPr lang="en-US" altLang="zh-CN">
                <a:solidFill>
                  <a:srgbClr val="AB192A"/>
                </a:solidFill>
                <a:latin typeface="Times New Roman Regular" panose="02020503050405090304" charset="0"/>
                <a:cs typeface="Times New Roman Regular" panose="02020503050405090304" charset="0"/>
              </a:rPr>
              <a:t>— A Case Study of lncRNA MIR100HG across Five Cancer Types</a:t>
            </a:r>
            <a:endParaRPr lang="en-US" altLang="zh-CN">
              <a:solidFill>
                <a:srgbClr val="AB192A"/>
              </a:solidFill>
              <a:latin typeface="Times New Roman Regular" panose="02020503050405090304" charset="0"/>
              <a:cs typeface="Times New Roman Regular" panose="02020503050405090304" charset="0"/>
            </a:endParaRPr>
          </a:p>
          <a:p>
            <a:pPr indent="0" algn="l">
              <a:lnSpc>
                <a:spcPct val="150000"/>
              </a:lnSpc>
              <a:buFont typeface="Arial" panose="020B0604020202090204" pitchFamily="34" charset="0"/>
              <a:buNone/>
            </a:pPr>
            <a:endParaRPr lang="en-US" altLang="zh-CN" sz="900">
              <a:solidFill>
                <a:srgbClr val="AB192A"/>
              </a:solidFill>
              <a:latin typeface="Times New Roman Regular" panose="02020503050405090304" charset="0"/>
              <a:cs typeface="Times New Roman Regular" panose="02020503050405090304" charset="0"/>
            </a:endParaRPr>
          </a:p>
          <a:p>
            <a:pPr marL="342900" indent="-342900" algn="l">
              <a:lnSpc>
                <a:spcPct val="150000"/>
              </a:lnSpc>
              <a:buFont typeface="Arial" panose="020B0604020202090204" pitchFamily="34" charset="0"/>
              <a:buChar char="•"/>
            </a:pPr>
            <a:r>
              <a:rPr lang="en-US" altLang="zh-CN">
                <a:solidFill>
                  <a:srgbClr val="AB192A"/>
                </a:solidFill>
                <a:latin typeface="Times New Roman Regular" panose="02020503050405090304" charset="0"/>
                <a:cs typeface="Times New Roman Regular" panose="02020503050405090304" charset="0"/>
              </a:rPr>
              <a:t>Group Number: M-28</a:t>
            </a:r>
            <a:endParaRPr lang="en-US" altLang="zh-CN">
              <a:solidFill>
                <a:srgbClr val="AB192A"/>
              </a:solidFill>
              <a:latin typeface="Times New Roman Regular" panose="02020503050405090304" charset="0"/>
              <a:cs typeface="Times New Roman Regular" panose="02020503050405090304" charset="0"/>
            </a:endParaRPr>
          </a:p>
          <a:p>
            <a:pPr marL="342900" indent="-342900" algn="l">
              <a:lnSpc>
                <a:spcPct val="150000"/>
              </a:lnSpc>
              <a:buFont typeface="Arial" panose="020B0604020202090204" pitchFamily="34" charset="0"/>
              <a:buChar char="•"/>
            </a:pPr>
            <a:r>
              <a:rPr lang="en-US" altLang="zh-CN">
                <a:solidFill>
                  <a:srgbClr val="AB192A"/>
                </a:solidFill>
                <a:latin typeface="Times New Roman Regular" panose="02020503050405090304" charset="0"/>
                <a:cs typeface="Times New Roman Regular" panose="02020503050405090304" charset="0"/>
                <a:sym typeface="+mn-ea"/>
              </a:rPr>
              <a:t>Date </a:t>
            </a:r>
            <a:r>
              <a:rPr lang="zh-CN" altLang="en-US">
                <a:solidFill>
                  <a:srgbClr val="AB192A"/>
                </a:solidFill>
                <a:latin typeface="Times New Roman Regular" panose="02020503050405090304" charset="0"/>
                <a:cs typeface="Times New Roman Regular" panose="02020503050405090304" charset="0"/>
                <a:sym typeface="+mn-ea"/>
              </a:rPr>
              <a:t>1</a:t>
            </a:r>
            <a:r>
              <a:rPr lang="en-US" altLang="zh-CN">
                <a:solidFill>
                  <a:srgbClr val="AB192A"/>
                </a:solidFill>
                <a:latin typeface="Times New Roman Regular" panose="02020503050405090304" charset="0"/>
                <a:cs typeface="Times New Roman Regular" panose="02020503050405090304" charset="0"/>
                <a:sym typeface="+mn-ea"/>
              </a:rPr>
              <a:t>8</a:t>
            </a:r>
            <a:r>
              <a:rPr lang="zh-CN" altLang="en-US">
                <a:solidFill>
                  <a:srgbClr val="AB192A"/>
                </a:solidFill>
                <a:latin typeface="Times New Roman Regular" panose="02020503050405090304" charset="0"/>
                <a:cs typeface="Times New Roman Regular" panose="02020503050405090304" charset="0"/>
                <a:sym typeface="+mn-ea"/>
              </a:rPr>
              <a:t>/</a:t>
            </a:r>
            <a:r>
              <a:rPr lang="en-US" altLang="zh-CN">
                <a:solidFill>
                  <a:srgbClr val="AB192A"/>
                </a:solidFill>
                <a:latin typeface="Times New Roman Regular" panose="02020503050405090304" charset="0"/>
                <a:cs typeface="Times New Roman Regular" panose="02020503050405090304" charset="0"/>
                <a:sym typeface="+mn-ea"/>
              </a:rPr>
              <a:t>05</a:t>
            </a:r>
            <a:r>
              <a:rPr lang="zh-CN" altLang="en-US">
                <a:solidFill>
                  <a:srgbClr val="AB192A"/>
                </a:solidFill>
                <a:latin typeface="Times New Roman Regular" panose="02020503050405090304" charset="0"/>
                <a:cs typeface="Times New Roman Regular" panose="02020503050405090304" charset="0"/>
                <a:sym typeface="+mn-ea"/>
              </a:rPr>
              <a:t>/202</a:t>
            </a:r>
            <a:r>
              <a:rPr lang="en-US" altLang="zh-CN">
                <a:solidFill>
                  <a:srgbClr val="AB192A"/>
                </a:solidFill>
                <a:latin typeface="Times New Roman Regular" panose="02020503050405090304" charset="0"/>
                <a:cs typeface="Times New Roman Regular" panose="02020503050405090304" charset="0"/>
                <a:sym typeface="+mn-ea"/>
              </a:rPr>
              <a:t>5</a:t>
            </a:r>
            <a:endParaRPr lang="en-US" altLang="zh-CN">
              <a:solidFill>
                <a:srgbClr val="AB192A"/>
              </a:solidFill>
              <a:latin typeface="Times New Roman Regular" panose="02020503050405090304" charset="0"/>
              <a:cs typeface="Times New Roman Regular" panose="02020503050405090304" charset="0"/>
            </a:endParaRPr>
          </a:p>
          <a:p>
            <a:pPr marL="342900" indent="-342900" algn="l">
              <a:lnSpc>
                <a:spcPct val="150000"/>
              </a:lnSpc>
              <a:buFont typeface="Arial" panose="020B0604020202090204" pitchFamily="34" charset="0"/>
              <a:buChar char="•"/>
            </a:pPr>
            <a:r>
              <a:rPr lang="en-US" altLang="zh-CN">
                <a:solidFill>
                  <a:srgbClr val="AB192A"/>
                </a:solidFill>
                <a:latin typeface="Times New Roman Regular" panose="02020503050405090304" charset="0"/>
                <a:cs typeface="Times New Roman Regular" panose="02020503050405090304" charset="0"/>
              </a:rPr>
              <a:t>Group Members:</a:t>
            </a:r>
            <a:r>
              <a:rPr lang="en-US" altLang="zh-CN">
                <a:solidFill>
                  <a:srgbClr val="AB192A"/>
                </a:solidFill>
                <a:latin typeface="Times New Roman Regular" panose="02020503050405090304" charset="0"/>
                <a:cs typeface="Times New Roman Regular" panose="02020503050405090304" charset="0"/>
                <a:sym typeface="+mn-ea"/>
              </a:rPr>
              <a:t>Kiran Udayakumar, Shuojingrui He, Yibai Tang, Mansi Srivastava, Weilin He</a:t>
            </a:r>
            <a:endParaRPr lang="zh-CN" altLang="en-US">
              <a:solidFill>
                <a:srgbClr val="AB192A"/>
              </a:solidFill>
              <a:latin typeface="Times New Roman Regular" panose="02020503050405090304" charset="0"/>
              <a:cs typeface="Times New Roman Regular" panose="02020503050405090304" charset="0"/>
            </a:endParaRPr>
          </a:p>
          <a:p>
            <a:pPr indent="0" algn="l">
              <a:lnSpc>
                <a:spcPct val="150000"/>
              </a:lnSpc>
              <a:buFont typeface="Arial" panose="020B0604020202090204" pitchFamily="34" charset="0"/>
              <a:buNone/>
            </a:pPr>
            <a:endParaRPr lang="en-US" altLang="zh-CN">
              <a:solidFill>
                <a:srgbClr val="AB192A"/>
              </a:solidFill>
              <a:latin typeface="Times New Roman Regular" panose="02020503050405090304" charset="0"/>
              <a:cs typeface="Times New Roman Regular" panose="02020503050405090304" charset="0"/>
            </a:endParaRPr>
          </a:p>
        </p:txBody>
      </p:sp>
      <p:sp>
        <p:nvSpPr>
          <p:cNvPr id="6" name="直角三角形 5"/>
          <p:cNvSpPr/>
          <p:nvPr/>
        </p:nvSpPr>
        <p:spPr>
          <a:xfrm flipH="1">
            <a:off x="9177655" y="0"/>
            <a:ext cx="3014980" cy="6858000"/>
          </a:xfrm>
          <a:prstGeom prst="rtTriangle">
            <a:avLst/>
          </a:prstGeom>
          <a:solidFill>
            <a:srgbClr val="AF1E2F"/>
          </a:solidFill>
          <a:ln>
            <a:solidFill>
              <a:srgbClr val="AF1E2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829945" y="880745"/>
            <a:ext cx="10579735" cy="1476375"/>
          </a:xfrm>
          <a:prstGeom prst="rect">
            <a:avLst/>
          </a:prstGeom>
          <a:noFill/>
        </p:spPr>
        <p:txBody>
          <a:bodyPr wrap="square" rtlCol="0">
            <a:spAutoFit/>
          </a:bodyPr>
          <a:p>
            <a:pPr>
              <a:lnSpc>
                <a:spcPct val="150000"/>
              </a:lnSpc>
            </a:pPr>
            <a:r>
              <a:rPr lang="en-US" altLang="zh-CN" sz="3600" b="1">
                <a:solidFill>
                  <a:srgbClr val="AB192A"/>
                </a:solidFill>
                <a:latin typeface="Times New Roman Bold" panose="02020503050405090304" charset="0"/>
                <a:cs typeface="Times New Roman Bold" panose="02020503050405090304" charset="0"/>
              </a:rPr>
              <a:t>Prediction of Non-Coding RNA Functions </a:t>
            </a:r>
            <a:endParaRPr lang="en-US" altLang="zh-CN" sz="3600" b="1">
              <a:solidFill>
                <a:srgbClr val="AB192A"/>
              </a:solidFill>
              <a:latin typeface="Times New Roman Bold" panose="02020503050405090304" charset="0"/>
              <a:cs typeface="Times New Roman Bold" panose="02020503050405090304" charset="0"/>
            </a:endParaRPr>
          </a:p>
          <a:p>
            <a:pPr>
              <a:lnSpc>
                <a:spcPct val="150000"/>
              </a:lnSpc>
            </a:pPr>
            <a:r>
              <a:rPr lang="en-US" altLang="zh-CN" sz="2400" b="1">
                <a:solidFill>
                  <a:srgbClr val="AB192A"/>
                </a:solidFill>
                <a:latin typeface="Times New Roman Bold" panose="02020503050405090304" charset="0"/>
                <a:cs typeface="Times New Roman Bold" panose="02020503050405090304" charset="0"/>
              </a:rPr>
              <a:t>in Cancer through Multi-Omics Data Integration</a:t>
            </a:r>
            <a:endParaRPr lang="en-US" altLang="zh-CN" sz="2400" b="1">
              <a:solidFill>
                <a:srgbClr val="AB192A"/>
              </a:solidFill>
              <a:latin typeface="Times New Roman Bold" panose="02020503050405090304" charset="0"/>
              <a:cs typeface="Times New Roman Bold" panose="02020503050405090304" charset="0"/>
            </a:endParaRPr>
          </a:p>
        </p:txBody>
      </p:sp>
      <p:sp>
        <p:nvSpPr>
          <p:cNvPr id="61" name="矩形: 对角圆角 60"/>
          <p:cNvSpPr/>
          <p:nvPr userDrawn="1"/>
        </p:nvSpPr>
        <p:spPr>
          <a:xfrm>
            <a:off x="301058" y="259550"/>
            <a:ext cx="1801505" cy="359073"/>
          </a:xfrm>
          <a:prstGeom prst="round2DiagRect">
            <a:avLst>
              <a:gd name="adj1" fmla="val 33096"/>
              <a:gd name="adj2" fmla="val 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b="1">
                <a:latin typeface="Times New Roman Bold" panose="02020503050405090304" charset="0"/>
                <a:cs typeface="Times New Roman Bold" panose="02020503050405090304" charset="0"/>
              </a:rPr>
              <a:t>Group M-28</a:t>
            </a:r>
            <a:endParaRPr lang="en-US" altLang="zh-CN" b="1">
              <a:latin typeface="Times New Roman Bold" panose="02020503050405090304" charset="0"/>
              <a:cs typeface="Times New Roman Bold" panose="02020503050405090304" charset="0"/>
            </a:endParaRPr>
          </a:p>
        </p:txBody>
      </p:sp>
    </p:spTree>
  </p:cSld>
  <p:clrMapOvr>
    <a:masterClrMapping/>
  </p:clrMapOvr>
  <mc:AlternateContent xmlns:mc="http://schemas.openxmlformats.org/markup-compatibility/2006">
    <mc:Choice xmlns:p14="http://schemas.microsoft.com/office/powerpoint/2010/main" Requires="p14">
      <p:transition spd="slow" p14:dur="1500" advClick="0"/>
    </mc:Choice>
    <mc:Fallback>
      <p:transition spd="slow" advClick="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1395413"/>
            <a:ext cx="12192000" cy="4392612"/>
            <a:chOff x="0" y="1395413"/>
            <a:chExt cx="12192000" cy="4392612"/>
          </a:xfrm>
          <a:solidFill>
            <a:srgbClr val="AF1E2F"/>
          </a:solidFill>
        </p:grpSpPr>
        <p:sp>
          <p:nvSpPr>
            <p:cNvPr id="8" name="Freeform 5"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3308645" y="1395413"/>
              <a:ext cx="8883355" cy="1881187"/>
            </a:xfrm>
            <a:custGeom>
              <a:avLst/>
              <a:gdLst>
                <a:gd name="T0" fmla="*/ 11567 w 11567"/>
                <a:gd name="T1" fmla="*/ 2441 h 2441"/>
                <a:gd name="T2" fmla="*/ 0 w 11567"/>
                <a:gd name="T3" fmla="*/ 2441 h 2441"/>
                <a:gd name="T4" fmla="*/ 1542 w 11567"/>
                <a:gd name="T5" fmla="*/ 0 h 2441"/>
                <a:gd name="T6" fmla="*/ 11567 w 11567"/>
                <a:gd name="T7" fmla="*/ 0 h 2441"/>
                <a:gd name="T8" fmla="*/ 11567 w 11567"/>
                <a:gd name="T9" fmla="*/ 2441 h 2441"/>
              </a:gdLst>
              <a:ahLst/>
              <a:cxnLst>
                <a:cxn ang="0">
                  <a:pos x="T0" y="T1"/>
                </a:cxn>
                <a:cxn ang="0">
                  <a:pos x="T2" y="T3"/>
                </a:cxn>
                <a:cxn ang="0">
                  <a:pos x="T4" y="T5"/>
                </a:cxn>
                <a:cxn ang="0">
                  <a:pos x="T6" y="T7"/>
                </a:cxn>
                <a:cxn ang="0">
                  <a:pos x="T8" y="T9"/>
                </a:cxn>
              </a:cxnLst>
              <a:rect l="0" t="0" r="r" b="b"/>
              <a:pathLst>
                <a:path w="11567" h="2441">
                  <a:moveTo>
                    <a:pt x="11567" y="2441"/>
                  </a:moveTo>
                  <a:lnTo>
                    <a:pt x="0" y="2441"/>
                  </a:lnTo>
                  <a:lnTo>
                    <a:pt x="1542" y="0"/>
                  </a:lnTo>
                  <a:lnTo>
                    <a:pt x="11567" y="0"/>
                  </a:lnTo>
                  <a:lnTo>
                    <a:pt x="11567" y="2441"/>
                  </a:lnTo>
                  <a:close/>
                </a:path>
              </a:pathLst>
            </a:custGeom>
            <a:solidFill>
              <a:srgbClr val="831723"/>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0" name="Freeform 6"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0" y="4075113"/>
              <a:ext cx="5693725" cy="1712912"/>
            </a:xfrm>
            <a:custGeom>
              <a:avLst/>
              <a:gdLst>
                <a:gd name="T0" fmla="*/ 0 w 7413"/>
                <a:gd name="T1" fmla="*/ 0 h 2222"/>
                <a:gd name="T2" fmla="*/ 7413 w 7413"/>
                <a:gd name="T3" fmla="*/ 0 h 2222"/>
                <a:gd name="T4" fmla="*/ 6010 w 7413"/>
                <a:gd name="T5" fmla="*/ 2222 h 2222"/>
                <a:gd name="T6" fmla="*/ 0 w 7413"/>
                <a:gd name="T7" fmla="*/ 2222 h 2222"/>
                <a:gd name="T8" fmla="*/ 0 w 7413"/>
                <a:gd name="T9" fmla="*/ 0 h 2222"/>
              </a:gdLst>
              <a:ahLst/>
              <a:cxnLst>
                <a:cxn ang="0">
                  <a:pos x="T0" y="T1"/>
                </a:cxn>
                <a:cxn ang="0">
                  <a:pos x="T2" y="T3"/>
                </a:cxn>
                <a:cxn ang="0">
                  <a:pos x="T4" y="T5"/>
                </a:cxn>
                <a:cxn ang="0">
                  <a:pos x="T6" y="T7"/>
                </a:cxn>
                <a:cxn ang="0">
                  <a:pos x="T8" y="T9"/>
                </a:cxn>
              </a:cxnLst>
              <a:rect l="0" t="0" r="r" b="b"/>
              <a:pathLst>
                <a:path w="7413" h="2222">
                  <a:moveTo>
                    <a:pt x="0" y="0"/>
                  </a:moveTo>
                  <a:lnTo>
                    <a:pt x="7413" y="0"/>
                  </a:lnTo>
                  <a:lnTo>
                    <a:pt x="6010" y="2222"/>
                  </a:lnTo>
                  <a:lnTo>
                    <a:pt x="0" y="2222"/>
                  </a:lnTo>
                  <a:lnTo>
                    <a:pt x="0" y="0"/>
                  </a:lnTo>
                  <a:close/>
                </a:path>
              </a:pathLst>
            </a:custGeom>
            <a:solidFill>
              <a:srgbClr val="831723"/>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1" name="Freeform 7"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0" y="2052639"/>
              <a:ext cx="10728896" cy="2981325"/>
            </a:xfrm>
            <a:custGeom>
              <a:avLst/>
              <a:gdLst>
                <a:gd name="T0" fmla="*/ 0 w 13970"/>
                <a:gd name="T1" fmla="*/ 0 h 3869"/>
                <a:gd name="T2" fmla="*/ 13970 w 13970"/>
                <a:gd name="T3" fmla="*/ 0 h 3869"/>
                <a:gd name="T4" fmla="*/ 11527 w 13970"/>
                <a:gd name="T5" fmla="*/ 3869 h 3869"/>
                <a:gd name="T6" fmla="*/ 0 w 13970"/>
                <a:gd name="T7" fmla="*/ 3869 h 3869"/>
                <a:gd name="T8" fmla="*/ 0 w 13970"/>
                <a:gd name="T9" fmla="*/ 0 h 3869"/>
              </a:gdLst>
              <a:ahLst/>
              <a:cxnLst>
                <a:cxn ang="0">
                  <a:pos x="T0" y="T1"/>
                </a:cxn>
                <a:cxn ang="0">
                  <a:pos x="T2" y="T3"/>
                </a:cxn>
                <a:cxn ang="0">
                  <a:pos x="T4" y="T5"/>
                </a:cxn>
                <a:cxn ang="0">
                  <a:pos x="T6" y="T7"/>
                </a:cxn>
                <a:cxn ang="0">
                  <a:pos x="T8" y="T9"/>
                </a:cxn>
              </a:cxnLst>
              <a:rect l="0" t="0" r="r" b="b"/>
              <a:pathLst>
                <a:path w="13970" h="3869">
                  <a:moveTo>
                    <a:pt x="0" y="0"/>
                  </a:moveTo>
                  <a:lnTo>
                    <a:pt x="13970" y="0"/>
                  </a:lnTo>
                  <a:lnTo>
                    <a:pt x="11527" y="3869"/>
                  </a:lnTo>
                  <a:lnTo>
                    <a:pt x="0" y="3869"/>
                  </a:lnTo>
                  <a:lnTo>
                    <a:pt x="0" y="0"/>
                  </a:lnTo>
                  <a:close/>
                </a:path>
              </a:pathLst>
            </a:custGeom>
            <a:grp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grpSp>
      <p:sp>
        <p:nvSpPr>
          <p:cNvPr id="2" name="e7d195523061f1c0" descr="e7d195523061f1c060910eeaeeff1464599dc3392e14be42F6605DBF3376AA578EAD49A2F34CDE9F8BA873D9FC4305B94F8C98BE913D0BB55B77B4982D855D57316D9666CF50C0C1F882EEA92AB650391898752DC0F28C027E30AABBE39009D367F52CF2EB08CFD5B7F9FB4301E8C18380EF535FE4A4CCCE7A68EA8B854FFF693052B82C6FF16E3D" hidden="1"/>
          <p:cNvSpPr txBox="1"/>
          <p:nvPr/>
        </p:nvSpPr>
        <p:spPr>
          <a:xfrm>
            <a:off x="-355600" y="1803400"/>
            <a:ext cx="262251"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等线"/>
                <a:ea typeface="等线" panose="02010600030101010101" charset="-122"/>
                <a:cs typeface="+mn-cs"/>
              </a:rPr>
              <a:t>e7d195523061f1c060910eeaeeff1464599dc3392e14be42F6605DBF3376AA578EAD49A2F34CDE9F8BA873D9FC4305B94F8C98BE913D0BB55B77B4982D855D57316D9666CF50C0C1F882EEA92AB650391898752DC0F28C027E30AABBE39009D367F52CF2EB08CFD5B7F9FB4301E8C18380EF535FE4A4CCCE7A68EA8B854FFF693052B82C6FF16E3D</a:t>
            </a:r>
            <a:endParaRPr kumimoji="0" lang="zh-CN" altLang="en-US" sz="1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3" name="文本框 12"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txBox="1"/>
          <p:nvPr/>
        </p:nvSpPr>
        <p:spPr>
          <a:xfrm>
            <a:off x="1091479" y="1908176"/>
            <a:ext cx="1508125" cy="31534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900" b="0" i="0" u="none" strike="noStrike" kern="1200" cap="none" spc="0" normalizeH="0" baseline="0" noProof="0" dirty="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rPr>
              <a:t>1</a:t>
            </a:r>
            <a:endParaRPr kumimoji="0" lang="en-US" altLang="zh-CN" sz="19900" b="0" i="0" u="none" strike="noStrike" kern="1200" cap="none" spc="0" normalizeH="0" baseline="0" noProof="0" dirty="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4" name="文本框 13"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txBox="1"/>
          <p:nvPr/>
        </p:nvSpPr>
        <p:spPr>
          <a:xfrm>
            <a:off x="2846705" y="3598545"/>
            <a:ext cx="5693410" cy="2971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35"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rPr>
              <a:t> A Case Study of lncRNA MIR100HG across Five Cancer Types</a:t>
            </a:r>
            <a:endParaRPr kumimoji="0" lang="en-US" altLang="zh-CN" sz="1335"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5" name="文本框 14"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txBox="1"/>
          <p:nvPr/>
        </p:nvSpPr>
        <p:spPr>
          <a:xfrm>
            <a:off x="2846705" y="2668270"/>
            <a:ext cx="7514590" cy="768350"/>
          </a:xfrm>
          <a:prstGeom prst="rect">
            <a:avLst/>
          </a:prstGeom>
          <a:noFill/>
        </p:spPr>
        <p:txBody>
          <a:bodyPr wrap="square" rtlCol="0">
            <a:spAutoFit/>
          </a:bodyPr>
          <a:lstStyle/>
          <a:p>
            <a:pPr lvl="0"/>
            <a:r>
              <a:rPr lang="en-US" altLang="zh-CN" sz="4400" dirty="0">
                <a:solidFill>
                  <a:prstClr val="white"/>
                </a:solidFill>
                <a:latin typeface="Trebuchet MS Regular" panose="020B0703020202090204" charset="0"/>
                <a:ea typeface="华康俪金黑W8" panose="020B0809000000000000" pitchFamily="49" charset="-122"/>
              </a:rPr>
              <a:t>Project Introduction</a:t>
            </a:r>
            <a:endParaRPr lang="en-US" altLang="zh-CN" sz="4400" dirty="0">
              <a:solidFill>
                <a:prstClr val="white"/>
              </a:solidFill>
              <a:latin typeface="Trebuchet MS Regular" panose="020B0703020202090204" charset="0"/>
              <a:ea typeface="华康俪金黑W8" panose="020B0809000000000000" pitchFamily="49" charset="-122"/>
            </a:endParaRPr>
          </a:p>
        </p:txBody>
      </p:sp>
      <p:sp>
        <p:nvSpPr>
          <p:cNvPr id="16" name="矩形 15"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p:nvPr/>
        </p:nvSpPr>
        <p:spPr>
          <a:xfrm>
            <a:off x="2956407" y="3466746"/>
            <a:ext cx="566069" cy="60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7" name="Freeform 8"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11227177" y="1908176"/>
            <a:ext cx="556995" cy="900113"/>
          </a:xfrm>
          <a:custGeom>
            <a:avLst/>
            <a:gdLst>
              <a:gd name="T0" fmla="*/ 584 w 725"/>
              <a:gd name="T1" fmla="*/ 443 h 1169"/>
              <a:gd name="T2" fmla="*/ 725 w 725"/>
              <a:gd name="T3" fmla="*/ 585 h 1169"/>
              <a:gd name="T4" fmla="*/ 584 w 725"/>
              <a:gd name="T5" fmla="*/ 726 h 1169"/>
              <a:gd name="T6" fmla="*/ 141 w 725"/>
              <a:gd name="T7" fmla="*/ 1169 h 1169"/>
              <a:gd name="T8" fmla="*/ 0 w 725"/>
              <a:gd name="T9" fmla="*/ 1028 h 1169"/>
              <a:gd name="T10" fmla="*/ 443 w 725"/>
              <a:gd name="T11" fmla="*/ 585 h 1169"/>
              <a:gd name="T12" fmla="*/ 0 w 725"/>
              <a:gd name="T13" fmla="*/ 141 h 1169"/>
              <a:gd name="T14" fmla="*/ 141 w 725"/>
              <a:gd name="T15" fmla="*/ 0 h 1169"/>
              <a:gd name="T16" fmla="*/ 584 w 725"/>
              <a:gd name="T17" fmla="*/ 44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3000"/>
    </mc:Choice>
    <mc:Fallback>
      <p:transition spd="slow" advClick="0" advTm="3000"/>
    </mc:Fallback>
  </mc:AlternateContent>
  <p:timing>
    <p:tnLst>
      <p:par>
        <p:cTn id="1" dur="indefinite" restart="never" nodeType="tmRoot"/>
      </p:par>
    </p:tnLst>
    <p:bldLst>
      <p:bldP spid="13" grpId="0"/>
      <p:bldP spid="14" grpId="0"/>
      <p:bldP spid="15" grpId="0"/>
      <p:bldP spid="16" grpId="0" bldLvl="0" animBg="1"/>
      <p:bldP spid="17"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596265" y="3748405"/>
            <a:ext cx="2750185" cy="2682875"/>
            <a:chOff x="595972" y="3429001"/>
            <a:chExt cx="2750014" cy="2751309"/>
          </a:xfrm>
        </p:grpSpPr>
        <p:sp>
          <p:nvSpPr>
            <p:cNvPr id="11" name="Rectangle 10"/>
            <p:cNvSpPr/>
            <p:nvPr/>
          </p:nvSpPr>
          <p:spPr>
            <a:xfrm>
              <a:off x="595972" y="3429001"/>
              <a:ext cx="2750014" cy="2751309"/>
            </a:xfrm>
            <a:prstGeom prst="rect">
              <a:avLst/>
            </a:prstGeom>
            <a:solidFill>
              <a:srgbClr val="910100"/>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alpha val="12000"/>
                  </a:schemeClr>
                </a:solidFill>
                <a:latin typeface="Times New Roman Regular" panose="02020503050405090304" charset="0"/>
                <a:cs typeface="Times New Roman Regular" panose="02020503050405090304" charset="0"/>
              </a:endParaRPr>
            </a:p>
          </p:txBody>
        </p:sp>
        <p:grpSp>
          <p:nvGrpSpPr>
            <p:cNvPr id="20" name="Group 19"/>
            <p:cNvGrpSpPr/>
            <p:nvPr/>
          </p:nvGrpSpPr>
          <p:grpSpPr>
            <a:xfrm>
              <a:off x="750012" y="3703404"/>
              <a:ext cx="2497935" cy="2416127"/>
              <a:chOff x="733065" y="3664953"/>
              <a:chExt cx="2497935" cy="2416127"/>
            </a:xfrm>
          </p:grpSpPr>
          <p:sp>
            <p:nvSpPr>
              <p:cNvPr id="17" name="Rectangle 16"/>
              <p:cNvSpPr/>
              <p:nvPr/>
            </p:nvSpPr>
            <p:spPr>
              <a:xfrm>
                <a:off x="733065" y="3664953"/>
                <a:ext cx="2497935" cy="945539"/>
              </a:xfrm>
              <a:prstGeom prst="rect">
                <a:avLst/>
              </a:prstGeom>
            </p:spPr>
            <p:txBody>
              <a:bodyPr wrap="square">
                <a:spAutoFit/>
              </a:bodyPr>
              <a:lstStyle/>
              <a:p>
                <a:r>
                  <a:rPr lang="en-US" altLang="zh-CN" spc="100" dirty="0">
                    <a:solidFill>
                      <a:schemeClr val="bg1"/>
                    </a:solidFill>
                    <a:latin typeface="Arial Black" panose="020B0A04020102020204" charset="0"/>
                    <a:ea typeface="OPPOSans H" panose="00020600040101010101" charset="-122"/>
                    <a:cs typeface="Arial Black" panose="020B0A04020102020204" charset="0"/>
                  </a:rPr>
                  <a:t>Gene expression (RNA-seq)</a:t>
                </a:r>
                <a:endParaRPr lang="en-US" altLang="zh-CN" spc="100" dirty="0">
                  <a:solidFill>
                    <a:schemeClr val="bg1"/>
                  </a:solidFill>
                  <a:latin typeface="Arial Black" panose="020B0A04020102020204" charset="0"/>
                  <a:ea typeface="OPPOSans H" panose="00020600040101010101" charset="-122"/>
                  <a:cs typeface="Arial Black" panose="020B0A04020102020204" charset="0"/>
                </a:endParaRPr>
              </a:p>
              <a:p>
                <a:r>
                  <a:rPr lang="en-US" b="1" spc="100" dirty="0">
                    <a:solidFill>
                      <a:schemeClr val="bg1"/>
                    </a:solidFill>
                    <a:latin typeface="Arial Black" panose="020B0A04020102020204" charset="0"/>
                    <a:ea typeface="OPPOSans H" panose="00020600040101010101" charset="-122"/>
                    <a:cs typeface="Arial Black" panose="020B0A04020102020204" charset="0"/>
                  </a:rPr>
                  <a:t>/ 1</a:t>
                </a:r>
                <a:endParaRPr lang="en-US" b="1" spc="100" dirty="0">
                  <a:solidFill>
                    <a:schemeClr val="bg1"/>
                  </a:solidFill>
                  <a:latin typeface="Arial Black" panose="020B0A04020102020204" charset="0"/>
                  <a:ea typeface="OPPOSans H" panose="00020600040101010101" charset="-122"/>
                  <a:cs typeface="Arial Black" panose="020B0A04020102020204" charset="0"/>
                </a:endParaRPr>
              </a:p>
            </p:txBody>
          </p:sp>
          <p:sp>
            <p:nvSpPr>
              <p:cNvPr id="18" name="Rectangle 17"/>
              <p:cNvSpPr/>
              <p:nvPr/>
            </p:nvSpPr>
            <p:spPr>
              <a:xfrm>
                <a:off x="733065" y="4747094"/>
                <a:ext cx="2360783" cy="313735"/>
              </a:xfrm>
              <a:prstGeom prst="rect">
                <a:avLst/>
              </a:prstGeom>
            </p:spPr>
            <p:txBody>
              <a:bodyPr wrap="square">
                <a:noAutofit/>
              </a:bodyPr>
              <a:lstStyle/>
              <a:p>
                <a:pPr>
                  <a:lnSpc>
                    <a:spcPct val="90000"/>
                  </a:lnSpc>
                </a:pPr>
                <a:r>
                  <a:rPr lang="en-US" altLang="zh-CN" sz="1200" dirty="0">
                    <a:solidFill>
                      <a:schemeClr val="bg1"/>
                    </a:solidFill>
                    <a:latin typeface="Times New Roman Regular" panose="02020503050405090304" charset="0"/>
                    <a:cs typeface="Times New Roman Regular" panose="02020503050405090304" charset="0"/>
                  </a:rPr>
                  <a:t>TCGA (UCSC TOIL pipeline)</a:t>
                </a:r>
                <a:endParaRPr lang="en-US" altLang="zh-CN" sz="1200" dirty="0">
                  <a:solidFill>
                    <a:schemeClr val="bg1"/>
                  </a:solidFill>
                  <a:latin typeface="Times New Roman Regular" panose="02020503050405090304" charset="0"/>
                  <a:cs typeface="Times New Roman Regular" panose="02020503050405090304" charset="0"/>
                </a:endParaRPr>
              </a:p>
            </p:txBody>
          </p:sp>
          <p:sp>
            <p:nvSpPr>
              <p:cNvPr id="19" name="Rectangle 18"/>
              <p:cNvSpPr/>
              <p:nvPr/>
            </p:nvSpPr>
            <p:spPr>
              <a:xfrm>
                <a:off x="733065" y="5062054"/>
                <a:ext cx="2442058" cy="1019026"/>
              </a:xfrm>
              <a:prstGeom prst="rect">
                <a:avLst/>
              </a:prstGeom>
            </p:spPr>
            <p:txBody>
              <a:bodyPr wrap="square">
                <a:noAutofit/>
              </a:bodyPr>
              <a:lstStyle/>
              <a:p>
                <a:pPr>
                  <a:lnSpc>
                    <a:spcPct val="110000"/>
                  </a:lnSpc>
                </a:pPr>
                <a:r>
                  <a:rPr lang="en-US" altLang="zh-CN" sz="1000" dirty="0">
                    <a:solidFill>
                      <a:schemeClr val="bg1"/>
                    </a:solidFill>
                    <a:latin typeface="Times New Roman Regular" panose="02020503050405090304" charset="0"/>
                    <a:ea typeface="OPPOSans H" panose="00020600040101010101" charset="-122"/>
                    <a:cs typeface="Times New Roman Regular" panose="02020503050405090304" charset="0"/>
                  </a:rPr>
                  <a:t>We selected five solid tumors: PRAD, PDAC, LUAD, SKCM, and STAD. RNA-seq data were standardized via the UCSC Toil pipeline and transformed as log</a:t>
                </a:r>
                <a:r>
                  <a:rPr lang="en-US" altLang="en-US" sz="1000" dirty="0">
                    <a:solidFill>
                      <a:schemeClr val="bg1"/>
                    </a:solidFill>
                    <a:latin typeface="Times New Roman Regular" panose="02020503050405090304" charset="0"/>
                    <a:ea typeface="OPPOSans H" panose="00020600040101010101" charset="-122"/>
                    <a:cs typeface="Times New Roman Regular" panose="02020503050405090304" charset="0"/>
                  </a:rPr>
                  <a:t>₂</a:t>
                </a:r>
                <a:r>
                  <a:rPr lang="en-US" altLang="zh-CN" sz="1000" dirty="0">
                    <a:solidFill>
                      <a:schemeClr val="bg1"/>
                    </a:solidFill>
                    <a:latin typeface="Times New Roman Regular" panose="02020503050405090304" charset="0"/>
                    <a:ea typeface="OPPOSans H" panose="00020600040101010101" charset="-122"/>
                    <a:cs typeface="Times New Roman Regular" panose="02020503050405090304" charset="0"/>
                  </a:rPr>
                  <a:t>(TPM + 0.001).</a:t>
                </a:r>
                <a:endParaRPr lang="en-US" altLang="zh-CN" sz="1000" dirty="0">
                  <a:solidFill>
                    <a:schemeClr val="bg1"/>
                  </a:solidFill>
                  <a:latin typeface="Times New Roman Regular" panose="02020503050405090304" charset="0"/>
                  <a:ea typeface="OPPOSans H" panose="00020600040101010101" charset="-122"/>
                  <a:cs typeface="Times New Roman Regular" panose="02020503050405090304" charset="0"/>
                </a:endParaRPr>
              </a:p>
            </p:txBody>
          </p:sp>
        </p:grpSp>
      </p:grpSp>
      <p:grpSp>
        <p:nvGrpSpPr>
          <p:cNvPr id="3" name="Group 2"/>
          <p:cNvGrpSpPr/>
          <p:nvPr/>
        </p:nvGrpSpPr>
        <p:grpSpPr>
          <a:xfrm>
            <a:off x="3345815" y="3748405"/>
            <a:ext cx="2750185" cy="2682875"/>
            <a:chOff x="3345986" y="3429000"/>
            <a:chExt cx="2750014" cy="2751309"/>
          </a:xfrm>
        </p:grpSpPr>
        <p:sp>
          <p:nvSpPr>
            <p:cNvPr id="12" name="Rectangle 11"/>
            <p:cNvSpPr/>
            <p:nvPr/>
          </p:nvSpPr>
          <p:spPr>
            <a:xfrm>
              <a:off x="3345986" y="3429000"/>
              <a:ext cx="2750014" cy="2751309"/>
            </a:xfrm>
            <a:prstGeom prst="rect">
              <a:avLst/>
            </a:prstGeom>
            <a:solidFill>
              <a:srgbClr val="AE1A2C"/>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alpha val="31000"/>
                  </a:schemeClr>
                </a:solidFill>
                <a:latin typeface="Times New Roman Regular" panose="02020503050405090304" charset="0"/>
                <a:cs typeface="Times New Roman Regular" panose="02020503050405090304" charset="0"/>
              </a:endParaRPr>
            </a:p>
          </p:txBody>
        </p:sp>
        <p:grpSp>
          <p:nvGrpSpPr>
            <p:cNvPr id="21" name="Group 20"/>
            <p:cNvGrpSpPr/>
            <p:nvPr/>
          </p:nvGrpSpPr>
          <p:grpSpPr>
            <a:xfrm>
              <a:off x="3496851" y="3703404"/>
              <a:ext cx="2445233" cy="2416127"/>
              <a:chOff x="729890" y="3664953"/>
              <a:chExt cx="2445233" cy="2416127"/>
            </a:xfrm>
          </p:grpSpPr>
          <p:sp>
            <p:nvSpPr>
              <p:cNvPr id="22" name="Rectangle 21"/>
              <p:cNvSpPr/>
              <p:nvPr/>
            </p:nvSpPr>
            <p:spPr>
              <a:xfrm>
                <a:off x="733065" y="3664953"/>
                <a:ext cx="1880235" cy="945539"/>
              </a:xfrm>
              <a:prstGeom prst="rect">
                <a:avLst/>
              </a:prstGeom>
            </p:spPr>
            <p:txBody>
              <a:bodyPr wrap="square">
                <a:spAutoFit/>
              </a:bodyPr>
              <a:lstStyle/>
              <a:p>
                <a:pPr algn="l">
                  <a:buClrTx/>
                  <a:buSzTx/>
                  <a:buNone/>
                </a:pPr>
                <a:r>
                  <a:rPr lang="en-US" altLang="zh-CN" sz="1800" spc="100" dirty="0">
                    <a:solidFill>
                      <a:schemeClr val="bg1"/>
                    </a:solidFill>
                    <a:latin typeface="Arial Black" panose="020B0A04020102020204" charset="0"/>
                    <a:ea typeface="OPPOSans H" panose="00020600040101010101" charset="-122"/>
                    <a:cs typeface="Arial Black" panose="020B0A04020102020204" charset="0"/>
                  </a:rPr>
                  <a:t>DNA methylation</a:t>
                </a:r>
                <a:endParaRPr lang="en-US" altLang="zh-CN" sz="1800" spc="100" dirty="0">
                  <a:solidFill>
                    <a:schemeClr val="bg1"/>
                  </a:solidFill>
                  <a:latin typeface="Arial Black" panose="020B0A04020102020204" charset="0"/>
                  <a:ea typeface="OPPOSans H" panose="00020600040101010101" charset="-122"/>
                  <a:cs typeface="Arial Black" panose="020B0A04020102020204" charset="0"/>
                </a:endParaRPr>
              </a:p>
              <a:p>
                <a:pPr algn="l">
                  <a:buClrTx/>
                  <a:buSzTx/>
                  <a:buNone/>
                </a:pPr>
                <a:r>
                  <a:rPr lang="en-US" altLang="zh-CN" sz="1800" spc="100" dirty="0">
                    <a:solidFill>
                      <a:schemeClr val="bg1"/>
                    </a:solidFill>
                    <a:latin typeface="Arial Black" panose="020B0A04020102020204" charset="0"/>
                    <a:ea typeface="OPPOSans H" panose="00020600040101010101" charset="-122"/>
                    <a:cs typeface="Arial Black" panose="020B0A04020102020204" charset="0"/>
                  </a:rPr>
                  <a:t>/ 2</a:t>
                </a:r>
                <a:endParaRPr lang="en-US" altLang="zh-CN" sz="1800" spc="100" dirty="0">
                  <a:solidFill>
                    <a:schemeClr val="bg1"/>
                  </a:solidFill>
                  <a:latin typeface="Arial Black" panose="020B0A04020102020204" charset="0"/>
                  <a:ea typeface="OPPOSans H" panose="00020600040101010101" charset="-122"/>
                  <a:cs typeface="Arial Black" panose="020B0A04020102020204" charset="0"/>
                </a:endParaRPr>
              </a:p>
            </p:txBody>
          </p:sp>
          <p:sp>
            <p:nvSpPr>
              <p:cNvPr id="23" name="Rectangle 22"/>
              <p:cNvSpPr/>
              <p:nvPr/>
            </p:nvSpPr>
            <p:spPr>
              <a:xfrm>
                <a:off x="729890" y="4746342"/>
                <a:ext cx="1883102" cy="263735"/>
              </a:xfrm>
              <a:prstGeom prst="rect">
                <a:avLst/>
              </a:prstGeom>
            </p:spPr>
            <p:txBody>
              <a:bodyPr wrap="square">
                <a:spAutoFit/>
              </a:bodyPr>
              <a:lstStyle/>
              <a:p>
                <a:pPr algn="l">
                  <a:lnSpc>
                    <a:spcPct val="90000"/>
                  </a:lnSpc>
                  <a:buClrTx/>
                  <a:buSzTx/>
                  <a:buFontTx/>
                </a:pPr>
                <a:r>
                  <a:rPr lang="en-US" altLang="zh-CN" sz="1200" dirty="0">
                    <a:solidFill>
                      <a:schemeClr val="bg1"/>
                    </a:solidFill>
                    <a:latin typeface="Times New Roman Regular" panose="02020503050405090304" charset="0"/>
                    <a:cs typeface="Times New Roman Regular" panose="02020503050405090304" charset="0"/>
                  </a:rPr>
                  <a:t>TCGA (450K platform)</a:t>
                </a:r>
                <a:endParaRPr lang="en-US" altLang="zh-CN" sz="1200" dirty="0">
                  <a:solidFill>
                    <a:schemeClr val="bg1"/>
                  </a:solidFill>
                  <a:latin typeface="Times New Roman Regular" panose="02020503050405090304" charset="0"/>
                  <a:cs typeface="Times New Roman Regular" panose="02020503050405090304" charset="0"/>
                </a:endParaRPr>
              </a:p>
            </p:txBody>
          </p:sp>
          <p:sp>
            <p:nvSpPr>
              <p:cNvPr id="24" name="Rectangle 23"/>
              <p:cNvSpPr/>
              <p:nvPr/>
            </p:nvSpPr>
            <p:spPr>
              <a:xfrm>
                <a:off x="733065" y="5062054"/>
                <a:ext cx="2442058" cy="1019026"/>
              </a:xfrm>
              <a:prstGeom prst="rect">
                <a:avLst/>
              </a:prstGeom>
            </p:spPr>
            <p:txBody>
              <a:bodyPr wrap="square">
                <a:noAutofit/>
              </a:bodyPr>
              <a:lstStyle/>
              <a:p>
                <a:pPr algn="l">
                  <a:lnSpc>
                    <a:spcPct val="110000"/>
                  </a:lnSpc>
                  <a:buClrTx/>
                  <a:buSzTx/>
                  <a:buFontTx/>
                </a:pPr>
                <a:r>
                  <a:rPr lang="en-US" altLang="zh-CN" sz="1000" dirty="0">
                    <a:solidFill>
                      <a:schemeClr val="bg1"/>
                    </a:solidFill>
                    <a:latin typeface="Times New Roman Regular" panose="02020503050405090304" charset="0"/>
                    <a:ea typeface="OPPOSans H" panose="00020600040101010101" charset="-122"/>
                    <a:cs typeface="Times New Roman Regular" panose="02020503050405090304" charset="0"/>
                  </a:rPr>
                  <a:t>β-values representing methylation levels were used. To improve regional resolution, promoter and gene body annotations were built based on Ensembl GRCh38 (release 109).</a:t>
                </a:r>
                <a:endParaRPr lang="en-US" altLang="zh-CN" sz="1000" dirty="0">
                  <a:solidFill>
                    <a:schemeClr val="bg1"/>
                  </a:solidFill>
                  <a:latin typeface="Times New Roman Regular" panose="02020503050405090304" charset="0"/>
                  <a:ea typeface="OPPOSans H" panose="00020600040101010101" charset="-122"/>
                  <a:cs typeface="Times New Roman Regular" panose="02020503050405090304" charset="0"/>
                </a:endParaRPr>
              </a:p>
            </p:txBody>
          </p:sp>
        </p:grpSp>
      </p:grpSp>
      <p:grpSp>
        <p:nvGrpSpPr>
          <p:cNvPr id="4" name="Group 3"/>
          <p:cNvGrpSpPr/>
          <p:nvPr/>
        </p:nvGrpSpPr>
        <p:grpSpPr>
          <a:xfrm>
            <a:off x="6096000" y="3748405"/>
            <a:ext cx="2750185" cy="2682875"/>
            <a:chOff x="6096000" y="3429000"/>
            <a:chExt cx="2750014" cy="2751309"/>
          </a:xfrm>
        </p:grpSpPr>
        <p:sp>
          <p:nvSpPr>
            <p:cNvPr id="13" name="Rectangle 12"/>
            <p:cNvSpPr/>
            <p:nvPr/>
          </p:nvSpPr>
          <p:spPr>
            <a:xfrm>
              <a:off x="6096000" y="3429000"/>
              <a:ext cx="2750014" cy="2751309"/>
            </a:xfrm>
            <a:prstGeom prst="rect">
              <a:avLst/>
            </a:prstGeom>
            <a:solidFill>
              <a:srgbClr val="AE1A2C"/>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Regular" panose="02020503050405090304" charset="0"/>
                <a:cs typeface="Times New Roman Regular" panose="02020503050405090304" charset="0"/>
              </a:endParaRPr>
            </a:p>
          </p:txBody>
        </p:sp>
        <p:grpSp>
          <p:nvGrpSpPr>
            <p:cNvPr id="25" name="Group 24"/>
            <p:cNvGrpSpPr/>
            <p:nvPr/>
          </p:nvGrpSpPr>
          <p:grpSpPr>
            <a:xfrm>
              <a:off x="6248135" y="3703404"/>
              <a:ext cx="2443963" cy="2253132"/>
              <a:chOff x="731160" y="3664953"/>
              <a:chExt cx="2443963" cy="2253132"/>
            </a:xfrm>
          </p:grpSpPr>
          <p:sp>
            <p:nvSpPr>
              <p:cNvPr id="26" name="Rectangle 25"/>
              <p:cNvSpPr/>
              <p:nvPr/>
            </p:nvSpPr>
            <p:spPr>
              <a:xfrm>
                <a:off x="733065" y="3664953"/>
                <a:ext cx="2159635" cy="945539"/>
              </a:xfrm>
              <a:prstGeom prst="rect">
                <a:avLst/>
              </a:prstGeom>
            </p:spPr>
            <p:txBody>
              <a:bodyPr wrap="square">
                <a:spAutoFit/>
              </a:bodyPr>
              <a:lstStyle/>
              <a:p>
                <a:pPr algn="l">
                  <a:buClrTx/>
                  <a:buSzTx/>
                  <a:buNone/>
                </a:pPr>
                <a:r>
                  <a:rPr lang="en-US" altLang="zh-CN" sz="1800" spc="100" dirty="0">
                    <a:solidFill>
                      <a:schemeClr val="bg1"/>
                    </a:solidFill>
                    <a:latin typeface="Arial Black" panose="020B0A04020102020204" charset="0"/>
                    <a:ea typeface="OPPOSans H" panose="00020600040101010101" charset="-122"/>
                    <a:cs typeface="Arial Black" panose="020B0A04020102020204" charset="0"/>
                  </a:rPr>
                  <a:t>Normal tissue transcriptome</a:t>
                </a:r>
                <a:endParaRPr lang="en-US" altLang="zh-CN" sz="1800" spc="100" dirty="0">
                  <a:solidFill>
                    <a:schemeClr val="bg1"/>
                  </a:solidFill>
                  <a:latin typeface="Arial Black" panose="020B0A04020102020204" charset="0"/>
                  <a:ea typeface="OPPOSans H" panose="00020600040101010101" charset="-122"/>
                  <a:cs typeface="Arial Black" panose="020B0A04020102020204" charset="0"/>
                </a:endParaRPr>
              </a:p>
              <a:p>
                <a:pPr algn="l">
                  <a:buClrTx/>
                  <a:buSzTx/>
                  <a:buNone/>
                </a:pPr>
                <a:r>
                  <a:rPr lang="en-US" altLang="zh-CN" sz="1800" spc="100" dirty="0">
                    <a:solidFill>
                      <a:schemeClr val="bg1"/>
                    </a:solidFill>
                    <a:latin typeface="Arial Black" panose="020B0A04020102020204" charset="0"/>
                    <a:ea typeface="OPPOSans H" panose="00020600040101010101" charset="-122"/>
                    <a:cs typeface="Arial Black" panose="020B0A04020102020204" charset="0"/>
                  </a:rPr>
                  <a:t>/ 3</a:t>
                </a:r>
                <a:endParaRPr lang="en-US" altLang="zh-CN" sz="1800" spc="100" dirty="0">
                  <a:solidFill>
                    <a:schemeClr val="bg1"/>
                  </a:solidFill>
                  <a:latin typeface="Arial Black" panose="020B0A04020102020204" charset="0"/>
                  <a:ea typeface="OPPOSans H" panose="00020600040101010101" charset="-122"/>
                  <a:cs typeface="Arial Black" panose="020B0A04020102020204" charset="0"/>
                </a:endParaRPr>
              </a:p>
            </p:txBody>
          </p:sp>
          <p:sp>
            <p:nvSpPr>
              <p:cNvPr id="27" name="Rectangle 26"/>
              <p:cNvSpPr/>
              <p:nvPr/>
            </p:nvSpPr>
            <p:spPr>
              <a:xfrm>
                <a:off x="731160" y="4745729"/>
                <a:ext cx="1883102" cy="263735"/>
              </a:xfrm>
              <a:prstGeom prst="rect">
                <a:avLst/>
              </a:prstGeom>
            </p:spPr>
            <p:txBody>
              <a:bodyPr wrap="square">
                <a:spAutoFit/>
              </a:bodyPr>
              <a:lstStyle/>
              <a:p>
                <a:pPr>
                  <a:lnSpc>
                    <a:spcPct val="90000"/>
                  </a:lnSpc>
                </a:pPr>
                <a:r>
                  <a:rPr lang="en-US" altLang="zh-CN" sz="1200" dirty="0">
                    <a:solidFill>
                      <a:schemeClr val="bg1"/>
                    </a:solidFill>
                    <a:latin typeface="Times New Roman Regular" panose="02020503050405090304" charset="0"/>
                    <a:cs typeface="Times New Roman Regular" panose="02020503050405090304" charset="0"/>
                  </a:rPr>
                  <a:t>GTEx</a:t>
                </a:r>
                <a:endParaRPr lang="en-US" altLang="zh-CN" sz="1600" dirty="0">
                  <a:solidFill>
                    <a:schemeClr val="bg1"/>
                  </a:solidFill>
                  <a:latin typeface="Times New Roman Regular" panose="02020503050405090304" charset="0"/>
                  <a:cs typeface="Times New Roman Regular" panose="02020503050405090304" charset="0"/>
                </a:endParaRPr>
              </a:p>
            </p:txBody>
          </p:sp>
          <p:sp>
            <p:nvSpPr>
              <p:cNvPr id="28" name="Rectangle 27"/>
              <p:cNvSpPr/>
              <p:nvPr/>
            </p:nvSpPr>
            <p:spPr>
              <a:xfrm>
                <a:off x="733065" y="5061441"/>
                <a:ext cx="2442058" cy="856644"/>
              </a:xfrm>
              <a:prstGeom prst="rect">
                <a:avLst/>
              </a:prstGeom>
            </p:spPr>
            <p:txBody>
              <a:bodyPr wrap="square">
                <a:noAutofit/>
              </a:bodyPr>
              <a:lstStyle/>
              <a:p>
                <a:pPr algn="l">
                  <a:lnSpc>
                    <a:spcPct val="110000"/>
                  </a:lnSpc>
                  <a:buClrTx/>
                  <a:buSzTx/>
                  <a:buFontTx/>
                </a:pPr>
                <a:r>
                  <a:rPr lang="en-US" altLang="zh-CN" sz="1000" dirty="0">
                    <a:solidFill>
                      <a:schemeClr val="bg1"/>
                    </a:solidFill>
                    <a:latin typeface="Times New Roman Regular" panose="02020503050405090304" charset="0"/>
                    <a:ea typeface="OPPOSans H" panose="00020600040101010101" charset="-122"/>
                    <a:cs typeface="Times New Roman Regular" panose="02020503050405090304" charset="0"/>
                  </a:rPr>
                  <a:t>Expression data from organ-matched normal tissues were used to construct tumor–normal paired comparison models.</a:t>
                </a:r>
                <a:endParaRPr lang="en-US" altLang="zh-CN" sz="1000" dirty="0">
                  <a:solidFill>
                    <a:schemeClr val="bg1"/>
                  </a:solidFill>
                  <a:latin typeface="Times New Roman Regular" panose="02020503050405090304" charset="0"/>
                  <a:ea typeface="OPPOSans H" panose="00020600040101010101" charset="-122"/>
                  <a:cs typeface="Times New Roman Regular" panose="02020503050405090304" charset="0"/>
                </a:endParaRPr>
              </a:p>
            </p:txBody>
          </p:sp>
        </p:grpSp>
      </p:grpSp>
      <p:grpSp>
        <p:nvGrpSpPr>
          <p:cNvPr id="6" name="Group 5"/>
          <p:cNvGrpSpPr/>
          <p:nvPr/>
        </p:nvGrpSpPr>
        <p:grpSpPr>
          <a:xfrm>
            <a:off x="8846185" y="1009650"/>
            <a:ext cx="2750185" cy="2626995"/>
            <a:chOff x="8846014" y="677691"/>
            <a:chExt cx="2750014" cy="2751309"/>
          </a:xfrm>
        </p:grpSpPr>
        <p:sp>
          <p:nvSpPr>
            <p:cNvPr id="14" name="Rectangle 13"/>
            <p:cNvSpPr/>
            <p:nvPr/>
          </p:nvSpPr>
          <p:spPr>
            <a:xfrm>
              <a:off x="8846014" y="677691"/>
              <a:ext cx="2750014" cy="2751309"/>
            </a:xfrm>
            <a:prstGeom prst="rect">
              <a:avLst/>
            </a:prstGeom>
            <a:solidFill>
              <a:srgbClr val="AE1A2C"/>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Regular" panose="02020503050405090304" charset="0"/>
                <a:cs typeface="Times New Roman Regular" panose="02020503050405090304" charset="0"/>
              </a:endParaRPr>
            </a:p>
          </p:txBody>
        </p:sp>
        <p:grpSp>
          <p:nvGrpSpPr>
            <p:cNvPr id="29" name="Group 28"/>
            <p:cNvGrpSpPr/>
            <p:nvPr/>
          </p:nvGrpSpPr>
          <p:grpSpPr>
            <a:xfrm>
              <a:off x="9000054" y="952094"/>
              <a:ext cx="2442058" cy="2476178"/>
              <a:chOff x="733065" y="3664953"/>
              <a:chExt cx="2442058" cy="2476178"/>
            </a:xfrm>
          </p:grpSpPr>
          <p:sp>
            <p:nvSpPr>
              <p:cNvPr id="30" name="Rectangle 29"/>
              <p:cNvSpPr/>
              <p:nvPr/>
            </p:nvSpPr>
            <p:spPr>
              <a:xfrm>
                <a:off x="733065" y="3664953"/>
                <a:ext cx="2441423" cy="965652"/>
              </a:xfrm>
              <a:prstGeom prst="rect">
                <a:avLst/>
              </a:prstGeom>
            </p:spPr>
            <p:txBody>
              <a:bodyPr wrap="square">
                <a:spAutoFit/>
              </a:bodyPr>
              <a:lstStyle/>
              <a:p>
                <a:pPr algn="l">
                  <a:buClrTx/>
                  <a:buSzTx/>
                  <a:buNone/>
                </a:pPr>
                <a:r>
                  <a:rPr lang="en-US" altLang="zh-CN" sz="1800" spc="100" dirty="0">
                    <a:solidFill>
                      <a:schemeClr val="bg1"/>
                    </a:solidFill>
                    <a:latin typeface="Arial Black" panose="020B0A04020102020204" charset="0"/>
                    <a:ea typeface="OPPOSans H" panose="00020600040101010101" charset="-122"/>
                    <a:cs typeface="Arial Black" panose="020B0A04020102020204" charset="0"/>
                  </a:rPr>
                  <a:t>ID Mapping for Integration</a:t>
                </a:r>
                <a:endParaRPr lang="en-US" altLang="zh-CN" sz="1800" spc="100" dirty="0">
                  <a:solidFill>
                    <a:schemeClr val="bg1"/>
                  </a:solidFill>
                  <a:latin typeface="Arial Black" panose="020B0A04020102020204" charset="0"/>
                  <a:ea typeface="OPPOSans H" panose="00020600040101010101" charset="-122"/>
                  <a:cs typeface="Arial Black" panose="020B0A04020102020204" charset="0"/>
                </a:endParaRPr>
              </a:p>
              <a:p>
                <a:pPr algn="l">
                  <a:buClrTx/>
                  <a:buSzTx/>
                  <a:buNone/>
                </a:pPr>
                <a:r>
                  <a:rPr lang="en-US" altLang="zh-CN" sz="1800" spc="100" dirty="0">
                    <a:solidFill>
                      <a:schemeClr val="bg1"/>
                    </a:solidFill>
                    <a:latin typeface="Arial Black" panose="020B0A04020102020204" charset="0"/>
                    <a:ea typeface="OPPOSans H" panose="00020600040101010101" charset="-122"/>
                    <a:cs typeface="Arial Black" panose="020B0A04020102020204" charset="0"/>
                  </a:rPr>
                  <a:t>/ 6</a:t>
                </a:r>
                <a:endParaRPr lang="en-US" altLang="zh-CN" sz="1800" spc="100" dirty="0">
                  <a:solidFill>
                    <a:schemeClr val="bg1"/>
                  </a:solidFill>
                  <a:latin typeface="Arial Black" panose="020B0A04020102020204" charset="0"/>
                  <a:ea typeface="OPPOSans H" panose="00020600040101010101" charset="-122"/>
                  <a:cs typeface="Arial Black" panose="020B0A04020102020204" charset="0"/>
                </a:endParaRPr>
              </a:p>
            </p:txBody>
          </p:sp>
          <p:sp>
            <p:nvSpPr>
              <p:cNvPr id="31" name="Rectangle 30"/>
              <p:cNvSpPr/>
              <p:nvPr/>
            </p:nvSpPr>
            <p:spPr>
              <a:xfrm>
                <a:off x="733065" y="4589945"/>
                <a:ext cx="1883102" cy="327204"/>
              </a:xfrm>
              <a:prstGeom prst="rect">
                <a:avLst/>
              </a:prstGeom>
            </p:spPr>
            <p:txBody>
              <a:bodyPr wrap="square">
                <a:spAutoFit/>
              </a:bodyPr>
              <a:lstStyle/>
              <a:p>
                <a:pPr>
                  <a:lnSpc>
                    <a:spcPct val="90000"/>
                  </a:lnSpc>
                </a:pPr>
                <a:r>
                  <a:rPr lang="en-US" altLang="zh-CN" sz="1200" dirty="0">
                    <a:solidFill>
                      <a:schemeClr val="bg1"/>
                    </a:solidFill>
                    <a:latin typeface="Times New Roman Regular" panose="02020503050405090304" charset="0"/>
                    <a:cs typeface="Times New Roman Regular" panose="02020503050405090304" charset="0"/>
                  </a:rPr>
                  <a:t>MyGene</a:t>
                </a:r>
                <a:r>
                  <a:rPr lang="en-US" altLang="zh-CN" sz="1600" dirty="0">
                    <a:solidFill>
                      <a:schemeClr val="bg1"/>
                    </a:solidFill>
                    <a:latin typeface="Times New Roman Regular" panose="02020503050405090304" charset="0"/>
                    <a:cs typeface="Times New Roman Regular" panose="02020503050405090304" charset="0"/>
                  </a:rPr>
                  <a:t>.</a:t>
                </a:r>
                <a:r>
                  <a:rPr lang="en-US" altLang="zh-CN" sz="1200" dirty="0">
                    <a:solidFill>
                      <a:schemeClr val="bg1"/>
                    </a:solidFill>
                    <a:latin typeface="Times New Roman Regular" panose="02020503050405090304" charset="0"/>
                    <a:cs typeface="Times New Roman Regular" panose="02020503050405090304" charset="0"/>
                  </a:rPr>
                  <a:t>info </a:t>
                </a:r>
                <a:r>
                  <a:rPr lang="en-US" altLang="zh-CN" sz="1600" dirty="0">
                    <a:solidFill>
                      <a:schemeClr val="bg1"/>
                    </a:solidFill>
                    <a:latin typeface="Times New Roman Regular" panose="02020503050405090304" charset="0"/>
                    <a:cs typeface="Times New Roman Regular" panose="02020503050405090304" charset="0"/>
                  </a:rPr>
                  <a:t>API</a:t>
                </a:r>
                <a:endParaRPr lang="en-US" altLang="zh-CN" sz="1600" dirty="0">
                  <a:solidFill>
                    <a:schemeClr val="bg1"/>
                  </a:solidFill>
                  <a:latin typeface="Times New Roman Regular" panose="02020503050405090304" charset="0"/>
                  <a:cs typeface="Times New Roman Regular" panose="02020503050405090304" charset="0"/>
                </a:endParaRPr>
              </a:p>
            </p:txBody>
          </p:sp>
          <p:sp>
            <p:nvSpPr>
              <p:cNvPr id="32" name="Rectangle 31"/>
              <p:cNvSpPr/>
              <p:nvPr/>
            </p:nvSpPr>
            <p:spPr>
              <a:xfrm>
                <a:off x="733065" y="4963340"/>
                <a:ext cx="2442058" cy="1177791"/>
              </a:xfrm>
              <a:prstGeom prst="rect">
                <a:avLst/>
              </a:prstGeom>
            </p:spPr>
            <p:txBody>
              <a:bodyPr wrap="square">
                <a:noAutofit/>
              </a:bodyPr>
              <a:lstStyle/>
              <a:p>
                <a:pPr algn="l">
                  <a:lnSpc>
                    <a:spcPct val="110000"/>
                  </a:lnSpc>
                  <a:buClrTx/>
                  <a:buSzTx/>
                  <a:buFontTx/>
                </a:pPr>
                <a:r>
                  <a:rPr lang="en-US" altLang="zh-CN" sz="1000" dirty="0">
                    <a:solidFill>
                      <a:schemeClr val="bg1"/>
                    </a:solidFill>
                    <a:latin typeface="Times New Roman Regular" panose="02020503050405090304" charset="0"/>
                    <a:ea typeface="OPPOSans H" panose="00020600040101010101" charset="-122"/>
                    <a:cs typeface="Times New Roman Regular" panose="02020503050405090304" charset="0"/>
                  </a:rPr>
                  <a:t>To unify transcript IDs across data types, UCSC_Entrez_ID entries were converted to HGNC symbols, ensuring cross-omics annotation consistency.</a:t>
                </a:r>
                <a:endParaRPr lang="en-US" altLang="zh-CN" sz="1000" dirty="0">
                  <a:solidFill>
                    <a:schemeClr val="bg1"/>
                  </a:solidFill>
                  <a:latin typeface="Times New Roman Regular" panose="02020503050405090304" charset="0"/>
                  <a:ea typeface="OPPOSans H" panose="00020600040101010101" charset="-122"/>
                  <a:cs typeface="Times New Roman Regular" panose="02020503050405090304" charset="0"/>
                </a:endParaRPr>
              </a:p>
            </p:txBody>
          </p:sp>
        </p:grpSp>
      </p:grpSp>
      <p:cxnSp>
        <p:nvCxnSpPr>
          <p:cNvPr id="34" name="Connector: Elbow 33"/>
          <p:cNvCxnSpPr/>
          <p:nvPr/>
        </p:nvCxnSpPr>
        <p:spPr>
          <a:xfrm flipV="1">
            <a:off x="576580" y="963930"/>
            <a:ext cx="5320030" cy="2438400"/>
          </a:xfrm>
          <a:prstGeom prst="bentConnector3">
            <a:avLst>
              <a:gd name="adj1" fmla="val 99749"/>
            </a:avLst>
          </a:prstGeom>
          <a:ln w="12700" cap="sq">
            <a:solidFill>
              <a:srgbClr val="AE192C">
                <a:alpha val="27000"/>
              </a:srgbClr>
            </a:solidFill>
            <a:prstDash val="dash"/>
            <a:round/>
            <a:headEnd type="oval"/>
            <a:tailEnd type="arrow"/>
          </a:ln>
        </p:spPr>
        <p:style>
          <a:lnRef idx="1">
            <a:schemeClr val="accent1"/>
          </a:lnRef>
          <a:fillRef idx="0">
            <a:schemeClr val="accent1"/>
          </a:fillRef>
          <a:effectRef idx="0">
            <a:schemeClr val="accent1"/>
          </a:effectRef>
          <a:fontRef idx="minor">
            <a:schemeClr val="tx1"/>
          </a:fontRef>
        </p:style>
      </p:cxnSp>
      <p:grpSp>
        <p:nvGrpSpPr>
          <p:cNvPr id="5" name="Group 4"/>
          <p:cNvGrpSpPr/>
          <p:nvPr/>
        </p:nvGrpSpPr>
        <p:grpSpPr>
          <a:xfrm>
            <a:off x="8846185" y="3748405"/>
            <a:ext cx="2750185" cy="2682875"/>
            <a:chOff x="8846014" y="3429000"/>
            <a:chExt cx="2750014" cy="2751309"/>
          </a:xfrm>
          <a:solidFill>
            <a:srgbClr val="910100"/>
          </a:solidFill>
        </p:grpSpPr>
        <p:sp>
          <p:nvSpPr>
            <p:cNvPr id="47" name="Rectangle 46"/>
            <p:cNvSpPr/>
            <p:nvPr/>
          </p:nvSpPr>
          <p:spPr>
            <a:xfrm>
              <a:off x="8846014" y="3429000"/>
              <a:ext cx="2750014" cy="2751309"/>
            </a:xfrm>
            <a:prstGeom prst="rect">
              <a:avLst/>
            </a:prstGeom>
            <a:grp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Regular" panose="02020503050405090304" charset="0"/>
                <a:cs typeface="Times New Roman Regular" panose="02020503050405090304" charset="0"/>
              </a:endParaRPr>
            </a:p>
          </p:txBody>
        </p:sp>
        <p:grpSp>
          <p:nvGrpSpPr>
            <p:cNvPr id="48" name="Group 47"/>
            <p:cNvGrpSpPr/>
            <p:nvPr/>
          </p:nvGrpSpPr>
          <p:grpSpPr>
            <a:xfrm>
              <a:off x="9000054" y="3703403"/>
              <a:ext cx="2442058" cy="2253132"/>
              <a:chOff x="733065" y="3664953"/>
              <a:chExt cx="2442058" cy="2253132"/>
            </a:xfrm>
            <a:grpFill/>
          </p:grpSpPr>
          <p:sp>
            <p:nvSpPr>
              <p:cNvPr id="49" name="Rectangle 48"/>
              <p:cNvSpPr/>
              <p:nvPr/>
            </p:nvSpPr>
            <p:spPr>
              <a:xfrm>
                <a:off x="733065" y="3664953"/>
                <a:ext cx="2421255" cy="945539"/>
              </a:xfrm>
              <a:prstGeom prst="rect">
                <a:avLst/>
              </a:prstGeom>
              <a:grpFill/>
            </p:spPr>
            <p:txBody>
              <a:bodyPr wrap="square">
                <a:spAutoFit/>
              </a:bodyPr>
              <a:lstStyle/>
              <a:p>
                <a:pPr algn="l">
                  <a:buClrTx/>
                  <a:buSzTx/>
                  <a:buNone/>
                </a:pPr>
                <a:r>
                  <a:rPr lang="en-US" altLang="zh-CN" sz="1800" spc="100" dirty="0">
                    <a:solidFill>
                      <a:schemeClr val="bg1"/>
                    </a:solidFill>
                    <a:latin typeface="Arial Black" panose="020B0A04020102020204" charset="0"/>
                    <a:ea typeface="OPPOSans H" panose="00020600040101010101" charset="-122"/>
                    <a:cs typeface="Arial Black" panose="020B0A04020102020204" charset="0"/>
                  </a:rPr>
                  <a:t>TF–target interaction data</a:t>
                </a:r>
                <a:endParaRPr lang="en-US" altLang="zh-CN" sz="1800" spc="100" dirty="0">
                  <a:solidFill>
                    <a:schemeClr val="bg1"/>
                  </a:solidFill>
                  <a:latin typeface="Arial Black" panose="020B0A04020102020204" charset="0"/>
                  <a:ea typeface="OPPOSans H" panose="00020600040101010101" charset="-122"/>
                  <a:cs typeface="Arial Black" panose="020B0A04020102020204" charset="0"/>
                </a:endParaRPr>
              </a:p>
              <a:p>
                <a:pPr algn="l">
                  <a:buClrTx/>
                  <a:buSzTx/>
                  <a:buNone/>
                </a:pPr>
                <a:r>
                  <a:rPr lang="en-US" altLang="zh-CN" sz="1800" spc="100" dirty="0">
                    <a:solidFill>
                      <a:schemeClr val="bg1"/>
                    </a:solidFill>
                    <a:latin typeface="Arial Black" panose="020B0A04020102020204" charset="0"/>
                    <a:ea typeface="OPPOSans H" panose="00020600040101010101" charset="-122"/>
                    <a:cs typeface="Arial Black" panose="020B0A04020102020204" charset="0"/>
                  </a:rPr>
                  <a:t>/ 4</a:t>
                </a:r>
                <a:endParaRPr lang="en-US" altLang="zh-CN" sz="1800" spc="100" dirty="0">
                  <a:solidFill>
                    <a:schemeClr val="bg1"/>
                  </a:solidFill>
                  <a:latin typeface="Arial Black" panose="020B0A04020102020204" charset="0"/>
                  <a:ea typeface="OPPOSans H" panose="00020600040101010101" charset="-122"/>
                  <a:cs typeface="Arial Black" panose="020B0A04020102020204" charset="0"/>
                </a:endParaRPr>
              </a:p>
            </p:txBody>
          </p:sp>
          <p:sp>
            <p:nvSpPr>
              <p:cNvPr id="50" name="Rectangle 49"/>
              <p:cNvSpPr/>
              <p:nvPr/>
            </p:nvSpPr>
            <p:spPr>
              <a:xfrm>
                <a:off x="733065" y="4745868"/>
                <a:ext cx="2442058" cy="263735"/>
              </a:xfrm>
              <a:prstGeom prst="rect">
                <a:avLst/>
              </a:prstGeom>
              <a:grpFill/>
            </p:spPr>
            <p:txBody>
              <a:bodyPr wrap="square">
                <a:spAutoFit/>
              </a:bodyPr>
              <a:lstStyle/>
              <a:p>
                <a:pPr algn="l">
                  <a:lnSpc>
                    <a:spcPct val="90000"/>
                  </a:lnSpc>
                  <a:buClrTx/>
                  <a:buSzTx/>
                  <a:buFontTx/>
                </a:pPr>
                <a:r>
                  <a:rPr lang="en-US" altLang="zh-CN" sz="1200" dirty="0">
                    <a:solidFill>
                      <a:schemeClr val="bg1"/>
                    </a:solidFill>
                    <a:latin typeface="Times New Roman Regular" panose="02020503050405090304" charset="0"/>
                    <a:cs typeface="Times New Roman Regular" panose="02020503050405090304" charset="0"/>
                  </a:rPr>
                  <a:t>ENCODE via Harmonizome</a:t>
                </a:r>
                <a:endParaRPr lang="en-US" altLang="zh-CN" sz="1200" dirty="0">
                  <a:solidFill>
                    <a:schemeClr val="bg1"/>
                  </a:solidFill>
                  <a:latin typeface="Times New Roman Regular" panose="02020503050405090304" charset="0"/>
                  <a:cs typeface="Times New Roman Regular" panose="02020503050405090304" charset="0"/>
                </a:endParaRPr>
              </a:p>
            </p:txBody>
          </p:sp>
          <p:sp>
            <p:nvSpPr>
              <p:cNvPr id="51" name="Rectangle 50"/>
              <p:cNvSpPr/>
              <p:nvPr/>
            </p:nvSpPr>
            <p:spPr>
              <a:xfrm>
                <a:off x="733065" y="5060829"/>
                <a:ext cx="2442058" cy="857256"/>
              </a:xfrm>
              <a:prstGeom prst="rect">
                <a:avLst/>
              </a:prstGeom>
              <a:grpFill/>
            </p:spPr>
            <p:txBody>
              <a:bodyPr wrap="square">
                <a:noAutofit/>
              </a:bodyPr>
              <a:lstStyle/>
              <a:p>
                <a:pPr algn="l">
                  <a:lnSpc>
                    <a:spcPct val="110000"/>
                  </a:lnSpc>
                  <a:buClrTx/>
                  <a:buSzTx/>
                  <a:buFontTx/>
                </a:pPr>
                <a:r>
                  <a:rPr lang="en-US" altLang="zh-CN" sz="1000" dirty="0">
                    <a:solidFill>
                      <a:schemeClr val="bg1"/>
                    </a:solidFill>
                    <a:latin typeface="Times New Roman Regular" panose="02020503050405090304" charset="0"/>
                    <a:ea typeface="OPPOSans H" panose="00020600040101010101" charset="-122"/>
                    <a:cs typeface="Times New Roman Regular" panose="02020503050405090304" charset="0"/>
                  </a:rPr>
                  <a:t>High-confidence TF–target interaction pairs were retrieved to construct MIR100HG-related regulatory networks.</a:t>
                </a:r>
                <a:endParaRPr lang="en-US" altLang="zh-CN" sz="1000" dirty="0">
                  <a:solidFill>
                    <a:schemeClr val="bg1"/>
                  </a:solidFill>
                  <a:latin typeface="Times New Roman Regular" panose="02020503050405090304" charset="0"/>
                  <a:ea typeface="OPPOSans H" panose="00020600040101010101" charset="-122"/>
                  <a:cs typeface="Times New Roman Regular" panose="02020503050405090304" charset="0"/>
                </a:endParaRPr>
              </a:p>
            </p:txBody>
          </p:sp>
        </p:grpSp>
      </p:grpSp>
      <p:grpSp>
        <p:nvGrpSpPr>
          <p:cNvPr id="16" name="组合 15"/>
          <p:cNvGrpSpPr/>
          <p:nvPr/>
        </p:nvGrpSpPr>
        <p:grpSpPr>
          <a:xfrm>
            <a:off x="734144" y="1167718"/>
            <a:ext cx="5316883" cy="2259856"/>
            <a:chOff x="9966" y="2268"/>
            <a:chExt cx="7469" cy="4326"/>
          </a:xfrm>
        </p:grpSpPr>
        <p:sp>
          <p:nvSpPr>
            <p:cNvPr id="35" name="TextBox 34"/>
            <p:cNvSpPr txBox="1"/>
            <p:nvPr>
              <p:custDataLst>
                <p:tags r:id="rId1"/>
              </p:custDataLst>
            </p:nvPr>
          </p:nvSpPr>
          <p:spPr>
            <a:xfrm>
              <a:off x="9989" y="2268"/>
              <a:ext cx="6944" cy="3261"/>
            </a:xfrm>
            <a:prstGeom prst="rect">
              <a:avLst/>
            </a:prstGeom>
            <a:noFill/>
          </p:spPr>
          <p:txBody>
            <a:bodyPr wrap="square" rtlCol="0">
              <a:noAutofit/>
            </a:bodyPr>
            <a:p>
              <a:pPr>
                <a:lnSpc>
                  <a:spcPct val="120000"/>
                </a:lnSpc>
              </a:pPr>
              <a:r>
                <a:rPr lang="en-US" altLang="zh-CN" sz="4400" b="1" dirty="0">
                  <a:solidFill>
                    <a:srgbClr val="AE192C"/>
                  </a:solidFill>
                  <a:latin typeface="Times New Roman Regular" panose="02020503050405090304" charset="0"/>
                  <a:ea typeface="OPPOSans H" panose="00020600040101010101" charset="-122"/>
                  <a:cs typeface="Times New Roman Regular" panose="02020503050405090304" charset="0"/>
                </a:rPr>
                <a:t>Data Sources</a:t>
              </a:r>
              <a:endParaRPr lang="en-US" altLang="zh-CN" sz="4400" b="1" dirty="0">
                <a:solidFill>
                  <a:srgbClr val="AE192C"/>
                </a:solidFill>
                <a:latin typeface="Times New Roman Regular" panose="02020503050405090304" charset="0"/>
                <a:ea typeface="OPPOSans H" panose="00020600040101010101" charset="-122"/>
                <a:cs typeface="Times New Roman Regular" panose="02020503050405090304" charset="0"/>
              </a:endParaRPr>
            </a:p>
            <a:p>
              <a:pPr>
                <a:lnSpc>
                  <a:spcPct val="120000"/>
                </a:lnSpc>
              </a:pPr>
              <a:r>
                <a:rPr lang="en-US" altLang="zh-CN" sz="2000" dirty="0">
                  <a:solidFill>
                    <a:schemeClr val="tx1"/>
                  </a:solidFill>
                  <a:latin typeface="Times New Roman Regular" panose="02020503050405090304" charset="0"/>
                  <a:ea typeface="微软雅黑 Light" panose="020B0502040204020203" charset="-122"/>
                  <a:cs typeface="Times New Roman Regular" panose="02020503050405090304" charset="0"/>
                </a:rPr>
                <a:t>Three major categories and two additional categories of supplementary data</a:t>
              </a:r>
              <a:endParaRPr lang="en-US" altLang="zh-CN" sz="2000" dirty="0">
                <a:solidFill>
                  <a:schemeClr val="tx1"/>
                </a:solidFill>
                <a:latin typeface="Times New Roman Regular" panose="02020503050405090304" charset="0"/>
                <a:ea typeface="微软雅黑 Light" panose="020B0502040204020203" charset="-122"/>
                <a:cs typeface="Times New Roman Regular" panose="02020503050405090304" charset="0"/>
              </a:endParaRPr>
            </a:p>
          </p:txBody>
        </p:sp>
        <p:sp>
          <p:nvSpPr>
            <p:cNvPr id="135" name="TextBox 134"/>
            <p:cNvSpPr txBox="1"/>
            <p:nvPr>
              <p:custDataLst>
                <p:tags r:id="rId2"/>
              </p:custDataLst>
            </p:nvPr>
          </p:nvSpPr>
          <p:spPr>
            <a:xfrm>
              <a:off x="9966" y="5528"/>
              <a:ext cx="7469" cy="1066"/>
            </a:xfrm>
            <a:prstGeom prst="rect">
              <a:avLst/>
            </a:prstGeom>
            <a:noFill/>
          </p:spPr>
          <p:txBody>
            <a:bodyPr wrap="square" rtlCol="0">
              <a:noAutofit/>
            </a:bodyPr>
            <a:p>
              <a:pPr algn="l">
                <a:buClrTx/>
                <a:buSzTx/>
                <a:buNone/>
              </a:pPr>
              <a:r>
                <a:rPr lang="en-US" altLang="zh-CN" sz="1200" b="1" spc="100" dirty="0">
                  <a:solidFill>
                    <a:srgbClr val="AE192C"/>
                  </a:solidFill>
                  <a:latin typeface="Times New Roman Regular" panose="02020503050405090304" charset="0"/>
                  <a:ea typeface="OPPOSans H" panose="00020600040101010101" charset="-122"/>
                  <a:cs typeface="Times New Roman Regular" panose="02020503050405090304" charset="0"/>
                  <a:sym typeface="+mn-ea"/>
                </a:rPr>
                <a:t>Pathway Annotations &amp; ID Mapping for Integration</a:t>
              </a:r>
              <a:endParaRPr lang="en-US" altLang="zh-CN" sz="1200" b="1" spc="100" dirty="0">
                <a:solidFill>
                  <a:srgbClr val="AE192C"/>
                </a:solidFill>
                <a:latin typeface="Times New Roman Regular" panose="02020503050405090304" charset="0"/>
                <a:ea typeface="OPPOSans H" panose="00020600040101010101" charset="-122"/>
                <a:cs typeface="Times New Roman Regular" panose="02020503050405090304" charset="0"/>
              </a:endParaRPr>
            </a:p>
            <a:p>
              <a:pPr>
                <a:lnSpc>
                  <a:spcPct val="130000"/>
                </a:lnSpc>
              </a:pPr>
              <a:endParaRPr lang="en-US" altLang="zh-CN" sz="1200" b="1" spc="100" dirty="0">
                <a:solidFill>
                  <a:srgbClr val="AE192C"/>
                </a:solidFill>
                <a:latin typeface="Times New Roman Regular" panose="02020503050405090304" charset="0"/>
                <a:ea typeface="OPPOSans H" panose="00020600040101010101" charset="-122"/>
                <a:cs typeface="Times New Roman Regular" panose="02020503050405090304" charset="0"/>
              </a:endParaRPr>
            </a:p>
          </p:txBody>
        </p:sp>
      </p:grpSp>
      <p:sp>
        <p:nvSpPr>
          <p:cNvPr id="9" name="矩形: 圆角 8"/>
          <p:cNvSpPr/>
          <p:nvPr userDrawn="1"/>
        </p:nvSpPr>
        <p:spPr>
          <a:xfrm flipV="1">
            <a:off x="2171065" y="709930"/>
            <a:ext cx="9743440" cy="45720"/>
          </a:xfrm>
          <a:prstGeom prst="roundRect">
            <a:avLst/>
          </a:prstGeom>
          <a:solidFill>
            <a:srgbClr val="971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Times New Roman Regular" panose="02020503050405090304" charset="0"/>
              <a:cs typeface="Times New Roman Regular" panose="02020503050405090304" charset="0"/>
            </a:endParaRPr>
          </a:p>
        </p:txBody>
      </p:sp>
      <p:sp>
        <p:nvSpPr>
          <p:cNvPr id="7" name="矩形: 圆角 12"/>
          <p:cNvSpPr/>
          <p:nvPr userDrawn="1"/>
        </p:nvSpPr>
        <p:spPr>
          <a:xfrm flipV="1">
            <a:off x="300990" y="709930"/>
            <a:ext cx="1801495" cy="45720"/>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61" name="矩形: 对角圆角 60"/>
          <p:cNvSpPr/>
          <p:nvPr userDrawn="1"/>
        </p:nvSpPr>
        <p:spPr>
          <a:xfrm>
            <a:off x="300990" y="259715"/>
            <a:ext cx="1801495" cy="358775"/>
          </a:xfrm>
          <a:prstGeom prst="round2DiagRect">
            <a:avLst>
              <a:gd name="adj1" fmla="val 33096"/>
              <a:gd name="adj2" fmla="val 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latin typeface="Times New Roman Regular" panose="02020503050405090304" charset="0"/>
                <a:cs typeface="Times New Roman Regular" panose="02020503050405090304" charset="0"/>
              </a:rPr>
              <a:t>Group M-28</a:t>
            </a:r>
            <a:endParaRPr lang="en-US" altLang="zh-CN" b="1">
              <a:latin typeface="Times New Roman Regular" panose="02020503050405090304" charset="0"/>
              <a:cs typeface="Times New Roman Regular" panose="02020503050405090304" charset="0"/>
            </a:endParaRPr>
          </a:p>
        </p:txBody>
      </p:sp>
      <p:sp>
        <p:nvSpPr>
          <p:cNvPr id="62" name="Venn diagram"/>
          <p:cNvSpPr txBox="1"/>
          <p:nvPr userDrawn="1"/>
        </p:nvSpPr>
        <p:spPr>
          <a:xfrm>
            <a:off x="2292350" y="259715"/>
            <a:ext cx="4118610" cy="35814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en-US" altLang="zh-CN" sz="2000" b="1" dirty="0">
                <a:solidFill>
                  <a:srgbClr val="AE192C"/>
                </a:solidFill>
                <a:latin typeface="Times New Roman Bold" panose="02020503050405090304" charset="0"/>
                <a:ea typeface="MiSans" panose="00000800000000000000" pitchFamily="2" charset="-122"/>
                <a:cs typeface="Times New Roman Bold" panose="02020503050405090304" charset="0"/>
              </a:rPr>
              <a:t>Data Sources</a:t>
            </a:r>
            <a:endPar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endParaRPr>
          </a:p>
        </p:txBody>
      </p:sp>
      <p:pic>
        <p:nvPicPr>
          <p:cNvPr id="86" name="图片 85" descr="1fb514cb1a5e54e89daecde6a77344a3"/>
          <p:cNvPicPr>
            <a:picLocks noChangeAspect="1"/>
          </p:cNvPicPr>
          <p:nvPr/>
        </p:nvPicPr>
        <p:blipFill>
          <a:blip r:embed="rId3"/>
          <a:stretch>
            <a:fillRect/>
          </a:stretch>
        </p:blipFill>
        <p:spPr>
          <a:xfrm>
            <a:off x="10278745" y="144780"/>
            <a:ext cx="1635125" cy="473710"/>
          </a:xfrm>
          <a:prstGeom prst="rect">
            <a:avLst/>
          </a:prstGeom>
        </p:spPr>
      </p:pic>
      <p:grpSp>
        <p:nvGrpSpPr>
          <p:cNvPr id="38" name="Group 4"/>
          <p:cNvGrpSpPr/>
          <p:nvPr/>
        </p:nvGrpSpPr>
        <p:grpSpPr>
          <a:xfrm>
            <a:off x="6108065" y="1001395"/>
            <a:ext cx="2680335" cy="2667000"/>
            <a:chOff x="8846014" y="3429000"/>
            <a:chExt cx="2750014" cy="2751309"/>
          </a:xfrm>
          <a:solidFill>
            <a:srgbClr val="910100"/>
          </a:solidFill>
        </p:grpSpPr>
        <p:sp>
          <p:nvSpPr>
            <p:cNvPr id="39" name="Rectangle 46"/>
            <p:cNvSpPr/>
            <p:nvPr/>
          </p:nvSpPr>
          <p:spPr>
            <a:xfrm>
              <a:off x="8846014" y="3429000"/>
              <a:ext cx="2750014" cy="2751309"/>
            </a:xfrm>
            <a:prstGeom prst="rect">
              <a:avLst/>
            </a:prstGeom>
            <a:grp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atin typeface="Times New Roman Regular" panose="02020503050405090304" charset="0"/>
                <a:cs typeface="Times New Roman Regular" panose="02020503050405090304" charset="0"/>
              </a:endParaRPr>
            </a:p>
          </p:txBody>
        </p:sp>
        <p:grpSp>
          <p:nvGrpSpPr>
            <p:cNvPr id="40" name="Group 47"/>
            <p:cNvGrpSpPr/>
            <p:nvPr/>
          </p:nvGrpSpPr>
          <p:grpSpPr>
            <a:xfrm>
              <a:off x="9000054" y="3703403"/>
              <a:ext cx="2441851" cy="2454210"/>
              <a:chOff x="733065" y="3664953"/>
              <a:chExt cx="2441851" cy="2454210"/>
            </a:xfrm>
            <a:grpFill/>
          </p:grpSpPr>
          <p:sp>
            <p:nvSpPr>
              <p:cNvPr id="41" name="Rectangle 48"/>
              <p:cNvSpPr/>
              <p:nvPr/>
            </p:nvSpPr>
            <p:spPr>
              <a:xfrm>
                <a:off x="733065" y="3664953"/>
                <a:ext cx="2421255" cy="951167"/>
              </a:xfrm>
              <a:prstGeom prst="rect">
                <a:avLst/>
              </a:prstGeom>
              <a:grpFill/>
              <a:ln>
                <a:noFill/>
              </a:ln>
            </p:spPr>
            <p:txBody>
              <a:bodyPr wrap="square">
                <a:spAutoFit/>
              </a:bodyPr>
              <a:p>
                <a:pPr algn="l">
                  <a:buClrTx/>
                  <a:buSzTx/>
                  <a:buNone/>
                </a:pPr>
                <a:r>
                  <a:rPr lang="en-US" altLang="zh-CN" sz="1800" spc="100" dirty="0">
                    <a:solidFill>
                      <a:schemeClr val="bg1"/>
                    </a:solidFill>
                    <a:latin typeface="Arial Black" panose="020B0A04020102020204" charset="0"/>
                    <a:ea typeface="OPPOSans H" panose="00020600040101010101" charset="-122"/>
                    <a:cs typeface="Arial Black" panose="020B0A04020102020204" charset="0"/>
                  </a:rPr>
                  <a:t>Pathway Annotations</a:t>
                </a:r>
                <a:endParaRPr lang="en-US" altLang="zh-CN" sz="1800" spc="100" dirty="0">
                  <a:solidFill>
                    <a:schemeClr val="bg1"/>
                  </a:solidFill>
                  <a:latin typeface="Arial Black" panose="020B0A04020102020204" charset="0"/>
                  <a:ea typeface="OPPOSans H" panose="00020600040101010101" charset="-122"/>
                  <a:cs typeface="Arial Black" panose="020B0A04020102020204" charset="0"/>
                </a:endParaRPr>
              </a:p>
              <a:p>
                <a:pPr algn="l">
                  <a:buClrTx/>
                  <a:buSzTx/>
                  <a:buNone/>
                </a:pPr>
                <a:r>
                  <a:rPr lang="en-US" altLang="zh-CN" sz="1800" spc="100" dirty="0">
                    <a:solidFill>
                      <a:schemeClr val="bg1"/>
                    </a:solidFill>
                    <a:latin typeface="Arial Black" panose="020B0A04020102020204" charset="0"/>
                    <a:ea typeface="OPPOSans H" panose="00020600040101010101" charset="-122"/>
                    <a:cs typeface="Arial Black" panose="020B0A04020102020204" charset="0"/>
                  </a:rPr>
                  <a:t>/ 5</a:t>
                </a:r>
                <a:endParaRPr lang="en-US" altLang="zh-CN" sz="1800" spc="100" dirty="0">
                  <a:solidFill>
                    <a:schemeClr val="bg1"/>
                  </a:solidFill>
                  <a:latin typeface="Arial Black" panose="020B0A04020102020204" charset="0"/>
                  <a:ea typeface="OPPOSans H" panose="00020600040101010101" charset="-122"/>
                  <a:cs typeface="Arial Black" panose="020B0A04020102020204" charset="0"/>
                </a:endParaRPr>
              </a:p>
            </p:txBody>
          </p:sp>
          <p:sp>
            <p:nvSpPr>
              <p:cNvPr id="42" name="Rectangle 49"/>
              <p:cNvSpPr/>
              <p:nvPr/>
            </p:nvSpPr>
            <p:spPr>
              <a:xfrm>
                <a:off x="750004" y="4577984"/>
                <a:ext cx="1883102" cy="265305"/>
              </a:xfrm>
              <a:prstGeom prst="rect">
                <a:avLst/>
              </a:prstGeom>
              <a:grpFill/>
              <a:ln>
                <a:noFill/>
              </a:ln>
            </p:spPr>
            <p:txBody>
              <a:bodyPr wrap="square">
                <a:spAutoFit/>
              </a:bodyPr>
              <a:p>
                <a:pPr>
                  <a:lnSpc>
                    <a:spcPct val="90000"/>
                  </a:lnSpc>
                </a:pPr>
                <a:r>
                  <a:rPr lang="en-US" altLang="zh-CN" sz="1200" dirty="0">
                    <a:solidFill>
                      <a:schemeClr val="bg1"/>
                    </a:solidFill>
                    <a:latin typeface="Times New Roman Regular" panose="02020503050405090304" charset="0"/>
                    <a:cs typeface="Times New Roman Regular" panose="02020503050405090304" charset="0"/>
                  </a:rPr>
                  <a:t>MSigDB</a:t>
                </a:r>
                <a:endParaRPr lang="en-US" altLang="zh-CN" sz="1600" dirty="0">
                  <a:solidFill>
                    <a:schemeClr val="bg1"/>
                  </a:solidFill>
                  <a:latin typeface="Times New Roman Regular" panose="02020503050405090304" charset="0"/>
                  <a:cs typeface="Times New Roman Regular" panose="02020503050405090304" charset="0"/>
                </a:endParaRPr>
              </a:p>
            </p:txBody>
          </p:sp>
          <p:sp>
            <p:nvSpPr>
              <p:cNvPr id="43" name="Rectangle 50"/>
              <p:cNvSpPr/>
              <p:nvPr/>
            </p:nvSpPr>
            <p:spPr>
              <a:xfrm>
                <a:off x="733065" y="4932857"/>
                <a:ext cx="2441851" cy="1186306"/>
              </a:xfrm>
              <a:prstGeom prst="rect">
                <a:avLst/>
              </a:prstGeom>
              <a:noFill/>
              <a:ln>
                <a:noFill/>
              </a:ln>
              <a:extLst>
                <a:ext uri="{909E8E84-426E-40DD-AFC4-6F175D3DCCD1}">
                  <a14:hiddenFill xmlns:a14="http://schemas.microsoft.com/office/drawing/2010/main">
                    <a:grpFill/>
                  </a14:hiddenFill>
                </a:ext>
              </a:extLst>
            </p:spPr>
            <p:txBody>
              <a:bodyPr wrap="square">
                <a:noAutofit/>
              </a:bodyPr>
              <a:p>
                <a:pPr algn="l">
                  <a:lnSpc>
                    <a:spcPct val="110000"/>
                  </a:lnSpc>
                  <a:buClrTx/>
                  <a:buSzTx/>
                  <a:buFontTx/>
                </a:pPr>
                <a:r>
                  <a:rPr lang="en-US" altLang="zh-CN" sz="1000" dirty="0">
                    <a:solidFill>
                      <a:schemeClr val="bg1"/>
                    </a:solidFill>
                    <a:latin typeface="Times New Roman Regular" panose="02020503050405090304" charset="0"/>
                    <a:ea typeface="OPPOSans H" panose="00020600040101010101" charset="-122"/>
                    <a:cs typeface="Times New Roman Regular" panose="02020503050405090304" charset="0"/>
                  </a:rPr>
                  <a:t>A total of 3,917 curated functional pathways (including signaling, biological processes, and metabolism) were used for aggregation and pathway-level differential analysis.</a:t>
                </a:r>
                <a:endParaRPr lang="en-US" altLang="zh-CN" sz="1000" dirty="0">
                  <a:solidFill>
                    <a:schemeClr val="bg1"/>
                  </a:solidFill>
                  <a:latin typeface="Times New Roman Regular" panose="02020503050405090304" charset="0"/>
                  <a:ea typeface="OPPOSans H" panose="00020600040101010101" charset="-122"/>
                  <a:cs typeface="Times New Roman Regular" panose="02020503050405090304" charset="0"/>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456386" cy="6858000"/>
          </a:xfrm>
          <a:prstGeom prst="rect">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Regular" panose="02020503050405090304" charset="0"/>
              <a:cs typeface="Times New Roman Regular" panose="02020503050405090304" charset="0"/>
            </a:endParaRPr>
          </a:p>
        </p:txBody>
      </p:sp>
      <p:sp>
        <p:nvSpPr>
          <p:cNvPr id="9" name="Rectangle 8"/>
          <p:cNvSpPr/>
          <p:nvPr/>
        </p:nvSpPr>
        <p:spPr>
          <a:xfrm>
            <a:off x="6757670" y="4107180"/>
            <a:ext cx="3630930" cy="516890"/>
          </a:xfrm>
          <a:prstGeom prst="rect">
            <a:avLst/>
          </a:prstGeom>
        </p:spPr>
        <p:txBody>
          <a:bodyPr wrap="square">
            <a:noAutofit/>
          </a:bodyPr>
          <a:lstStyle/>
          <a:p>
            <a:pPr algn="just">
              <a:lnSpc>
                <a:spcPct val="110000"/>
              </a:lnSpc>
            </a:pPr>
            <a:r>
              <a:rPr lang="en-US" altLang="zh-CN" sz="1200" dirty="0">
                <a:solidFill>
                  <a:schemeClr val="tx1">
                    <a:lumMod val="75000"/>
                    <a:lumOff val="25000"/>
                  </a:schemeClr>
                </a:solidFill>
                <a:latin typeface="Times New Roman Regular" panose="02020503050405090304" charset="0"/>
                <a:ea typeface="Open Sans Light" panose="020B0306030504020204" pitchFamily="34" charset="0"/>
                <a:cs typeface="Times New Roman Regular" panose="02020503050405090304" charset="0"/>
              </a:rPr>
              <a:t>Our three-task framework integrates transcriptomic, epigenetic, and transcriptional regulatory data to uncover the functional role and cancer specificity of MIR100HG.</a:t>
            </a:r>
            <a:endParaRPr lang="en-US" altLang="zh-CN" sz="1200" dirty="0">
              <a:solidFill>
                <a:schemeClr val="tx1">
                  <a:lumMod val="75000"/>
                  <a:lumOff val="25000"/>
                </a:schemeClr>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23" name="Rectangle 22"/>
          <p:cNvSpPr/>
          <p:nvPr/>
        </p:nvSpPr>
        <p:spPr>
          <a:xfrm>
            <a:off x="6757380" y="3462406"/>
            <a:ext cx="3631215" cy="533400"/>
          </a:xfrm>
          <a:prstGeom prst="rect">
            <a:avLst/>
          </a:prstGeom>
        </p:spPr>
        <p:txBody>
          <a:bodyPr wrap="square">
            <a:spAutoFit/>
          </a:bodyPr>
          <a:lstStyle/>
          <a:p>
            <a:pPr algn="just">
              <a:lnSpc>
                <a:spcPct val="90000"/>
              </a:lnSpc>
            </a:pPr>
            <a:r>
              <a:rPr lang="en-US" altLang="zh-CN" sz="1600" dirty="0">
                <a:solidFill>
                  <a:schemeClr val="tx1">
                    <a:lumMod val="75000"/>
                    <a:lumOff val="25000"/>
                  </a:schemeClr>
                </a:solidFill>
                <a:latin typeface="Times New Roman Regular" panose="02020503050405090304" charset="0"/>
                <a:cs typeface="Times New Roman Regular" panose="02020503050405090304" charset="0"/>
              </a:rPr>
              <a:t>Predictive Modeling of MIR100HG through Integrative Multi-Omics Analysis</a:t>
            </a:r>
            <a:endParaRPr lang="en-US" altLang="zh-CN" sz="1600" dirty="0">
              <a:solidFill>
                <a:schemeClr val="tx1">
                  <a:lumMod val="75000"/>
                  <a:lumOff val="25000"/>
                </a:schemeClr>
              </a:solidFill>
              <a:latin typeface="Times New Roman Regular" panose="02020503050405090304" charset="0"/>
              <a:cs typeface="Times New Roman Regular" panose="02020503050405090304" charset="0"/>
            </a:endParaRPr>
          </a:p>
        </p:txBody>
      </p:sp>
      <p:sp>
        <p:nvSpPr>
          <p:cNvPr id="14" name="Rectangle: Rounded Corners 13"/>
          <p:cNvSpPr/>
          <p:nvPr/>
        </p:nvSpPr>
        <p:spPr>
          <a:xfrm rot="5400000">
            <a:off x="5614670" y="1361440"/>
            <a:ext cx="160655" cy="160655"/>
          </a:xfrm>
          <a:prstGeom prst="roundRect">
            <a:avLst>
              <a:gd name="adj" fmla="val 50000"/>
            </a:avLst>
          </a:prstGeom>
          <a:solidFill>
            <a:srgbClr val="AE192C"/>
          </a:solidFill>
          <a:ln w="177800">
            <a:solidFill>
              <a:srgbClr val="DD919A">
                <a:alpha val="21000"/>
              </a:srgbClr>
            </a:solidFill>
          </a:ln>
          <a:effectLst>
            <a:outerShdw blurRad="469900" dist="38100" dir="2700000" sx="121000" sy="121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latin typeface="Times New Roman Regular" panose="02020503050405090304" charset="0"/>
              <a:cs typeface="Times New Roman Regular" panose="02020503050405090304" charset="0"/>
            </a:endParaRPr>
          </a:p>
        </p:txBody>
      </p:sp>
      <p:cxnSp>
        <p:nvCxnSpPr>
          <p:cNvPr id="13" name="Straight Connector 12"/>
          <p:cNvCxnSpPr>
            <a:stCxn id="14" idx="3"/>
          </p:cNvCxnSpPr>
          <p:nvPr/>
        </p:nvCxnSpPr>
        <p:spPr>
          <a:xfrm>
            <a:off x="5694680" y="1522095"/>
            <a:ext cx="0" cy="5961380"/>
          </a:xfrm>
          <a:prstGeom prst="line">
            <a:avLst/>
          </a:prstGeom>
          <a:ln w="15875" cap="flat" cmpd="sng">
            <a:solidFill>
              <a:srgbClr val="AE192C"/>
            </a:solidFill>
            <a:prstDash val="solid"/>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15" name="Rectangle: Rounded Corners 14"/>
          <p:cNvSpPr/>
          <p:nvPr/>
        </p:nvSpPr>
        <p:spPr>
          <a:xfrm rot="5400000">
            <a:off x="5614670" y="3348355"/>
            <a:ext cx="160655" cy="160655"/>
          </a:xfrm>
          <a:prstGeom prst="roundRect">
            <a:avLst>
              <a:gd name="adj" fmla="val 50000"/>
            </a:avLst>
          </a:prstGeom>
          <a:solidFill>
            <a:srgbClr val="AE192C"/>
          </a:solidFill>
          <a:ln w="177800">
            <a:solidFill>
              <a:srgbClr val="DD919A">
                <a:alpha val="21000"/>
              </a:srgbClr>
            </a:solidFill>
          </a:ln>
          <a:effectLst>
            <a:outerShdw blurRad="469900" dist="38100" dir="2700000" sx="121000" sy="121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latin typeface="Times New Roman Regular" panose="02020503050405090304" charset="0"/>
              <a:cs typeface="Times New Roman Regular" panose="02020503050405090304" charset="0"/>
            </a:endParaRPr>
          </a:p>
        </p:txBody>
      </p:sp>
      <p:sp>
        <p:nvSpPr>
          <p:cNvPr id="16" name="Rectangle: Rounded Corners 15"/>
          <p:cNvSpPr/>
          <p:nvPr/>
        </p:nvSpPr>
        <p:spPr>
          <a:xfrm rot="5400000">
            <a:off x="5614670" y="5335905"/>
            <a:ext cx="160655" cy="160655"/>
          </a:xfrm>
          <a:prstGeom prst="roundRect">
            <a:avLst>
              <a:gd name="adj" fmla="val 50000"/>
            </a:avLst>
          </a:prstGeom>
          <a:solidFill>
            <a:srgbClr val="AE192C"/>
          </a:solidFill>
          <a:ln w="177800">
            <a:solidFill>
              <a:srgbClr val="DD919A">
                <a:alpha val="21000"/>
              </a:srgbClr>
            </a:solidFill>
          </a:ln>
          <a:effectLst>
            <a:outerShdw blurRad="469900" dist="38100" dir="2700000" sx="121000" sy="121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latin typeface="Times New Roman Regular" panose="02020503050405090304" charset="0"/>
              <a:cs typeface="Times New Roman Regular" panose="02020503050405090304" charset="0"/>
            </a:endParaRPr>
          </a:p>
        </p:txBody>
      </p:sp>
      <p:sp>
        <p:nvSpPr>
          <p:cNvPr id="19" name="Rectangle: Rounded Corners 18"/>
          <p:cNvSpPr/>
          <p:nvPr/>
        </p:nvSpPr>
        <p:spPr>
          <a:xfrm rot="5400000">
            <a:off x="5614670" y="7322820"/>
            <a:ext cx="160655" cy="160655"/>
          </a:xfrm>
          <a:prstGeom prst="roundRect">
            <a:avLst>
              <a:gd name="adj" fmla="val 50000"/>
            </a:avLst>
          </a:prstGeom>
          <a:solidFill>
            <a:srgbClr val="AE192C"/>
          </a:solidFill>
          <a:ln w="177800">
            <a:solidFill>
              <a:srgbClr val="DD919A">
                <a:alpha val="21000"/>
              </a:srgbClr>
            </a:solidFill>
          </a:ln>
          <a:effectLst>
            <a:outerShdw blurRad="469900" dist="38100" dir="2700000" sx="121000" sy="121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latin typeface="Times New Roman Regular" panose="02020503050405090304" charset="0"/>
              <a:cs typeface="Times New Roman Regular" panose="02020503050405090304" charset="0"/>
            </a:endParaRPr>
          </a:p>
        </p:txBody>
      </p:sp>
      <p:grpSp>
        <p:nvGrpSpPr>
          <p:cNvPr id="4" name="Group 3"/>
          <p:cNvGrpSpPr/>
          <p:nvPr/>
        </p:nvGrpSpPr>
        <p:grpSpPr>
          <a:xfrm rot="0">
            <a:off x="609600" y="571500"/>
            <a:ext cx="4603750" cy="1740535"/>
            <a:chOff x="609600" y="571500"/>
            <a:chExt cx="4603531" cy="1740776"/>
          </a:xfrm>
        </p:grpSpPr>
        <p:sp>
          <p:nvSpPr>
            <p:cNvPr id="3" name="Rectangle 2"/>
            <p:cNvSpPr/>
            <p:nvPr/>
          </p:nvSpPr>
          <p:spPr>
            <a:xfrm>
              <a:off x="609600" y="571500"/>
              <a:ext cx="4603531" cy="1740776"/>
            </a:xfrm>
            <a:prstGeom prst="rect">
              <a:avLst/>
            </a:prstGeom>
            <a:solidFill>
              <a:schemeClr val="bg1"/>
            </a:solidFill>
            <a:ln>
              <a:noFill/>
            </a:ln>
            <a:effectLst>
              <a:outerShdw blurRad="546100" dist="152400" dir="2700000" sx="97000" sy="97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Regular" panose="02020503050405090304" charset="0"/>
                <a:cs typeface="Times New Roman Regular" panose="02020503050405090304" charset="0"/>
              </a:endParaRPr>
            </a:p>
          </p:txBody>
        </p:sp>
        <p:grpSp>
          <p:nvGrpSpPr>
            <p:cNvPr id="35" name="Group 34"/>
            <p:cNvGrpSpPr/>
            <p:nvPr/>
          </p:nvGrpSpPr>
          <p:grpSpPr>
            <a:xfrm>
              <a:off x="886534" y="930014"/>
              <a:ext cx="4020473" cy="1032182"/>
              <a:chOff x="886534" y="930014"/>
              <a:chExt cx="4020473" cy="1032182"/>
            </a:xfrm>
          </p:grpSpPr>
          <p:sp>
            <p:nvSpPr>
              <p:cNvPr id="27" name="Rectangle 26"/>
              <p:cNvSpPr/>
              <p:nvPr/>
            </p:nvSpPr>
            <p:spPr>
              <a:xfrm>
                <a:off x="886534" y="1088129"/>
                <a:ext cx="1074420" cy="706755"/>
              </a:xfrm>
              <a:prstGeom prst="rect">
                <a:avLst/>
              </a:prstGeom>
            </p:spPr>
            <p:txBody>
              <a:bodyPr wrap="square">
                <a:spAutoFit/>
              </a:bodyPr>
              <a:lstStyle/>
              <a:p>
                <a:r>
                  <a:rPr lang="en-US" sz="40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rPr>
                  <a:t>01</a:t>
                </a:r>
                <a:endParaRPr lang="en-US" sz="40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endParaRPr>
              </a:p>
            </p:txBody>
          </p:sp>
          <p:grpSp>
            <p:nvGrpSpPr>
              <p:cNvPr id="33" name="Group 32"/>
              <p:cNvGrpSpPr/>
              <p:nvPr/>
            </p:nvGrpSpPr>
            <p:grpSpPr>
              <a:xfrm>
                <a:off x="1961268" y="930014"/>
                <a:ext cx="2945739" cy="1032182"/>
                <a:chOff x="1961268" y="1078030"/>
                <a:chExt cx="2945739" cy="1032182"/>
              </a:xfrm>
            </p:grpSpPr>
            <p:sp>
              <p:nvSpPr>
                <p:cNvPr id="26" name="Rectangle 25"/>
                <p:cNvSpPr/>
                <p:nvPr/>
              </p:nvSpPr>
              <p:spPr>
                <a:xfrm>
                  <a:off x="1961268" y="1078030"/>
                  <a:ext cx="2945737" cy="312463"/>
                </a:xfrm>
                <a:prstGeom prst="rect">
                  <a:avLst/>
                </a:prstGeom>
              </p:spPr>
              <p:txBody>
                <a:bodyPr wrap="square">
                  <a:spAutoFit/>
                </a:bodyPr>
                <a:lstStyle/>
                <a:p>
                  <a:pPr algn="l">
                    <a:lnSpc>
                      <a:spcPct val="90000"/>
                    </a:lnSpc>
                    <a:buClrTx/>
                    <a:buSzTx/>
                    <a:buFontTx/>
                  </a:pPr>
                  <a:r>
                    <a:rPr lang="en-US" altLang="zh-CN" sz="1600" b="1" dirty="0">
                      <a:solidFill>
                        <a:srgbClr val="AE192C"/>
                      </a:solidFill>
                      <a:latin typeface="Times New Roman Bold" panose="02020503050405090304" charset="0"/>
                      <a:ea typeface="OPPOSans H" panose="00020600040101010101" charset="-122"/>
                      <a:cs typeface="Times New Roman Bold" panose="02020503050405090304" charset="0"/>
                    </a:rPr>
                    <a:t>Task 1 – Cancer</a:t>
                  </a:r>
                  <a:endParaRPr lang="en-US" altLang="zh-CN" sz="1600" b="1" dirty="0">
                    <a:solidFill>
                      <a:srgbClr val="AE192C"/>
                    </a:solidFill>
                    <a:latin typeface="Times New Roman Bold" panose="02020503050405090304" charset="0"/>
                    <a:ea typeface="OPPOSans H" panose="00020600040101010101" charset="-122"/>
                    <a:cs typeface="Times New Roman Bold" panose="02020503050405090304" charset="0"/>
                  </a:endParaRPr>
                </a:p>
              </p:txBody>
            </p:sp>
            <p:sp>
              <p:nvSpPr>
                <p:cNvPr id="31" name="Rectangle 30"/>
                <p:cNvSpPr/>
                <p:nvPr/>
              </p:nvSpPr>
              <p:spPr>
                <a:xfrm>
                  <a:off x="1961269" y="1411077"/>
                  <a:ext cx="2945738" cy="699135"/>
                </a:xfrm>
                <a:prstGeom prst="rect">
                  <a:avLst/>
                </a:prstGeom>
              </p:spPr>
              <p:txBody>
                <a:bodyPr wrap="square">
                  <a:spAutoFit/>
                </a:bodyPr>
                <a:lstStyle/>
                <a:p>
                  <a:pPr algn="l">
                    <a:lnSpc>
                      <a:spcPct val="110000"/>
                    </a:lnSpc>
                  </a:pPr>
                  <a:r>
                    <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rPr>
                    <a:t>Identify key genes and regulators associated with MIR100HG.Compare common vs. cancer-specific features.</a:t>
                  </a:r>
                  <a:endPar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endParaRPr>
                </a:p>
              </p:txBody>
            </p:sp>
          </p:grpSp>
        </p:grpSp>
      </p:grpSp>
      <p:grpSp>
        <p:nvGrpSpPr>
          <p:cNvPr id="5" name="Group 4"/>
          <p:cNvGrpSpPr/>
          <p:nvPr/>
        </p:nvGrpSpPr>
        <p:grpSpPr>
          <a:xfrm rot="0">
            <a:off x="609600" y="2558415"/>
            <a:ext cx="4603750" cy="1740535"/>
            <a:chOff x="609600" y="2558612"/>
            <a:chExt cx="4603531" cy="1740776"/>
          </a:xfrm>
        </p:grpSpPr>
        <p:sp>
          <p:nvSpPr>
            <p:cNvPr id="6" name="Rectangle 5"/>
            <p:cNvSpPr/>
            <p:nvPr/>
          </p:nvSpPr>
          <p:spPr>
            <a:xfrm>
              <a:off x="609600" y="2558612"/>
              <a:ext cx="4603531" cy="1740776"/>
            </a:xfrm>
            <a:prstGeom prst="rect">
              <a:avLst/>
            </a:prstGeom>
            <a:solidFill>
              <a:schemeClr val="bg1"/>
            </a:solidFill>
            <a:ln>
              <a:noFill/>
            </a:ln>
            <a:effectLst>
              <a:outerShdw blurRad="546100" dist="152400" dir="2700000" sx="97000" sy="97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Regular" panose="02020503050405090304" charset="0"/>
                <a:cs typeface="Times New Roman Regular" panose="02020503050405090304" charset="0"/>
              </a:endParaRPr>
            </a:p>
          </p:txBody>
        </p:sp>
        <p:grpSp>
          <p:nvGrpSpPr>
            <p:cNvPr id="36" name="Group 35"/>
            <p:cNvGrpSpPr/>
            <p:nvPr/>
          </p:nvGrpSpPr>
          <p:grpSpPr>
            <a:xfrm>
              <a:off x="886534" y="2770421"/>
              <a:ext cx="4325779" cy="1411801"/>
              <a:chOff x="886534" y="783309"/>
              <a:chExt cx="4325779" cy="1411801"/>
            </a:xfrm>
          </p:grpSpPr>
          <p:sp>
            <p:nvSpPr>
              <p:cNvPr id="37" name="Rectangle 36"/>
              <p:cNvSpPr/>
              <p:nvPr/>
            </p:nvSpPr>
            <p:spPr>
              <a:xfrm>
                <a:off x="886534" y="1088129"/>
                <a:ext cx="1074420" cy="706755"/>
              </a:xfrm>
              <a:prstGeom prst="rect">
                <a:avLst/>
              </a:prstGeom>
            </p:spPr>
            <p:txBody>
              <a:bodyPr wrap="square">
                <a:spAutoFit/>
              </a:bodyPr>
              <a:lstStyle/>
              <a:p>
                <a:r>
                  <a:rPr lang="en-US" sz="40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rPr>
                  <a:t>02</a:t>
                </a:r>
                <a:endParaRPr lang="en-US" sz="40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endParaRPr>
              </a:p>
            </p:txBody>
          </p:sp>
          <p:grpSp>
            <p:nvGrpSpPr>
              <p:cNvPr id="38" name="Group 37"/>
              <p:cNvGrpSpPr/>
              <p:nvPr/>
            </p:nvGrpSpPr>
            <p:grpSpPr>
              <a:xfrm>
                <a:off x="1961268" y="783309"/>
                <a:ext cx="3251045" cy="1411801"/>
                <a:chOff x="1961268" y="931325"/>
                <a:chExt cx="3251045" cy="1411801"/>
              </a:xfrm>
            </p:grpSpPr>
            <p:sp>
              <p:nvSpPr>
                <p:cNvPr id="39" name="Rectangle 38"/>
                <p:cNvSpPr/>
                <p:nvPr/>
              </p:nvSpPr>
              <p:spPr>
                <a:xfrm>
                  <a:off x="1961268" y="931325"/>
                  <a:ext cx="3050395" cy="665572"/>
                </a:xfrm>
                <a:prstGeom prst="rect">
                  <a:avLst/>
                </a:prstGeom>
              </p:spPr>
              <p:txBody>
                <a:bodyPr wrap="square">
                  <a:noAutofit/>
                </a:bodyPr>
                <a:lstStyle/>
                <a:p>
                  <a:pPr algn="l">
                    <a:lnSpc>
                      <a:spcPct val="90000"/>
                    </a:lnSpc>
                    <a:buClrTx/>
                    <a:buSzTx/>
                    <a:buFontTx/>
                  </a:pPr>
                  <a:r>
                    <a:rPr lang="en-US" altLang="zh-CN" sz="1600" b="1" dirty="0">
                      <a:solidFill>
                        <a:srgbClr val="AE192C"/>
                      </a:solidFill>
                      <a:latin typeface="Times New Roman Bold" panose="02020503050405090304" charset="0"/>
                      <a:ea typeface="OPPOSans H" panose="00020600040101010101" charset="-122"/>
                      <a:cs typeface="Times New Roman Bold" panose="02020503050405090304" charset="0"/>
                    </a:rPr>
                    <a:t>Task 2 – Normal and </a:t>
                  </a:r>
                  <a:r>
                    <a:rPr lang="en-US" altLang="zh-CN" sz="1600" b="1" dirty="0">
                      <a:solidFill>
                        <a:srgbClr val="AE192C"/>
                      </a:solidFill>
                      <a:latin typeface="Times New Roman Bold" panose="02020503050405090304" charset="0"/>
                      <a:ea typeface="OPPOSans H" panose="00020600040101010101" charset="-122"/>
                      <a:cs typeface="Times New Roman Bold" panose="02020503050405090304" charset="0"/>
                      <a:sym typeface="+mn-ea"/>
                    </a:rPr>
                    <a:t>Cancer vs. Normal</a:t>
                  </a:r>
                  <a:endParaRPr lang="en-US" altLang="zh-CN" sz="1600" b="1" dirty="0">
                    <a:solidFill>
                      <a:srgbClr val="AE192C"/>
                    </a:solidFill>
                    <a:latin typeface="Times New Roman Bold" panose="02020503050405090304" charset="0"/>
                    <a:ea typeface="OPPOSans H" panose="00020600040101010101" charset="-122"/>
                    <a:cs typeface="Times New Roman Bold" panose="02020503050405090304" charset="0"/>
                  </a:endParaRPr>
                </a:p>
                <a:p>
                  <a:pPr algn="l">
                    <a:lnSpc>
                      <a:spcPct val="90000"/>
                    </a:lnSpc>
                    <a:buClrTx/>
                    <a:buSzTx/>
                    <a:buFontTx/>
                  </a:pPr>
                  <a:endParaRPr lang="en-US" altLang="zh-CN" sz="1600" b="1" dirty="0">
                    <a:solidFill>
                      <a:srgbClr val="AE192C"/>
                    </a:solidFill>
                    <a:latin typeface="Times New Roman Bold" panose="02020503050405090304" charset="0"/>
                    <a:ea typeface="OPPOSans H" panose="00020600040101010101" charset="-122"/>
                    <a:cs typeface="Times New Roman Bold" panose="02020503050405090304" charset="0"/>
                  </a:endParaRPr>
                </a:p>
              </p:txBody>
            </p:sp>
            <p:sp>
              <p:nvSpPr>
                <p:cNvPr id="40" name="Rectangle 39"/>
                <p:cNvSpPr/>
                <p:nvPr/>
              </p:nvSpPr>
              <p:spPr>
                <a:xfrm>
                  <a:off x="1961268" y="1499729"/>
                  <a:ext cx="3251045" cy="843397"/>
                </a:xfrm>
                <a:prstGeom prst="rect">
                  <a:avLst/>
                </a:prstGeom>
              </p:spPr>
              <p:txBody>
                <a:bodyPr wrap="square">
                  <a:noAutofit/>
                </a:bodyPr>
                <a:lstStyle/>
                <a:p>
                  <a:pPr algn="l">
                    <a:lnSpc>
                      <a:spcPct val="110000"/>
                    </a:lnSpc>
                    <a:buClrTx/>
                    <a:buSzTx/>
                    <a:buFontTx/>
                  </a:pPr>
                  <a:r>
                    <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rPr>
                    <a:t>Investigate MIR100HG expression in the healthy. </a:t>
                  </a:r>
                  <a:r>
                    <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sym typeface="+mn-ea"/>
                    </a:rPr>
                    <a:t>Compare tumor and matched normal tissue results .Identifying cancer-specific regulation</a:t>
                  </a:r>
                  <a:endPar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endParaRPr>
                </a:p>
                <a:p>
                  <a:pPr algn="l">
                    <a:lnSpc>
                      <a:spcPct val="110000"/>
                    </a:lnSpc>
                    <a:buClrTx/>
                    <a:buSzTx/>
                    <a:buFontTx/>
                  </a:pPr>
                  <a:r>
                    <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rPr>
                    <a:t>.</a:t>
                  </a:r>
                  <a:endPar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endParaRPr>
                </a:p>
              </p:txBody>
            </p:sp>
          </p:grpSp>
        </p:grpSp>
      </p:grpSp>
      <p:grpSp>
        <p:nvGrpSpPr>
          <p:cNvPr id="10" name="Group 9"/>
          <p:cNvGrpSpPr/>
          <p:nvPr/>
        </p:nvGrpSpPr>
        <p:grpSpPr>
          <a:xfrm rot="0">
            <a:off x="609600" y="4545965"/>
            <a:ext cx="4603750" cy="1740535"/>
            <a:chOff x="609599" y="4545724"/>
            <a:chExt cx="4603531" cy="1740776"/>
          </a:xfrm>
        </p:grpSpPr>
        <p:sp>
          <p:nvSpPr>
            <p:cNvPr id="7" name="Rectangle 6"/>
            <p:cNvSpPr/>
            <p:nvPr/>
          </p:nvSpPr>
          <p:spPr>
            <a:xfrm>
              <a:off x="609599" y="4545724"/>
              <a:ext cx="4603531" cy="1740776"/>
            </a:xfrm>
            <a:prstGeom prst="rect">
              <a:avLst/>
            </a:prstGeom>
            <a:solidFill>
              <a:schemeClr val="bg1"/>
            </a:solidFill>
            <a:ln>
              <a:noFill/>
            </a:ln>
            <a:effectLst>
              <a:outerShdw blurRad="546100" dist="152400" dir="2700000" sx="97000" sy="97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Regular" panose="02020503050405090304" charset="0"/>
                <a:cs typeface="Times New Roman Regular" panose="02020503050405090304" charset="0"/>
              </a:endParaRPr>
            </a:p>
          </p:txBody>
        </p:sp>
        <p:grpSp>
          <p:nvGrpSpPr>
            <p:cNvPr id="41" name="Group 40"/>
            <p:cNvGrpSpPr/>
            <p:nvPr/>
          </p:nvGrpSpPr>
          <p:grpSpPr>
            <a:xfrm>
              <a:off x="886534" y="4904238"/>
              <a:ext cx="4020473" cy="1032279"/>
              <a:chOff x="886534" y="930014"/>
              <a:chExt cx="4020473" cy="1032279"/>
            </a:xfrm>
          </p:grpSpPr>
          <p:sp>
            <p:nvSpPr>
              <p:cNvPr id="42" name="Rectangle 41"/>
              <p:cNvSpPr/>
              <p:nvPr/>
            </p:nvSpPr>
            <p:spPr>
              <a:xfrm>
                <a:off x="886534" y="1088129"/>
                <a:ext cx="1186815" cy="706755"/>
              </a:xfrm>
              <a:prstGeom prst="rect">
                <a:avLst/>
              </a:prstGeom>
            </p:spPr>
            <p:txBody>
              <a:bodyPr wrap="square">
                <a:spAutoFit/>
              </a:bodyPr>
              <a:lstStyle/>
              <a:p>
                <a:r>
                  <a:rPr lang="en-US" sz="40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rPr>
                  <a:t>03</a:t>
                </a:r>
                <a:endParaRPr lang="en-US" sz="40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endParaRPr>
              </a:p>
            </p:txBody>
          </p:sp>
          <p:grpSp>
            <p:nvGrpSpPr>
              <p:cNvPr id="43" name="Group 42"/>
              <p:cNvGrpSpPr/>
              <p:nvPr/>
            </p:nvGrpSpPr>
            <p:grpSpPr>
              <a:xfrm>
                <a:off x="1961268" y="930014"/>
                <a:ext cx="2945739" cy="1032279"/>
                <a:chOff x="1961268" y="1078030"/>
                <a:chExt cx="2945739" cy="1032279"/>
              </a:xfrm>
            </p:grpSpPr>
            <p:sp>
              <p:nvSpPr>
                <p:cNvPr id="44" name="Rectangle 43"/>
                <p:cNvSpPr/>
                <p:nvPr/>
              </p:nvSpPr>
              <p:spPr>
                <a:xfrm>
                  <a:off x="1961268" y="1078030"/>
                  <a:ext cx="2945737" cy="312463"/>
                </a:xfrm>
                <a:prstGeom prst="rect">
                  <a:avLst/>
                </a:prstGeom>
              </p:spPr>
              <p:txBody>
                <a:bodyPr wrap="square">
                  <a:spAutoFit/>
                </a:bodyPr>
                <a:lstStyle/>
                <a:p>
                  <a:pPr>
                    <a:lnSpc>
                      <a:spcPct val="90000"/>
                    </a:lnSpc>
                  </a:pPr>
                  <a:r>
                    <a:rPr lang="en-US" altLang="zh-CN" sz="1600" b="1" dirty="0">
                      <a:solidFill>
                        <a:srgbClr val="AE192C"/>
                      </a:solidFill>
                      <a:latin typeface="Times New Roman Bold" panose="02020503050405090304" charset="0"/>
                      <a:ea typeface="OPPOSans H" panose="00020600040101010101" charset="-122"/>
                      <a:cs typeface="Times New Roman Bold" panose="02020503050405090304" charset="0"/>
                    </a:rPr>
                    <a:t>Task 3 – Prognostic analysis</a:t>
                  </a:r>
                  <a:endParaRPr lang="en-US" altLang="zh-CN" sz="1600" b="1" dirty="0">
                    <a:solidFill>
                      <a:srgbClr val="AE192C"/>
                    </a:solidFill>
                    <a:latin typeface="Times New Roman Bold" panose="02020503050405090304" charset="0"/>
                    <a:ea typeface="OPPOSans H" panose="00020600040101010101" charset="-122"/>
                    <a:cs typeface="Times New Roman Bold" panose="02020503050405090304" charset="0"/>
                  </a:endParaRPr>
                </a:p>
              </p:txBody>
            </p:sp>
            <p:sp>
              <p:nvSpPr>
                <p:cNvPr id="45" name="Rectangle 44"/>
                <p:cNvSpPr/>
                <p:nvPr/>
              </p:nvSpPr>
              <p:spPr>
                <a:xfrm>
                  <a:off x="1961269" y="1411077"/>
                  <a:ext cx="2945738" cy="699232"/>
                </a:xfrm>
                <a:prstGeom prst="rect">
                  <a:avLst/>
                </a:prstGeom>
              </p:spPr>
              <p:txBody>
                <a:bodyPr wrap="square">
                  <a:spAutoFit/>
                </a:bodyPr>
                <a:lstStyle/>
                <a:p>
                  <a:pPr algn="l">
                    <a:lnSpc>
                      <a:spcPct val="110000"/>
                    </a:lnSpc>
                    <a:buClrTx/>
                    <a:buSzTx/>
                    <a:buFontTx/>
                  </a:pPr>
                  <a:r>
                    <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rPr>
                    <a:t>Test whether your model’s predictions of MIR100HG expression can help stratify patients with an effect on their prognosis.</a:t>
                  </a:r>
                  <a:endPar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endParaRPr>
                </a:p>
              </p:txBody>
            </p:sp>
          </p:grpSp>
        </p:grpSp>
      </p:grpSp>
      <p:grpSp>
        <p:nvGrpSpPr>
          <p:cNvPr id="11" name="组合 10"/>
          <p:cNvGrpSpPr/>
          <p:nvPr/>
        </p:nvGrpSpPr>
        <p:grpSpPr>
          <a:xfrm>
            <a:off x="6757670" y="1361440"/>
            <a:ext cx="5998845" cy="1484630"/>
            <a:chOff x="10378" y="2386"/>
            <a:chExt cx="8427" cy="2842"/>
          </a:xfrm>
        </p:grpSpPr>
        <p:sp>
          <p:nvSpPr>
            <p:cNvPr id="12" name="TextBox 34"/>
            <p:cNvSpPr txBox="1"/>
            <p:nvPr>
              <p:custDataLst>
                <p:tags r:id="rId1"/>
              </p:custDataLst>
            </p:nvPr>
          </p:nvSpPr>
          <p:spPr>
            <a:xfrm>
              <a:off x="10378" y="2386"/>
              <a:ext cx="8427" cy="2437"/>
            </a:xfrm>
            <a:prstGeom prst="rect">
              <a:avLst/>
            </a:prstGeom>
            <a:noFill/>
          </p:spPr>
          <p:txBody>
            <a:bodyPr wrap="square" rtlCol="0">
              <a:spAutoFit/>
            </a:bodyPr>
            <a:p>
              <a:pPr>
                <a:lnSpc>
                  <a:spcPct val="120000"/>
                </a:lnSpc>
              </a:pPr>
              <a:r>
                <a:rPr lang="en-US" altLang="zh-CN" sz="4400" dirty="0">
                  <a:solidFill>
                    <a:srgbClr val="AE192C"/>
                  </a:solidFill>
                  <a:latin typeface="Times New Roman Regular" panose="02020503050405090304" charset="0"/>
                  <a:ea typeface="OPPOSans H" panose="00020600040101010101" charset="-122"/>
                  <a:cs typeface="Times New Roman Regular" panose="02020503050405090304" charset="0"/>
                </a:rPr>
                <a:t>Research Objectives</a:t>
              </a:r>
              <a:endParaRPr lang="en-US" altLang="zh-CN" sz="4400" dirty="0">
                <a:solidFill>
                  <a:srgbClr val="AE192C"/>
                </a:solidFill>
                <a:latin typeface="Times New Roman Regular" panose="02020503050405090304" charset="0"/>
                <a:ea typeface="OPPOSans H" panose="00020600040101010101" charset="-122"/>
                <a:cs typeface="Times New Roman Regular" panose="02020503050405090304" charset="0"/>
              </a:endParaRPr>
            </a:p>
            <a:p>
              <a:pPr>
                <a:lnSpc>
                  <a:spcPct val="120000"/>
                </a:lnSpc>
              </a:pPr>
              <a:r>
                <a:rPr lang="en-US" altLang="zh-CN" sz="2000" dirty="0">
                  <a:solidFill>
                    <a:srgbClr val="AE192C"/>
                  </a:solidFill>
                  <a:latin typeface="Times New Roman Regular" panose="02020503050405090304" charset="0"/>
                  <a:ea typeface="微软雅黑 Light" panose="020B0502040204020203" charset="-122"/>
                  <a:cs typeface="Times New Roman Regular" panose="02020503050405090304" charset="0"/>
                </a:rPr>
                <a:t>Spotlight on the MIR100HG</a:t>
              </a:r>
              <a:endParaRPr lang="en-US" altLang="zh-CN" sz="2000" dirty="0">
                <a:solidFill>
                  <a:srgbClr val="AE192C"/>
                </a:solidFill>
                <a:latin typeface="Times New Roman Regular" panose="02020503050405090304" charset="0"/>
                <a:ea typeface="微软雅黑 Light" panose="020B0502040204020203" charset="-122"/>
                <a:cs typeface="Times New Roman Regular" panose="02020503050405090304" charset="0"/>
              </a:endParaRPr>
            </a:p>
          </p:txBody>
        </p:sp>
        <p:sp>
          <p:nvSpPr>
            <p:cNvPr id="135" name="TextBox 134"/>
            <p:cNvSpPr txBox="1"/>
            <p:nvPr>
              <p:custDataLst>
                <p:tags r:id="rId2"/>
              </p:custDataLst>
            </p:nvPr>
          </p:nvSpPr>
          <p:spPr>
            <a:xfrm>
              <a:off x="10428" y="4823"/>
              <a:ext cx="7223" cy="405"/>
            </a:xfrm>
            <a:prstGeom prst="rect">
              <a:avLst/>
            </a:prstGeom>
            <a:noFill/>
          </p:spPr>
          <p:txBody>
            <a:bodyPr wrap="square" rtlCol="0">
              <a:noAutofit/>
            </a:bodyPr>
            <a:p>
              <a:pPr>
                <a:lnSpc>
                  <a:spcPct val="130000"/>
                </a:lnSpc>
              </a:pPr>
              <a:r>
                <a:rPr lang="en-US" altLang="zh-CN" sz="1200" dirty="0">
                  <a:solidFill>
                    <a:srgbClr val="AE192C"/>
                  </a:solidFill>
                  <a:latin typeface="Times New Roman Regular" panose="02020503050405090304" charset="0"/>
                  <a:ea typeface="OPPOSans H" panose="00020600040101010101" charset="-122"/>
                  <a:cs typeface="Times New Roman Regular" panose="02020503050405090304" charset="0"/>
                </a:rPr>
                <a:t>Towards an Integrative Multi-Omics Understanding of MIR100HG in Cancer</a:t>
              </a:r>
              <a:endParaRPr lang="en-US" altLang="zh-CN" sz="1200" dirty="0">
                <a:solidFill>
                  <a:srgbClr val="AE192C"/>
                </a:solidFill>
                <a:latin typeface="Times New Roman Regular" panose="02020503050405090304" charset="0"/>
                <a:ea typeface="OPPOSans H" panose="00020600040101010101" charset="-122"/>
                <a:cs typeface="Times New Roman Regular" panose="02020503050405090304" charset="0"/>
              </a:endParaRPr>
            </a:p>
          </p:txBody>
        </p:sp>
      </p:grpSp>
      <p:sp>
        <p:nvSpPr>
          <p:cNvPr id="260" name="Rectangle 73"/>
          <p:cNvSpPr/>
          <p:nvPr>
            <p:custDataLst>
              <p:tags r:id="rId3"/>
            </p:custDataLst>
          </p:nvPr>
        </p:nvSpPr>
        <p:spPr>
          <a:xfrm>
            <a:off x="8520430" y="5275580"/>
            <a:ext cx="1931670" cy="312420"/>
          </a:xfrm>
          <a:prstGeom prst="rect">
            <a:avLst/>
          </a:prstGeom>
          <a:ln>
            <a:noFill/>
          </a:ln>
        </p:spPr>
        <p:txBody>
          <a:bodyPr wrap="none">
            <a:spAutoFit/>
          </a:bodyPr>
          <a:p>
            <a:pPr algn="l">
              <a:lnSpc>
                <a:spcPct val="120000"/>
              </a:lnSpc>
            </a:pPr>
            <a:r>
              <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sym typeface="+mn-ea"/>
              </a:rPr>
              <a:t>Spotlight on the MIR100HG</a:t>
            </a:r>
            <a:endPar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sym typeface="+mn-ea"/>
            </a:endParaRPr>
          </a:p>
        </p:txBody>
      </p:sp>
      <p:sp>
        <p:nvSpPr>
          <p:cNvPr id="61" name="矩形: 对角圆角 60"/>
          <p:cNvSpPr/>
          <p:nvPr userDrawn="1"/>
        </p:nvSpPr>
        <p:spPr>
          <a:xfrm>
            <a:off x="6845935" y="5275580"/>
            <a:ext cx="1552575" cy="313055"/>
          </a:xfrm>
          <a:prstGeom prst="round2DiagRect">
            <a:avLst>
              <a:gd name="adj1" fmla="val 33096"/>
              <a:gd name="adj2" fmla="val 5000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a:latin typeface="Times New Roman Regular" panose="02020503050405090304" charset="0"/>
                <a:cs typeface="Times New Roman Regular" panose="02020503050405090304" charset="0"/>
              </a:rPr>
              <a:t>Group M-28</a:t>
            </a:r>
            <a:endParaRPr lang="en-US" altLang="zh-CN" sz="1400">
              <a:latin typeface="Times New Roman Regular" panose="02020503050405090304" charset="0"/>
              <a:cs typeface="Times New Roman Regular" panose="0202050305040509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1395413"/>
            <a:ext cx="12192000" cy="4392612"/>
            <a:chOff x="0" y="1395413"/>
            <a:chExt cx="12192000" cy="4392612"/>
          </a:xfrm>
          <a:solidFill>
            <a:srgbClr val="AF1E2F"/>
          </a:solidFill>
        </p:grpSpPr>
        <p:sp>
          <p:nvSpPr>
            <p:cNvPr id="8" name="Freeform 5"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3308645" y="1395413"/>
              <a:ext cx="8883355" cy="1881187"/>
            </a:xfrm>
            <a:custGeom>
              <a:avLst/>
              <a:gdLst>
                <a:gd name="T0" fmla="*/ 11567 w 11567"/>
                <a:gd name="T1" fmla="*/ 2441 h 2441"/>
                <a:gd name="T2" fmla="*/ 0 w 11567"/>
                <a:gd name="T3" fmla="*/ 2441 h 2441"/>
                <a:gd name="T4" fmla="*/ 1542 w 11567"/>
                <a:gd name="T5" fmla="*/ 0 h 2441"/>
                <a:gd name="T6" fmla="*/ 11567 w 11567"/>
                <a:gd name="T7" fmla="*/ 0 h 2441"/>
                <a:gd name="T8" fmla="*/ 11567 w 11567"/>
                <a:gd name="T9" fmla="*/ 2441 h 2441"/>
              </a:gdLst>
              <a:ahLst/>
              <a:cxnLst>
                <a:cxn ang="0">
                  <a:pos x="T0" y="T1"/>
                </a:cxn>
                <a:cxn ang="0">
                  <a:pos x="T2" y="T3"/>
                </a:cxn>
                <a:cxn ang="0">
                  <a:pos x="T4" y="T5"/>
                </a:cxn>
                <a:cxn ang="0">
                  <a:pos x="T6" y="T7"/>
                </a:cxn>
                <a:cxn ang="0">
                  <a:pos x="T8" y="T9"/>
                </a:cxn>
              </a:cxnLst>
              <a:rect l="0" t="0" r="r" b="b"/>
              <a:pathLst>
                <a:path w="11567" h="2441">
                  <a:moveTo>
                    <a:pt x="11567" y="2441"/>
                  </a:moveTo>
                  <a:lnTo>
                    <a:pt x="0" y="2441"/>
                  </a:lnTo>
                  <a:lnTo>
                    <a:pt x="1542" y="0"/>
                  </a:lnTo>
                  <a:lnTo>
                    <a:pt x="11567" y="0"/>
                  </a:lnTo>
                  <a:lnTo>
                    <a:pt x="11567" y="2441"/>
                  </a:lnTo>
                  <a:close/>
                </a:path>
              </a:pathLst>
            </a:custGeom>
            <a:solidFill>
              <a:srgbClr val="831723"/>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0" name="Freeform 6"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0" y="4075113"/>
              <a:ext cx="5693725" cy="1712912"/>
            </a:xfrm>
            <a:custGeom>
              <a:avLst/>
              <a:gdLst>
                <a:gd name="T0" fmla="*/ 0 w 7413"/>
                <a:gd name="T1" fmla="*/ 0 h 2222"/>
                <a:gd name="T2" fmla="*/ 7413 w 7413"/>
                <a:gd name="T3" fmla="*/ 0 h 2222"/>
                <a:gd name="T4" fmla="*/ 6010 w 7413"/>
                <a:gd name="T5" fmla="*/ 2222 h 2222"/>
                <a:gd name="T6" fmla="*/ 0 w 7413"/>
                <a:gd name="T7" fmla="*/ 2222 h 2222"/>
                <a:gd name="T8" fmla="*/ 0 w 7413"/>
                <a:gd name="T9" fmla="*/ 0 h 2222"/>
              </a:gdLst>
              <a:ahLst/>
              <a:cxnLst>
                <a:cxn ang="0">
                  <a:pos x="T0" y="T1"/>
                </a:cxn>
                <a:cxn ang="0">
                  <a:pos x="T2" y="T3"/>
                </a:cxn>
                <a:cxn ang="0">
                  <a:pos x="T4" y="T5"/>
                </a:cxn>
                <a:cxn ang="0">
                  <a:pos x="T6" y="T7"/>
                </a:cxn>
                <a:cxn ang="0">
                  <a:pos x="T8" y="T9"/>
                </a:cxn>
              </a:cxnLst>
              <a:rect l="0" t="0" r="r" b="b"/>
              <a:pathLst>
                <a:path w="7413" h="2222">
                  <a:moveTo>
                    <a:pt x="0" y="0"/>
                  </a:moveTo>
                  <a:lnTo>
                    <a:pt x="7413" y="0"/>
                  </a:lnTo>
                  <a:lnTo>
                    <a:pt x="6010" y="2222"/>
                  </a:lnTo>
                  <a:lnTo>
                    <a:pt x="0" y="2222"/>
                  </a:lnTo>
                  <a:lnTo>
                    <a:pt x="0" y="0"/>
                  </a:lnTo>
                  <a:close/>
                </a:path>
              </a:pathLst>
            </a:custGeom>
            <a:solidFill>
              <a:srgbClr val="831723"/>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1" name="Freeform 7"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0" y="2052639"/>
              <a:ext cx="10728896" cy="2981325"/>
            </a:xfrm>
            <a:custGeom>
              <a:avLst/>
              <a:gdLst>
                <a:gd name="T0" fmla="*/ 0 w 13970"/>
                <a:gd name="T1" fmla="*/ 0 h 3869"/>
                <a:gd name="T2" fmla="*/ 13970 w 13970"/>
                <a:gd name="T3" fmla="*/ 0 h 3869"/>
                <a:gd name="T4" fmla="*/ 11527 w 13970"/>
                <a:gd name="T5" fmla="*/ 3869 h 3869"/>
                <a:gd name="T6" fmla="*/ 0 w 13970"/>
                <a:gd name="T7" fmla="*/ 3869 h 3869"/>
                <a:gd name="T8" fmla="*/ 0 w 13970"/>
                <a:gd name="T9" fmla="*/ 0 h 3869"/>
              </a:gdLst>
              <a:ahLst/>
              <a:cxnLst>
                <a:cxn ang="0">
                  <a:pos x="T0" y="T1"/>
                </a:cxn>
                <a:cxn ang="0">
                  <a:pos x="T2" y="T3"/>
                </a:cxn>
                <a:cxn ang="0">
                  <a:pos x="T4" y="T5"/>
                </a:cxn>
                <a:cxn ang="0">
                  <a:pos x="T6" y="T7"/>
                </a:cxn>
                <a:cxn ang="0">
                  <a:pos x="T8" y="T9"/>
                </a:cxn>
              </a:cxnLst>
              <a:rect l="0" t="0" r="r" b="b"/>
              <a:pathLst>
                <a:path w="13970" h="3869">
                  <a:moveTo>
                    <a:pt x="0" y="0"/>
                  </a:moveTo>
                  <a:lnTo>
                    <a:pt x="13970" y="0"/>
                  </a:lnTo>
                  <a:lnTo>
                    <a:pt x="11527" y="3869"/>
                  </a:lnTo>
                  <a:lnTo>
                    <a:pt x="0" y="3869"/>
                  </a:lnTo>
                  <a:lnTo>
                    <a:pt x="0" y="0"/>
                  </a:lnTo>
                  <a:close/>
                </a:path>
              </a:pathLst>
            </a:custGeom>
            <a:grp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grpSp>
      <p:sp>
        <p:nvSpPr>
          <p:cNvPr id="2" name="e7d195523061f1c0" descr="e7d195523061f1c060910eeaeeff1464599dc3392e14be42F6605DBF3376AA578EAD49A2F34CDE9F8BA873D9FC4305B94F8C98BE913D0BB55B77B4982D855D57316D9666CF50C0C1F882EEA92AB650391898752DC0F28C027E30AABBE39009D367F52CF2EB08CFD5B7F9FB4301E8C18380EF535FE4A4CCCE7A68EA8B854FFF693052B82C6FF16E3D" hidden="1"/>
          <p:cNvSpPr txBox="1"/>
          <p:nvPr/>
        </p:nvSpPr>
        <p:spPr>
          <a:xfrm>
            <a:off x="-355600" y="1803400"/>
            <a:ext cx="262251"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等线"/>
                <a:ea typeface="等线" panose="02010600030101010101" charset="-122"/>
                <a:cs typeface="+mn-cs"/>
              </a:rPr>
              <a:t>e7d195523061f1c060910eeaeeff1464599dc3392e14be42F6605DBF3376AA578EAD49A2F34CDE9F8BA873D9FC4305B94F8C98BE913D0BB55B77B4982D855D57316D9666CF50C0C1F882EEA92AB650391898752DC0F28C027E30AABBE39009D367F52CF2EB08CFD5B7F9FB4301E8C18380EF535FE4A4CCCE7A68EA8B854FFF693052B82C6FF16E3D</a:t>
            </a:r>
            <a:endParaRPr kumimoji="0" lang="zh-CN" altLang="en-US" sz="1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3" name="文本框 12"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txBox="1"/>
          <p:nvPr/>
        </p:nvSpPr>
        <p:spPr>
          <a:xfrm>
            <a:off x="1091479" y="1908176"/>
            <a:ext cx="1508125" cy="31534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900" b="0" i="0" u="none" strike="noStrike" kern="1200" cap="none" spc="0" normalizeH="0" baseline="0" noProof="0" dirty="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rPr>
              <a:t>2</a:t>
            </a:r>
            <a:endParaRPr kumimoji="0" lang="en-US" altLang="zh-CN" sz="19900" b="0" i="0" u="none" strike="noStrike" kern="1200" cap="none" spc="0" normalizeH="0" baseline="0" noProof="0" dirty="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4" name="文本框 13"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txBox="1"/>
          <p:nvPr/>
        </p:nvSpPr>
        <p:spPr>
          <a:xfrm>
            <a:off x="2846705" y="3598545"/>
            <a:ext cx="5693410" cy="2971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35"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rPr>
              <a:t> A Case Study of lncRNA MIR100HG across Five Cancer Types</a:t>
            </a:r>
            <a:endParaRPr kumimoji="0" lang="en-US" altLang="zh-CN" sz="1335"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5" name="文本框 14"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txBox="1"/>
          <p:nvPr/>
        </p:nvSpPr>
        <p:spPr>
          <a:xfrm>
            <a:off x="2846705" y="2668270"/>
            <a:ext cx="7514590" cy="768350"/>
          </a:xfrm>
          <a:prstGeom prst="rect">
            <a:avLst/>
          </a:prstGeom>
          <a:noFill/>
        </p:spPr>
        <p:txBody>
          <a:bodyPr wrap="square" rtlCol="0">
            <a:spAutoFit/>
          </a:bodyPr>
          <a:lstStyle/>
          <a:p>
            <a:pPr lvl="0"/>
            <a:r>
              <a:rPr lang="en-US" altLang="zh-CN" sz="4400" dirty="0">
                <a:solidFill>
                  <a:prstClr val="white"/>
                </a:solidFill>
                <a:latin typeface="Trebuchet MS Regular" panose="020B0703020202090204" charset="0"/>
                <a:ea typeface="华康俪金黑W8" panose="020B0809000000000000" pitchFamily="49" charset="-122"/>
              </a:rPr>
              <a:t>Data Analysis </a:t>
            </a:r>
            <a:r>
              <a:rPr lang="en-US" altLang="zh-CN" sz="4400" dirty="0">
                <a:solidFill>
                  <a:prstClr val="white"/>
                </a:solidFill>
                <a:latin typeface="Trebuchet MS Regular" panose="020B0703020202090204" charset="0"/>
                <a:ea typeface="华康俪金黑W8" panose="020B0809000000000000" pitchFamily="49" charset="-122"/>
              </a:rPr>
              <a:t>Process</a:t>
            </a:r>
            <a:endParaRPr lang="en-US" altLang="zh-CN" sz="4400" dirty="0">
              <a:solidFill>
                <a:prstClr val="white"/>
              </a:solidFill>
              <a:latin typeface="Trebuchet MS Regular" panose="020B0703020202090204" charset="0"/>
              <a:ea typeface="华康俪金黑W8" panose="020B0809000000000000" pitchFamily="49" charset="-122"/>
            </a:endParaRPr>
          </a:p>
        </p:txBody>
      </p:sp>
      <p:sp>
        <p:nvSpPr>
          <p:cNvPr id="16" name="矩形 15"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p:nvPr/>
        </p:nvSpPr>
        <p:spPr>
          <a:xfrm>
            <a:off x="2956407" y="3466746"/>
            <a:ext cx="566069" cy="60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7" name="Freeform 8"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11227177" y="1908176"/>
            <a:ext cx="556995" cy="900113"/>
          </a:xfrm>
          <a:custGeom>
            <a:avLst/>
            <a:gdLst>
              <a:gd name="T0" fmla="*/ 584 w 725"/>
              <a:gd name="T1" fmla="*/ 443 h 1169"/>
              <a:gd name="T2" fmla="*/ 725 w 725"/>
              <a:gd name="T3" fmla="*/ 585 h 1169"/>
              <a:gd name="T4" fmla="*/ 584 w 725"/>
              <a:gd name="T5" fmla="*/ 726 h 1169"/>
              <a:gd name="T6" fmla="*/ 141 w 725"/>
              <a:gd name="T7" fmla="*/ 1169 h 1169"/>
              <a:gd name="T8" fmla="*/ 0 w 725"/>
              <a:gd name="T9" fmla="*/ 1028 h 1169"/>
              <a:gd name="T10" fmla="*/ 443 w 725"/>
              <a:gd name="T11" fmla="*/ 585 h 1169"/>
              <a:gd name="T12" fmla="*/ 0 w 725"/>
              <a:gd name="T13" fmla="*/ 141 h 1169"/>
              <a:gd name="T14" fmla="*/ 141 w 725"/>
              <a:gd name="T15" fmla="*/ 0 h 1169"/>
              <a:gd name="T16" fmla="*/ 584 w 725"/>
              <a:gd name="T17" fmla="*/ 44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3000"/>
    </mc:Choice>
    <mc:Fallback>
      <p:transition spd="slow" advClick="0" advTm="3000"/>
    </mc:Fallback>
  </mc:AlternateContent>
  <p:timing>
    <p:tnLst>
      <p:par>
        <p:cTn id="1" dur="indefinite" restart="never" nodeType="tmRoot"/>
      </p:par>
    </p:tnLst>
    <p:bldLst>
      <p:bldP spid="13" grpId="0"/>
      <p:bldP spid="14" grpId="0"/>
      <p:bldP spid="15" grpId="0"/>
      <p:bldP spid="16" grpId="0" bldLvl="0" animBg="1"/>
      <p:bldP spid="17"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p:cNvSpPr/>
          <p:nvPr/>
        </p:nvSpPr>
        <p:spPr>
          <a:xfrm>
            <a:off x="9135978" y="1059991"/>
            <a:ext cx="2775075" cy="1462149"/>
          </a:xfrm>
          <a:prstGeom prst="roundRect">
            <a:avLst>
              <a:gd name="adj" fmla="val 6284"/>
            </a:avLst>
          </a:prstGeom>
          <a:solidFill>
            <a:srgbClr val="AE192C"/>
          </a:solidFill>
          <a:ln w="12700">
            <a:miter lim="400000"/>
          </a:ln>
        </p:spPr>
        <p:txBody>
          <a:bodyPr lIns="0" tIns="0" rIns="0" bIns="0" anchor="ctr"/>
          <a:lstStyle/>
          <a:p>
            <a:pPr>
              <a:defRPr sz="3200" b="0">
                <a:solidFill>
                  <a:srgbClr val="FFFFFF"/>
                </a:solidFill>
                <a:latin typeface="+mn-lt"/>
                <a:ea typeface="+mn-ea"/>
                <a:cs typeface="+mn-cs"/>
                <a:sym typeface="Helvetica Neue Medium" panose="02000503000000020004"/>
              </a:defRPr>
            </a:pPr>
            <a:endParaRPr sz="1000" dirty="0">
              <a:latin typeface="Times New Roman Regular" panose="02020503050405090304" charset="0"/>
              <a:cs typeface="Times New Roman Regular" panose="02020503050405090304" charset="0"/>
            </a:endParaRPr>
          </a:p>
        </p:txBody>
      </p:sp>
      <p:sp>
        <p:nvSpPr>
          <p:cNvPr id="82" name="Rounded Rectangle"/>
          <p:cNvSpPr/>
          <p:nvPr/>
        </p:nvSpPr>
        <p:spPr>
          <a:xfrm>
            <a:off x="9122167" y="2527227"/>
            <a:ext cx="2775075" cy="2420968"/>
          </a:xfrm>
          <a:prstGeom prst="roundRect">
            <a:avLst>
              <a:gd name="adj" fmla="val 3356"/>
            </a:avLst>
          </a:prstGeom>
          <a:solidFill>
            <a:srgbClr val="F6DAD7">
              <a:alpha val="65000"/>
            </a:srgbClr>
          </a:solidFill>
          <a:ln w="12700">
            <a:miter lim="400000"/>
          </a:ln>
        </p:spPr>
        <p:txBody>
          <a:bodyPr lIns="0" tIns="0" rIns="0" bIns="0" anchor="ctr"/>
          <a:lstStyle/>
          <a:p>
            <a:pPr>
              <a:defRPr sz="3200" b="0">
                <a:solidFill>
                  <a:srgbClr val="FFFFFF"/>
                </a:solidFill>
                <a:latin typeface="+mn-lt"/>
                <a:ea typeface="+mn-ea"/>
                <a:cs typeface="+mn-cs"/>
                <a:sym typeface="Helvetica Neue Medium" panose="02000503000000020004"/>
              </a:defRPr>
            </a:pPr>
            <a:endParaRPr sz="1000" dirty="0">
              <a:latin typeface="Times New Roman Regular" panose="02020503050405090304" charset="0"/>
              <a:cs typeface="Times New Roman Regular" panose="02020503050405090304" charset="0"/>
            </a:endParaRPr>
          </a:p>
        </p:txBody>
      </p:sp>
      <p:sp>
        <p:nvSpPr>
          <p:cNvPr id="10" name="Triangle"/>
          <p:cNvSpPr/>
          <p:nvPr/>
        </p:nvSpPr>
        <p:spPr>
          <a:xfrm rot="5400000">
            <a:off x="778727" y="699103"/>
            <a:ext cx="3534287" cy="477368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gradFill>
            <a:gsLst>
              <a:gs pos="51000">
                <a:srgbClr val="EFF3F9">
                  <a:alpha val="42000"/>
                  <a:lumMod val="38000"/>
                  <a:lumOff val="62000"/>
                </a:srgbClr>
              </a:gs>
              <a:gs pos="0">
                <a:schemeClr val="bg1">
                  <a:alpha val="0"/>
                </a:schemeClr>
              </a:gs>
              <a:gs pos="91000">
                <a:srgbClr val="AE192C"/>
              </a:gs>
            </a:gsLst>
            <a:lin ang="16200000"/>
          </a:gradFill>
          <a:ln w="12700">
            <a:miter lim="400000"/>
          </a:ln>
        </p:spPr>
        <p:txBody>
          <a:bodyPr lIns="0" tIns="0" rIns="0" bIns="0" anchor="ctr"/>
          <a:lstStyle/>
          <a:p>
            <a:endParaRPr sz="900">
              <a:latin typeface="Times New Roman Regular" panose="02020503050405090304" charset="0"/>
              <a:cs typeface="Times New Roman Regular" panose="02020503050405090304" charset="0"/>
            </a:endParaRPr>
          </a:p>
        </p:txBody>
      </p:sp>
      <p:sp>
        <p:nvSpPr>
          <p:cNvPr id="27" name="Circle"/>
          <p:cNvSpPr/>
          <p:nvPr/>
        </p:nvSpPr>
        <p:spPr>
          <a:xfrm>
            <a:off x="561136" y="1041557"/>
            <a:ext cx="941986" cy="941985"/>
          </a:xfrm>
          <a:prstGeom prst="ellipse">
            <a:avLst/>
          </a:prstGeom>
          <a:solidFill>
            <a:srgbClr val="B71A2B"/>
          </a:solidFill>
          <a:ln w="12700" cap="flat">
            <a:noFill/>
            <a:miter lim="400000"/>
          </a:ln>
          <a:effectLst/>
        </p:spPr>
        <p:txBody>
          <a:bodyPr wrap="square" lIns="0" tIns="0" rIns="0" bIns="0" numCol="1" anchor="ctr">
            <a:noAutofit/>
          </a:bodyPr>
          <a:lstStyle/>
          <a:p>
            <a:pPr algn="ctr"/>
            <a:endParaRPr sz="900">
              <a:solidFill>
                <a:schemeClr val="bg1"/>
              </a:solidFill>
              <a:latin typeface="Times New Roman Regular" panose="02020503050405090304" charset="0"/>
              <a:cs typeface="Times New Roman Regular" panose="02020503050405090304" charset="0"/>
            </a:endParaRPr>
          </a:p>
        </p:txBody>
      </p:sp>
      <p:sp>
        <p:nvSpPr>
          <p:cNvPr id="30" name="Circle"/>
          <p:cNvSpPr/>
          <p:nvPr/>
        </p:nvSpPr>
        <p:spPr>
          <a:xfrm>
            <a:off x="561136" y="2056101"/>
            <a:ext cx="941986" cy="941986"/>
          </a:xfrm>
          <a:prstGeom prst="ellipse">
            <a:avLst/>
          </a:prstGeom>
          <a:solidFill>
            <a:srgbClr val="D5B4B8"/>
          </a:solidFill>
          <a:ln w="12700" cap="flat">
            <a:noFill/>
            <a:miter lim="400000"/>
          </a:ln>
          <a:effectLst/>
        </p:spPr>
        <p:txBody>
          <a:bodyPr wrap="square" lIns="0" tIns="0" rIns="0" bIns="0" numCol="1" anchor="ctr">
            <a:noAutofit/>
          </a:bodyPr>
          <a:lstStyle/>
          <a:p>
            <a:pPr algn="ctr"/>
            <a:endParaRPr sz="900">
              <a:solidFill>
                <a:srgbClr val="D5B4B8"/>
              </a:solidFill>
              <a:latin typeface="Times New Roman Regular" panose="02020503050405090304" charset="0"/>
              <a:cs typeface="Times New Roman Regular" panose="02020503050405090304" charset="0"/>
            </a:endParaRPr>
          </a:p>
        </p:txBody>
      </p:sp>
      <p:sp>
        <p:nvSpPr>
          <p:cNvPr id="33" name="Circle"/>
          <p:cNvSpPr/>
          <p:nvPr/>
        </p:nvSpPr>
        <p:spPr>
          <a:xfrm>
            <a:off x="561136" y="3070646"/>
            <a:ext cx="941986" cy="941986"/>
          </a:xfrm>
          <a:prstGeom prst="ellipse">
            <a:avLst/>
          </a:prstGeom>
          <a:solidFill>
            <a:srgbClr val="C43C2D"/>
          </a:solidFill>
          <a:ln w="12700" cap="flat">
            <a:noFill/>
            <a:miter lim="400000"/>
          </a:ln>
          <a:effectLst/>
        </p:spPr>
        <p:txBody>
          <a:bodyPr wrap="square" lIns="0" tIns="0" rIns="0" bIns="0" numCol="1" anchor="ctr">
            <a:noAutofit/>
          </a:bodyPr>
          <a:lstStyle/>
          <a:p>
            <a:pPr algn="ctr"/>
            <a:endParaRPr sz="900">
              <a:solidFill>
                <a:schemeClr val="bg1"/>
              </a:solidFill>
              <a:latin typeface="Times New Roman Regular" panose="02020503050405090304" charset="0"/>
              <a:cs typeface="Times New Roman Regular" panose="02020503050405090304" charset="0"/>
            </a:endParaRPr>
          </a:p>
        </p:txBody>
      </p:sp>
      <p:sp>
        <p:nvSpPr>
          <p:cNvPr id="36" name="Circle"/>
          <p:cNvSpPr/>
          <p:nvPr/>
        </p:nvSpPr>
        <p:spPr>
          <a:xfrm>
            <a:off x="561136" y="4085191"/>
            <a:ext cx="941986" cy="941985"/>
          </a:xfrm>
          <a:prstGeom prst="ellipse">
            <a:avLst/>
          </a:prstGeom>
          <a:solidFill>
            <a:srgbClr val="EEB6B0"/>
          </a:solidFill>
          <a:ln w="12700" cap="flat">
            <a:noFill/>
            <a:miter lim="400000"/>
          </a:ln>
          <a:effectLst/>
        </p:spPr>
        <p:txBody>
          <a:bodyPr wrap="square" lIns="0" tIns="0" rIns="0" bIns="0" numCol="1" anchor="ctr">
            <a:noAutofit/>
          </a:bodyPr>
          <a:lstStyle/>
          <a:p>
            <a:pPr algn="ctr"/>
            <a:endParaRPr sz="900">
              <a:solidFill>
                <a:schemeClr val="bg1"/>
              </a:solidFill>
              <a:latin typeface="Times New Roman Regular" panose="02020503050405090304" charset="0"/>
              <a:cs typeface="Times New Roman Regular" panose="02020503050405090304" charset="0"/>
            </a:endParaRPr>
          </a:p>
        </p:txBody>
      </p:sp>
      <p:sp>
        <p:nvSpPr>
          <p:cNvPr id="38" name="Line"/>
          <p:cNvSpPr/>
          <p:nvPr/>
        </p:nvSpPr>
        <p:spPr>
          <a:xfrm flipH="1" flipV="1">
            <a:off x="1516869" y="1769224"/>
            <a:ext cx="1906823" cy="752916"/>
          </a:xfrm>
          <a:prstGeom prst="line">
            <a:avLst/>
          </a:prstGeom>
          <a:ln w="25400">
            <a:solidFill>
              <a:srgbClr val="AE192C"/>
            </a:solidFill>
            <a:custDash>
              <a:ds d="200000" sp="200000"/>
            </a:custDash>
            <a:miter lim="400000"/>
            <a:tailEnd type="triangle"/>
          </a:ln>
        </p:spPr>
        <p:txBody>
          <a:bodyPr lIns="22859" tIns="22859" rIns="22859" bIns="22859"/>
          <a:lstStyle/>
          <a:p>
            <a:endParaRPr sz="900"/>
          </a:p>
        </p:txBody>
      </p:sp>
      <p:sp>
        <p:nvSpPr>
          <p:cNvPr id="39" name="Line"/>
          <p:cNvSpPr/>
          <p:nvPr/>
        </p:nvSpPr>
        <p:spPr>
          <a:xfrm flipH="1" flipV="1">
            <a:off x="1569423" y="2614833"/>
            <a:ext cx="1685380" cy="209728"/>
          </a:xfrm>
          <a:prstGeom prst="line">
            <a:avLst/>
          </a:prstGeom>
          <a:ln w="25400">
            <a:solidFill>
              <a:srgbClr val="AE192C"/>
            </a:solidFill>
            <a:custDash>
              <a:ds d="200000" sp="200000"/>
            </a:custDash>
            <a:miter lim="400000"/>
            <a:tailEnd type="triangle"/>
          </a:ln>
        </p:spPr>
        <p:txBody>
          <a:bodyPr lIns="22859" tIns="22859" rIns="22859" bIns="22859"/>
          <a:lstStyle/>
          <a:p>
            <a:endParaRPr sz="900"/>
          </a:p>
        </p:txBody>
      </p:sp>
      <p:sp>
        <p:nvSpPr>
          <p:cNvPr id="40" name="Line"/>
          <p:cNvSpPr/>
          <p:nvPr/>
        </p:nvSpPr>
        <p:spPr>
          <a:xfrm flipH="1">
            <a:off x="1562970" y="3272553"/>
            <a:ext cx="1698771" cy="209125"/>
          </a:xfrm>
          <a:prstGeom prst="line">
            <a:avLst/>
          </a:prstGeom>
          <a:ln w="25400">
            <a:solidFill>
              <a:srgbClr val="AE192C"/>
            </a:solidFill>
            <a:custDash>
              <a:ds d="200000" sp="200000"/>
            </a:custDash>
            <a:miter lim="400000"/>
            <a:tailEnd type="triangle"/>
          </a:ln>
        </p:spPr>
        <p:txBody>
          <a:bodyPr lIns="22859" tIns="22859" rIns="22859" bIns="22859"/>
          <a:lstStyle/>
          <a:p>
            <a:endParaRPr sz="900"/>
          </a:p>
        </p:txBody>
      </p:sp>
      <p:sp>
        <p:nvSpPr>
          <p:cNvPr id="42" name="Line"/>
          <p:cNvSpPr/>
          <p:nvPr/>
        </p:nvSpPr>
        <p:spPr>
          <a:xfrm flipH="1">
            <a:off x="1529715" y="3634105"/>
            <a:ext cx="1933575" cy="727075"/>
          </a:xfrm>
          <a:prstGeom prst="line">
            <a:avLst/>
          </a:prstGeom>
          <a:ln w="25400">
            <a:solidFill>
              <a:srgbClr val="AE192C"/>
            </a:solidFill>
            <a:custDash>
              <a:ds d="200000" sp="200000"/>
            </a:custDash>
            <a:miter lim="400000"/>
            <a:tailEnd type="triangle"/>
          </a:ln>
        </p:spPr>
        <p:txBody>
          <a:bodyPr lIns="22859" tIns="22859" rIns="22859" bIns="22859"/>
          <a:lstStyle/>
          <a:p>
            <a:endParaRPr sz="900"/>
          </a:p>
        </p:txBody>
      </p:sp>
      <p:sp>
        <p:nvSpPr>
          <p:cNvPr id="4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62940" y="1191895"/>
            <a:ext cx="737870" cy="819785"/>
          </a:xfrm>
          <a:prstGeom prst="rect">
            <a:avLst/>
          </a:prstGeom>
          <a:ln w="12700">
            <a:miter lim="400000"/>
          </a:ln>
        </p:spPr>
        <p:txBody>
          <a:bodyPr lIns="25400" tIns="25400" rIns="25400" bIns="25400">
            <a:noAutofit/>
          </a:bodyPr>
          <a:lstStyle>
            <a:lvl1pPr>
              <a:defRPr sz="2200">
                <a:solidFill>
                  <a:srgbClr val="F7F5F6"/>
                </a:solidFill>
                <a:latin typeface="Barlow Medium"/>
                <a:ea typeface="Barlow Medium"/>
                <a:cs typeface="Barlow Medium"/>
                <a:sym typeface="Barlow Medium"/>
              </a:defRPr>
            </a:lvl1pPr>
          </a:lstStyle>
          <a:p>
            <a:pPr algn="ctr"/>
            <a:r>
              <a:rPr lang="en-US" altLang="zh-CN" sz="1000" dirty="0">
                <a:solidFill>
                  <a:schemeClr val="bg1"/>
                </a:solidFill>
                <a:latin typeface="Times New Roman Regular" panose="02020503050405090304" charset="0"/>
                <a:ea typeface="HarmonyOS Sans SC" panose="00000500000000000000" pitchFamily="2" charset="-122"/>
                <a:cs typeface="Times New Roman Regular" panose="02020503050405090304" charset="0"/>
              </a:rPr>
              <a:t>Literature Review &amp; Background</a:t>
            </a:r>
            <a:endParaRPr lang="en-US" altLang="zh-CN" sz="1000" dirty="0">
              <a:solidFill>
                <a:schemeClr val="bg1"/>
              </a:solidFill>
              <a:latin typeface="Times New Roman Regular" panose="02020503050405090304" charset="0"/>
              <a:ea typeface="HarmonyOS Sans SC" panose="00000500000000000000" pitchFamily="2" charset="-122"/>
              <a:cs typeface="Times New Roman Regular" panose="02020503050405090304" charset="0"/>
            </a:endParaRPr>
          </a:p>
        </p:txBody>
      </p:sp>
      <p:sp>
        <p:nvSpPr>
          <p:cNvPr id="4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68655" y="2173605"/>
            <a:ext cx="737870" cy="819785"/>
          </a:xfrm>
          <a:prstGeom prst="rect">
            <a:avLst/>
          </a:prstGeom>
          <a:ln w="12700">
            <a:miter lim="400000"/>
          </a:ln>
        </p:spPr>
        <p:txBody>
          <a:bodyPr lIns="25400" tIns="25400" rIns="25400" bIns="25400">
            <a:noAutofit/>
          </a:bodyPr>
          <a:lstStyle>
            <a:lvl1pPr>
              <a:defRPr sz="2200">
                <a:solidFill>
                  <a:srgbClr val="F7F5F6"/>
                </a:solidFill>
                <a:latin typeface="Barlow Medium"/>
                <a:ea typeface="Barlow Medium"/>
                <a:cs typeface="Barlow Medium"/>
                <a:sym typeface="Barlow Medium"/>
              </a:defRPr>
            </a:lvl1pPr>
          </a:lstStyle>
          <a:p>
            <a:pPr algn="ctr"/>
            <a:r>
              <a:rPr lang="en-US" altLang="zh-CN" sz="1000" dirty="0">
                <a:solidFill>
                  <a:schemeClr val="bg1"/>
                </a:solidFill>
                <a:latin typeface="Times New Roman Regular" panose="02020503050405090304" charset="0"/>
                <a:ea typeface="HarmonyOS Sans SC" panose="00000500000000000000" pitchFamily="2" charset="-122"/>
                <a:cs typeface="Times New Roman Regular" panose="02020503050405090304" charset="0"/>
              </a:rPr>
              <a:t>Data Cleaning &amp; Statistical Analysis</a:t>
            </a:r>
            <a:endParaRPr lang="en-US" altLang="zh-CN" sz="1000" dirty="0">
              <a:solidFill>
                <a:schemeClr val="bg1"/>
              </a:solidFill>
              <a:latin typeface="Times New Roman Regular" panose="02020503050405090304" charset="0"/>
              <a:ea typeface="HarmonyOS Sans SC" panose="00000500000000000000" pitchFamily="2" charset="-122"/>
              <a:cs typeface="Times New Roman Regular" panose="02020503050405090304" charset="0"/>
            </a:endParaRPr>
          </a:p>
        </p:txBody>
      </p:sp>
      <p:sp>
        <p:nvSpPr>
          <p:cNvPr id="4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63178" y="3321163"/>
            <a:ext cx="737901" cy="512445"/>
          </a:xfrm>
          <a:prstGeom prst="rect">
            <a:avLst/>
          </a:prstGeom>
          <a:ln w="12700">
            <a:miter lim="400000"/>
          </a:ln>
        </p:spPr>
        <p:txBody>
          <a:bodyPr lIns="25400" tIns="25400" rIns="25400" bIns="25400">
            <a:spAutoFit/>
          </a:bodyPr>
          <a:lstStyle>
            <a:lvl1pPr>
              <a:defRPr sz="2200">
                <a:solidFill>
                  <a:srgbClr val="F7F5F6"/>
                </a:solidFill>
                <a:latin typeface="Barlow Medium"/>
                <a:ea typeface="Barlow Medium"/>
                <a:cs typeface="Barlow Medium"/>
                <a:sym typeface="Barlow Medium"/>
              </a:defRPr>
            </a:lvl1pPr>
          </a:lstStyle>
          <a:p>
            <a:pPr algn="ctr"/>
            <a:r>
              <a:rPr lang="en-US" altLang="zh-CN" sz="1000" dirty="0">
                <a:solidFill>
                  <a:schemeClr val="bg1"/>
                </a:solidFill>
                <a:latin typeface="Times New Roman Regular" panose="02020503050405090304" charset="0"/>
                <a:ea typeface="MiSans Heavy" panose="00000A00000000000000" pitchFamily="2" charset="-122"/>
                <a:cs typeface="Times New Roman Regular" panose="02020503050405090304" charset="0"/>
                <a:sym typeface="+mn-ea"/>
              </a:rPr>
              <a:t>Modeling &amp; Feature Selection</a:t>
            </a:r>
            <a:endParaRPr lang="en-US" altLang="zh-CN" sz="1000" dirty="0">
              <a:solidFill>
                <a:schemeClr val="bg1"/>
              </a:solidFill>
              <a:latin typeface="Times New Roman Regular" panose="02020503050405090304" charset="0"/>
              <a:ea typeface="MiSans Heavy" panose="00000A00000000000000" pitchFamily="2" charset="-122"/>
              <a:cs typeface="Times New Roman Regular" panose="02020503050405090304" charset="0"/>
              <a:sym typeface="+mn-ea"/>
            </a:endParaRPr>
          </a:p>
        </p:txBody>
      </p:sp>
      <p:sp>
        <p:nvSpPr>
          <p:cNvPr id="46"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62940" y="4213225"/>
            <a:ext cx="737870" cy="843915"/>
          </a:xfrm>
          <a:prstGeom prst="rect">
            <a:avLst/>
          </a:prstGeom>
          <a:ln w="12700">
            <a:miter lim="400000"/>
          </a:ln>
        </p:spPr>
        <p:txBody>
          <a:bodyPr lIns="25400" tIns="25400" rIns="25400" bIns="25400">
            <a:noAutofit/>
          </a:bodyPr>
          <a:lstStyle>
            <a:lvl1pPr>
              <a:defRPr sz="2200">
                <a:solidFill>
                  <a:srgbClr val="F7F5F6"/>
                </a:solidFill>
                <a:latin typeface="Barlow Medium"/>
                <a:ea typeface="Barlow Medium"/>
                <a:cs typeface="Barlow Medium"/>
                <a:sym typeface="Barlow Medium"/>
              </a:defRPr>
            </a:lvl1pPr>
          </a:lstStyle>
          <a:p>
            <a:pPr algn="ctr"/>
            <a:r>
              <a:rPr lang="en-US" altLang="zh-CN" sz="1000" dirty="0">
                <a:solidFill>
                  <a:schemeClr val="bg1"/>
                </a:solidFill>
                <a:latin typeface="Times New Roman Regular" panose="02020503050405090304" charset="0"/>
                <a:ea typeface="MiSans Heavy" panose="00000A00000000000000" pitchFamily="2" charset="-122"/>
                <a:cs typeface="Times New Roman Regular" panose="02020503050405090304" charset="0"/>
                <a:sym typeface="+mn-ea"/>
              </a:rPr>
              <a:t>Result Interpretation &amp; Future Work</a:t>
            </a:r>
            <a:endParaRPr lang="en-US" altLang="zh-CN" sz="1000" dirty="0">
              <a:solidFill>
                <a:schemeClr val="bg1"/>
              </a:solidFill>
              <a:latin typeface="Times New Roman Regular" panose="02020503050405090304" charset="0"/>
              <a:ea typeface="MiSans Heavy" panose="00000A00000000000000" pitchFamily="2" charset="-122"/>
              <a:cs typeface="Times New Roman Regular" panose="02020503050405090304" charset="0"/>
              <a:sym typeface="+mn-ea"/>
            </a:endParaRPr>
          </a:p>
        </p:txBody>
      </p:sp>
      <p:grpSp>
        <p:nvGrpSpPr>
          <p:cNvPr id="24" name="组合 23"/>
          <p:cNvGrpSpPr/>
          <p:nvPr/>
        </p:nvGrpSpPr>
        <p:grpSpPr>
          <a:xfrm>
            <a:off x="1905231" y="1803507"/>
            <a:ext cx="7093330" cy="2477726"/>
            <a:chOff x="2252470" y="2221682"/>
            <a:chExt cx="6902712" cy="2411143"/>
          </a:xfrm>
        </p:grpSpPr>
        <p:sp>
          <p:nvSpPr>
            <p:cNvPr id="3" name="Freeform: Shape 59"/>
            <p:cNvSpPr/>
            <p:nvPr/>
          </p:nvSpPr>
          <p:spPr>
            <a:xfrm>
              <a:off x="7554426" y="2228666"/>
              <a:ext cx="1333056" cy="2404159"/>
            </a:xfrm>
            <a:custGeom>
              <a:avLst/>
              <a:gdLst>
                <a:gd name="connsiteX0" fmla="*/ 347663 w 1090612"/>
                <a:gd name="connsiteY0" fmla="*/ 1963103 h 1966912"/>
                <a:gd name="connsiteX1" fmla="*/ 315277 w 1090612"/>
                <a:gd name="connsiteY1" fmla="*/ 1966913 h 1966912"/>
                <a:gd name="connsiteX2" fmla="*/ 0 w 1090612"/>
                <a:gd name="connsiteY2" fmla="*/ 1966913 h 1966912"/>
                <a:gd name="connsiteX3" fmla="*/ 17145 w 1090612"/>
                <a:gd name="connsiteY3" fmla="*/ 1964055 h 1966912"/>
                <a:gd name="connsiteX4" fmla="*/ 768668 w 1090612"/>
                <a:gd name="connsiteY4" fmla="*/ 983933 h 1966912"/>
                <a:gd name="connsiteX5" fmla="*/ 25717 w 1090612"/>
                <a:gd name="connsiteY5" fmla="*/ 3810 h 1966912"/>
                <a:gd name="connsiteX6" fmla="*/ 208597 w 1090612"/>
                <a:gd name="connsiteY6" fmla="*/ 3810 h 1966912"/>
                <a:gd name="connsiteX7" fmla="*/ 278130 w 1090612"/>
                <a:gd name="connsiteY7" fmla="*/ 0 h 1966912"/>
                <a:gd name="connsiteX8" fmla="*/ 1090613 w 1090612"/>
                <a:gd name="connsiteY8" fmla="*/ 982980 h 1966912"/>
                <a:gd name="connsiteX9" fmla="*/ 347663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347663" y="1963103"/>
                  </a:moveTo>
                  <a:cubicBezTo>
                    <a:pt x="337185" y="1965008"/>
                    <a:pt x="326707" y="1966913"/>
                    <a:pt x="315277" y="1966913"/>
                  </a:cubicBezTo>
                  <a:cubicBezTo>
                    <a:pt x="204788" y="1966913"/>
                    <a:pt x="0" y="1966913"/>
                    <a:pt x="0" y="1966913"/>
                  </a:cubicBezTo>
                  <a:cubicBezTo>
                    <a:pt x="5715" y="1965960"/>
                    <a:pt x="11430" y="1965008"/>
                    <a:pt x="17145" y="1964055"/>
                  </a:cubicBezTo>
                  <a:cubicBezTo>
                    <a:pt x="437197" y="1925955"/>
                    <a:pt x="768668" y="1501140"/>
                    <a:pt x="768668" y="983933"/>
                  </a:cubicBezTo>
                  <a:cubicBezTo>
                    <a:pt x="768668" y="469583"/>
                    <a:pt x="441960" y="47625"/>
                    <a:pt x="25717" y="3810"/>
                  </a:cubicBezTo>
                  <a:cubicBezTo>
                    <a:pt x="63817" y="3810"/>
                    <a:pt x="137160" y="3810"/>
                    <a:pt x="208597" y="3810"/>
                  </a:cubicBezTo>
                  <a:cubicBezTo>
                    <a:pt x="231457" y="1905"/>
                    <a:pt x="255270" y="0"/>
                    <a:pt x="278130" y="0"/>
                  </a:cubicBezTo>
                  <a:cubicBezTo>
                    <a:pt x="726757" y="0"/>
                    <a:pt x="1090613" y="440055"/>
                    <a:pt x="1090613" y="982980"/>
                  </a:cubicBezTo>
                  <a:cubicBezTo>
                    <a:pt x="1090613" y="1498283"/>
                    <a:pt x="763905" y="1920240"/>
                    <a:pt x="347663" y="1963103"/>
                  </a:cubicBezTo>
                  <a:close/>
                </a:path>
              </a:pathLst>
            </a:custGeom>
            <a:solidFill>
              <a:srgbClr val="EEB6B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lt1"/>
                </a:solidFill>
                <a:latin typeface="Segoe UI Light" panose="020B0502040204020203" pitchFamily="34" charset="0"/>
              </a:endParaRPr>
            </a:p>
          </p:txBody>
        </p:sp>
        <p:sp>
          <p:nvSpPr>
            <p:cNvPr id="4" name="Freeform: Shape 51"/>
            <p:cNvSpPr/>
            <p:nvPr/>
          </p:nvSpPr>
          <p:spPr>
            <a:xfrm>
              <a:off x="3235089" y="2228666"/>
              <a:ext cx="1333056" cy="2404159"/>
            </a:xfrm>
            <a:custGeom>
              <a:avLst/>
              <a:gdLst>
                <a:gd name="connsiteX0" fmla="*/ 347663 w 1090612"/>
                <a:gd name="connsiteY0" fmla="*/ 1963103 h 1966912"/>
                <a:gd name="connsiteX1" fmla="*/ 315278 w 1090612"/>
                <a:gd name="connsiteY1" fmla="*/ 1966913 h 1966912"/>
                <a:gd name="connsiteX2" fmla="*/ 0 w 1090612"/>
                <a:gd name="connsiteY2" fmla="*/ 1966913 h 1966912"/>
                <a:gd name="connsiteX3" fmla="*/ 17145 w 1090612"/>
                <a:gd name="connsiteY3" fmla="*/ 1964055 h 1966912"/>
                <a:gd name="connsiteX4" fmla="*/ 768668 w 1090612"/>
                <a:gd name="connsiteY4" fmla="*/ 983933 h 1966912"/>
                <a:gd name="connsiteX5" fmla="*/ 25718 w 1090612"/>
                <a:gd name="connsiteY5" fmla="*/ 3810 h 1966912"/>
                <a:gd name="connsiteX6" fmla="*/ 208598 w 1090612"/>
                <a:gd name="connsiteY6" fmla="*/ 3810 h 1966912"/>
                <a:gd name="connsiteX7" fmla="*/ 278130 w 1090612"/>
                <a:gd name="connsiteY7" fmla="*/ 0 h 1966912"/>
                <a:gd name="connsiteX8" fmla="*/ 1090613 w 1090612"/>
                <a:gd name="connsiteY8" fmla="*/ 982980 h 1966912"/>
                <a:gd name="connsiteX9" fmla="*/ 347663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347663" y="1963103"/>
                  </a:moveTo>
                  <a:cubicBezTo>
                    <a:pt x="337185" y="1965008"/>
                    <a:pt x="326708" y="1966913"/>
                    <a:pt x="315278" y="1966913"/>
                  </a:cubicBezTo>
                  <a:cubicBezTo>
                    <a:pt x="204788" y="1966913"/>
                    <a:pt x="0" y="1966913"/>
                    <a:pt x="0" y="1966913"/>
                  </a:cubicBezTo>
                  <a:cubicBezTo>
                    <a:pt x="5715" y="1965960"/>
                    <a:pt x="11430" y="1965008"/>
                    <a:pt x="17145" y="1964055"/>
                  </a:cubicBezTo>
                  <a:cubicBezTo>
                    <a:pt x="437198" y="1925955"/>
                    <a:pt x="768668" y="1501140"/>
                    <a:pt x="768668" y="983933"/>
                  </a:cubicBezTo>
                  <a:cubicBezTo>
                    <a:pt x="768668" y="469583"/>
                    <a:pt x="441960" y="47625"/>
                    <a:pt x="25718" y="3810"/>
                  </a:cubicBezTo>
                  <a:cubicBezTo>
                    <a:pt x="63818" y="3810"/>
                    <a:pt x="137160" y="3810"/>
                    <a:pt x="208598" y="3810"/>
                  </a:cubicBezTo>
                  <a:cubicBezTo>
                    <a:pt x="231458" y="1905"/>
                    <a:pt x="255270" y="0"/>
                    <a:pt x="278130" y="0"/>
                  </a:cubicBezTo>
                  <a:cubicBezTo>
                    <a:pt x="726758" y="0"/>
                    <a:pt x="1090613" y="440055"/>
                    <a:pt x="1090613" y="982980"/>
                  </a:cubicBezTo>
                  <a:cubicBezTo>
                    <a:pt x="1090613" y="1498283"/>
                    <a:pt x="763905" y="1920240"/>
                    <a:pt x="347663" y="1963103"/>
                  </a:cubicBezTo>
                  <a:close/>
                </a:path>
              </a:pathLst>
            </a:custGeom>
            <a:solidFill>
              <a:srgbClr val="B71A2B">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lt1"/>
                </a:solidFill>
                <a:latin typeface="Segoe UI Light" panose="020B0502040204020203" pitchFamily="34" charset="0"/>
              </a:endParaRPr>
            </a:p>
          </p:txBody>
        </p:sp>
        <p:sp>
          <p:nvSpPr>
            <p:cNvPr id="5" name="Freeform: Shape 56"/>
            <p:cNvSpPr/>
            <p:nvPr/>
          </p:nvSpPr>
          <p:spPr>
            <a:xfrm>
              <a:off x="6188017" y="2221682"/>
              <a:ext cx="1333056" cy="2404159"/>
            </a:xfrm>
            <a:custGeom>
              <a:avLst/>
              <a:gdLst>
                <a:gd name="connsiteX0" fmla="*/ 347663 w 1090612"/>
                <a:gd name="connsiteY0" fmla="*/ 1963103 h 1966912"/>
                <a:gd name="connsiteX1" fmla="*/ 315278 w 1090612"/>
                <a:gd name="connsiteY1" fmla="*/ 1966913 h 1966912"/>
                <a:gd name="connsiteX2" fmla="*/ 0 w 1090612"/>
                <a:gd name="connsiteY2" fmla="*/ 1966913 h 1966912"/>
                <a:gd name="connsiteX3" fmla="*/ 17145 w 1090612"/>
                <a:gd name="connsiteY3" fmla="*/ 1964055 h 1966912"/>
                <a:gd name="connsiteX4" fmla="*/ 768668 w 1090612"/>
                <a:gd name="connsiteY4" fmla="*/ 983933 h 1966912"/>
                <a:gd name="connsiteX5" fmla="*/ 25718 w 1090612"/>
                <a:gd name="connsiteY5" fmla="*/ 3810 h 1966912"/>
                <a:gd name="connsiteX6" fmla="*/ 208597 w 1090612"/>
                <a:gd name="connsiteY6" fmla="*/ 3810 h 1966912"/>
                <a:gd name="connsiteX7" fmla="*/ 278130 w 1090612"/>
                <a:gd name="connsiteY7" fmla="*/ 0 h 1966912"/>
                <a:gd name="connsiteX8" fmla="*/ 1090613 w 1090612"/>
                <a:gd name="connsiteY8" fmla="*/ 982980 h 1966912"/>
                <a:gd name="connsiteX9" fmla="*/ 347663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347663" y="1963103"/>
                  </a:moveTo>
                  <a:cubicBezTo>
                    <a:pt x="337185" y="1965008"/>
                    <a:pt x="326708" y="1966913"/>
                    <a:pt x="315278" y="1966913"/>
                  </a:cubicBezTo>
                  <a:cubicBezTo>
                    <a:pt x="204788" y="1966913"/>
                    <a:pt x="0" y="1966913"/>
                    <a:pt x="0" y="1966913"/>
                  </a:cubicBezTo>
                  <a:cubicBezTo>
                    <a:pt x="5715" y="1965960"/>
                    <a:pt x="11430" y="1965008"/>
                    <a:pt x="17145" y="1964055"/>
                  </a:cubicBezTo>
                  <a:cubicBezTo>
                    <a:pt x="437197" y="1925955"/>
                    <a:pt x="768668" y="1501140"/>
                    <a:pt x="768668" y="983933"/>
                  </a:cubicBezTo>
                  <a:cubicBezTo>
                    <a:pt x="768668" y="469583"/>
                    <a:pt x="441960" y="47625"/>
                    <a:pt x="25718" y="3810"/>
                  </a:cubicBezTo>
                  <a:cubicBezTo>
                    <a:pt x="63818" y="3810"/>
                    <a:pt x="137160" y="3810"/>
                    <a:pt x="208597" y="3810"/>
                  </a:cubicBezTo>
                  <a:cubicBezTo>
                    <a:pt x="231458" y="1905"/>
                    <a:pt x="255270" y="0"/>
                    <a:pt x="278130" y="0"/>
                  </a:cubicBezTo>
                  <a:cubicBezTo>
                    <a:pt x="726758" y="0"/>
                    <a:pt x="1090613" y="440055"/>
                    <a:pt x="1090613" y="982980"/>
                  </a:cubicBezTo>
                  <a:cubicBezTo>
                    <a:pt x="1090613" y="1498283"/>
                    <a:pt x="763905" y="1920240"/>
                    <a:pt x="347663" y="1963103"/>
                  </a:cubicBezTo>
                  <a:close/>
                </a:path>
              </a:pathLst>
            </a:custGeom>
            <a:solidFill>
              <a:srgbClr val="C43C2D">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lt1"/>
                </a:solidFill>
                <a:latin typeface="Segoe UI Light" panose="020B0502040204020203" pitchFamily="34" charset="0"/>
              </a:endParaRPr>
            </a:p>
          </p:txBody>
        </p:sp>
        <p:sp>
          <p:nvSpPr>
            <p:cNvPr id="6" name="Freeform: Shape 53"/>
            <p:cNvSpPr/>
            <p:nvPr/>
          </p:nvSpPr>
          <p:spPr>
            <a:xfrm>
              <a:off x="4702033" y="2228666"/>
              <a:ext cx="1333056" cy="2404159"/>
            </a:xfrm>
            <a:custGeom>
              <a:avLst/>
              <a:gdLst>
                <a:gd name="connsiteX0" fmla="*/ 347663 w 1090612"/>
                <a:gd name="connsiteY0" fmla="*/ 1963103 h 1966912"/>
                <a:gd name="connsiteX1" fmla="*/ 315278 w 1090612"/>
                <a:gd name="connsiteY1" fmla="*/ 1966913 h 1966912"/>
                <a:gd name="connsiteX2" fmla="*/ 0 w 1090612"/>
                <a:gd name="connsiteY2" fmla="*/ 1966913 h 1966912"/>
                <a:gd name="connsiteX3" fmla="*/ 17145 w 1090612"/>
                <a:gd name="connsiteY3" fmla="*/ 1964055 h 1966912"/>
                <a:gd name="connsiteX4" fmla="*/ 768668 w 1090612"/>
                <a:gd name="connsiteY4" fmla="*/ 983933 h 1966912"/>
                <a:gd name="connsiteX5" fmla="*/ 25717 w 1090612"/>
                <a:gd name="connsiteY5" fmla="*/ 3810 h 1966912"/>
                <a:gd name="connsiteX6" fmla="*/ 208598 w 1090612"/>
                <a:gd name="connsiteY6" fmla="*/ 3810 h 1966912"/>
                <a:gd name="connsiteX7" fmla="*/ 278130 w 1090612"/>
                <a:gd name="connsiteY7" fmla="*/ 0 h 1966912"/>
                <a:gd name="connsiteX8" fmla="*/ 1090613 w 1090612"/>
                <a:gd name="connsiteY8" fmla="*/ 982980 h 1966912"/>
                <a:gd name="connsiteX9" fmla="*/ 347663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347663" y="1963103"/>
                  </a:moveTo>
                  <a:cubicBezTo>
                    <a:pt x="337185" y="1965008"/>
                    <a:pt x="326708" y="1966913"/>
                    <a:pt x="315278" y="1966913"/>
                  </a:cubicBezTo>
                  <a:cubicBezTo>
                    <a:pt x="204788" y="1966913"/>
                    <a:pt x="0" y="1966913"/>
                    <a:pt x="0" y="1966913"/>
                  </a:cubicBezTo>
                  <a:cubicBezTo>
                    <a:pt x="5715" y="1965960"/>
                    <a:pt x="11430" y="1965008"/>
                    <a:pt x="17145" y="1964055"/>
                  </a:cubicBezTo>
                  <a:cubicBezTo>
                    <a:pt x="437198" y="1925955"/>
                    <a:pt x="768668" y="1501140"/>
                    <a:pt x="768668" y="983933"/>
                  </a:cubicBezTo>
                  <a:cubicBezTo>
                    <a:pt x="768668" y="469583"/>
                    <a:pt x="441960" y="47625"/>
                    <a:pt x="25717" y="3810"/>
                  </a:cubicBezTo>
                  <a:cubicBezTo>
                    <a:pt x="63817" y="3810"/>
                    <a:pt x="137160" y="3810"/>
                    <a:pt x="208598" y="3810"/>
                  </a:cubicBezTo>
                  <a:cubicBezTo>
                    <a:pt x="231458" y="1905"/>
                    <a:pt x="255270" y="0"/>
                    <a:pt x="278130" y="0"/>
                  </a:cubicBezTo>
                  <a:cubicBezTo>
                    <a:pt x="726758" y="0"/>
                    <a:pt x="1090613" y="440055"/>
                    <a:pt x="1090613" y="982980"/>
                  </a:cubicBezTo>
                  <a:cubicBezTo>
                    <a:pt x="1090613" y="1498283"/>
                    <a:pt x="763905" y="1920240"/>
                    <a:pt x="347663" y="1963103"/>
                  </a:cubicBezTo>
                  <a:close/>
                </a:path>
              </a:pathLst>
            </a:custGeom>
            <a:solidFill>
              <a:srgbClr val="832430">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lt1"/>
                </a:solidFill>
                <a:latin typeface="Segoe UI Light" panose="020B0502040204020203" pitchFamily="34" charset="0"/>
              </a:endParaRPr>
            </a:p>
          </p:txBody>
        </p:sp>
        <p:sp>
          <p:nvSpPr>
            <p:cNvPr id="7" name="Arrow"/>
            <p:cNvSpPr/>
            <p:nvPr/>
          </p:nvSpPr>
          <p:spPr>
            <a:xfrm>
              <a:off x="2546620" y="2905312"/>
              <a:ext cx="6608562" cy="1056689"/>
            </a:xfrm>
            <a:prstGeom prst="rightArrow">
              <a:avLst>
                <a:gd name="adj1" fmla="val 58103"/>
                <a:gd name="adj2" fmla="val 94586"/>
              </a:avLst>
            </a:prstGeom>
            <a:gradFill>
              <a:gsLst>
                <a:gs pos="0">
                  <a:schemeClr val="bg1"/>
                </a:gs>
                <a:gs pos="30000">
                  <a:srgbClr val="AE192C"/>
                </a:gs>
              </a:gsLst>
              <a:lin ang="2700000" scaled="0"/>
            </a:gradFill>
            <a:ln>
              <a:noFill/>
            </a:ln>
            <a:effectLst>
              <a:outerShdw blurRad="876300" dist="673100" dir="8100000" sx="95000" sy="95000" algn="tr" rotWithShape="0">
                <a:prstClr val="black">
                  <a:alpha val="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mj-lt"/>
              </a:endParaRPr>
            </a:p>
          </p:txBody>
        </p:sp>
        <p:sp>
          <p:nvSpPr>
            <p:cNvPr id="18" name="Freeform: Shape 89"/>
            <p:cNvSpPr/>
            <p:nvPr/>
          </p:nvSpPr>
          <p:spPr>
            <a:xfrm>
              <a:off x="5204986" y="2228666"/>
              <a:ext cx="1333056" cy="2404159"/>
            </a:xfrm>
            <a:custGeom>
              <a:avLst/>
              <a:gdLst>
                <a:gd name="connsiteX0" fmla="*/ 742950 w 1090612"/>
                <a:gd name="connsiteY0" fmla="*/ 1963103 h 1966912"/>
                <a:gd name="connsiteX1" fmla="*/ 775335 w 1090612"/>
                <a:gd name="connsiteY1" fmla="*/ 1966913 h 1966912"/>
                <a:gd name="connsiteX2" fmla="*/ 1090613 w 1090612"/>
                <a:gd name="connsiteY2" fmla="*/ 1966913 h 1966912"/>
                <a:gd name="connsiteX3" fmla="*/ 1073468 w 1090612"/>
                <a:gd name="connsiteY3" fmla="*/ 1964055 h 1966912"/>
                <a:gd name="connsiteX4" fmla="*/ 321945 w 1090612"/>
                <a:gd name="connsiteY4" fmla="*/ 983933 h 1966912"/>
                <a:gd name="connsiteX5" fmla="*/ 1064895 w 1090612"/>
                <a:gd name="connsiteY5" fmla="*/ 3810 h 1966912"/>
                <a:gd name="connsiteX6" fmla="*/ 882015 w 1090612"/>
                <a:gd name="connsiteY6" fmla="*/ 3810 h 1966912"/>
                <a:gd name="connsiteX7" fmla="*/ 812483 w 1090612"/>
                <a:gd name="connsiteY7" fmla="*/ 0 h 1966912"/>
                <a:gd name="connsiteX8" fmla="*/ 0 w 1090612"/>
                <a:gd name="connsiteY8" fmla="*/ 982980 h 1966912"/>
                <a:gd name="connsiteX9" fmla="*/ 742950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742950" y="1963103"/>
                  </a:moveTo>
                  <a:cubicBezTo>
                    <a:pt x="753428" y="1965008"/>
                    <a:pt x="763905" y="1966913"/>
                    <a:pt x="775335" y="1966913"/>
                  </a:cubicBezTo>
                  <a:cubicBezTo>
                    <a:pt x="885825" y="1966913"/>
                    <a:pt x="1090613" y="1966913"/>
                    <a:pt x="1090613" y="1966913"/>
                  </a:cubicBezTo>
                  <a:cubicBezTo>
                    <a:pt x="1084898" y="1965960"/>
                    <a:pt x="1079183" y="1965008"/>
                    <a:pt x="1073468" y="1964055"/>
                  </a:cubicBezTo>
                  <a:cubicBezTo>
                    <a:pt x="653415" y="1925955"/>
                    <a:pt x="321945" y="1501140"/>
                    <a:pt x="321945" y="983933"/>
                  </a:cubicBezTo>
                  <a:cubicBezTo>
                    <a:pt x="321945" y="469583"/>
                    <a:pt x="648653" y="47625"/>
                    <a:pt x="1064895" y="3810"/>
                  </a:cubicBezTo>
                  <a:cubicBezTo>
                    <a:pt x="1026795" y="3810"/>
                    <a:pt x="953453" y="3810"/>
                    <a:pt x="882015" y="3810"/>
                  </a:cubicBezTo>
                  <a:cubicBezTo>
                    <a:pt x="859155" y="1905"/>
                    <a:pt x="835343" y="0"/>
                    <a:pt x="812483" y="0"/>
                  </a:cubicBezTo>
                  <a:cubicBezTo>
                    <a:pt x="363855" y="0"/>
                    <a:pt x="0" y="440055"/>
                    <a:pt x="0" y="982980"/>
                  </a:cubicBezTo>
                  <a:cubicBezTo>
                    <a:pt x="0" y="1498283"/>
                    <a:pt x="326708" y="1920240"/>
                    <a:pt x="742950" y="1963103"/>
                  </a:cubicBezTo>
                  <a:close/>
                </a:path>
              </a:pathLst>
            </a:custGeom>
            <a:solidFill>
              <a:srgbClr val="C43C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lt1"/>
                </a:solidFill>
                <a:latin typeface="Segoe UI Light" panose="020B0502040204020203" pitchFamily="34" charset="0"/>
              </a:endParaRPr>
            </a:p>
          </p:txBody>
        </p:sp>
        <p:sp>
          <p:nvSpPr>
            <p:cNvPr id="16" name="Freeform: Shape 92"/>
            <p:cNvSpPr/>
            <p:nvPr/>
          </p:nvSpPr>
          <p:spPr>
            <a:xfrm>
              <a:off x="3752012" y="2228666"/>
              <a:ext cx="1333056" cy="2404159"/>
            </a:xfrm>
            <a:custGeom>
              <a:avLst/>
              <a:gdLst>
                <a:gd name="connsiteX0" fmla="*/ 742950 w 1090612"/>
                <a:gd name="connsiteY0" fmla="*/ 1963103 h 1966912"/>
                <a:gd name="connsiteX1" fmla="*/ 775335 w 1090612"/>
                <a:gd name="connsiteY1" fmla="*/ 1966913 h 1966912"/>
                <a:gd name="connsiteX2" fmla="*/ 1090613 w 1090612"/>
                <a:gd name="connsiteY2" fmla="*/ 1966913 h 1966912"/>
                <a:gd name="connsiteX3" fmla="*/ 1073468 w 1090612"/>
                <a:gd name="connsiteY3" fmla="*/ 1964055 h 1966912"/>
                <a:gd name="connsiteX4" fmla="*/ 321945 w 1090612"/>
                <a:gd name="connsiteY4" fmla="*/ 983933 h 1966912"/>
                <a:gd name="connsiteX5" fmla="*/ 1064895 w 1090612"/>
                <a:gd name="connsiteY5" fmla="*/ 3810 h 1966912"/>
                <a:gd name="connsiteX6" fmla="*/ 882015 w 1090612"/>
                <a:gd name="connsiteY6" fmla="*/ 3810 h 1966912"/>
                <a:gd name="connsiteX7" fmla="*/ 812483 w 1090612"/>
                <a:gd name="connsiteY7" fmla="*/ 0 h 1966912"/>
                <a:gd name="connsiteX8" fmla="*/ 0 w 1090612"/>
                <a:gd name="connsiteY8" fmla="*/ 982980 h 1966912"/>
                <a:gd name="connsiteX9" fmla="*/ 742950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742950" y="1963103"/>
                  </a:moveTo>
                  <a:cubicBezTo>
                    <a:pt x="753428" y="1965008"/>
                    <a:pt x="763905" y="1966913"/>
                    <a:pt x="775335" y="1966913"/>
                  </a:cubicBezTo>
                  <a:cubicBezTo>
                    <a:pt x="885825" y="1966913"/>
                    <a:pt x="1090613" y="1966913"/>
                    <a:pt x="1090613" y="1966913"/>
                  </a:cubicBezTo>
                  <a:cubicBezTo>
                    <a:pt x="1084898" y="1965960"/>
                    <a:pt x="1079183" y="1965008"/>
                    <a:pt x="1073468" y="1964055"/>
                  </a:cubicBezTo>
                  <a:cubicBezTo>
                    <a:pt x="653415" y="1925955"/>
                    <a:pt x="321945" y="1501140"/>
                    <a:pt x="321945" y="983933"/>
                  </a:cubicBezTo>
                  <a:cubicBezTo>
                    <a:pt x="321945" y="469583"/>
                    <a:pt x="648653" y="47625"/>
                    <a:pt x="1064895" y="3810"/>
                  </a:cubicBezTo>
                  <a:cubicBezTo>
                    <a:pt x="1026795" y="3810"/>
                    <a:pt x="953453" y="3810"/>
                    <a:pt x="882015" y="3810"/>
                  </a:cubicBezTo>
                  <a:cubicBezTo>
                    <a:pt x="859155" y="1905"/>
                    <a:pt x="835343" y="0"/>
                    <a:pt x="812483" y="0"/>
                  </a:cubicBezTo>
                  <a:cubicBezTo>
                    <a:pt x="363855" y="0"/>
                    <a:pt x="0" y="440055"/>
                    <a:pt x="0" y="982980"/>
                  </a:cubicBezTo>
                  <a:cubicBezTo>
                    <a:pt x="0" y="1498283"/>
                    <a:pt x="326708" y="1920240"/>
                    <a:pt x="742950" y="1963103"/>
                  </a:cubicBezTo>
                  <a:close/>
                </a:path>
              </a:pathLst>
            </a:custGeom>
            <a:solidFill>
              <a:srgbClr val="8324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latin typeface="Segoe UI Light" panose="020B0502040204020203" pitchFamily="34" charset="0"/>
              </a:endParaRPr>
            </a:p>
          </p:txBody>
        </p:sp>
        <p:sp>
          <p:nvSpPr>
            <p:cNvPr id="14" name="Freeform: Shape 95"/>
            <p:cNvSpPr/>
            <p:nvPr/>
          </p:nvSpPr>
          <p:spPr>
            <a:xfrm>
              <a:off x="2252470" y="2228666"/>
              <a:ext cx="1333056" cy="2404159"/>
            </a:xfrm>
            <a:custGeom>
              <a:avLst/>
              <a:gdLst>
                <a:gd name="connsiteX0" fmla="*/ 742950 w 1090612"/>
                <a:gd name="connsiteY0" fmla="*/ 1963103 h 1966912"/>
                <a:gd name="connsiteX1" fmla="*/ 775335 w 1090612"/>
                <a:gd name="connsiteY1" fmla="*/ 1966913 h 1966912"/>
                <a:gd name="connsiteX2" fmla="*/ 1090613 w 1090612"/>
                <a:gd name="connsiteY2" fmla="*/ 1966913 h 1966912"/>
                <a:gd name="connsiteX3" fmla="*/ 1073468 w 1090612"/>
                <a:gd name="connsiteY3" fmla="*/ 1964055 h 1966912"/>
                <a:gd name="connsiteX4" fmla="*/ 321945 w 1090612"/>
                <a:gd name="connsiteY4" fmla="*/ 983933 h 1966912"/>
                <a:gd name="connsiteX5" fmla="*/ 1064895 w 1090612"/>
                <a:gd name="connsiteY5" fmla="*/ 3810 h 1966912"/>
                <a:gd name="connsiteX6" fmla="*/ 882015 w 1090612"/>
                <a:gd name="connsiteY6" fmla="*/ 3810 h 1966912"/>
                <a:gd name="connsiteX7" fmla="*/ 812483 w 1090612"/>
                <a:gd name="connsiteY7" fmla="*/ 0 h 1966912"/>
                <a:gd name="connsiteX8" fmla="*/ 0 w 1090612"/>
                <a:gd name="connsiteY8" fmla="*/ 982980 h 1966912"/>
                <a:gd name="connsiteX9" fmla="*/ 742950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742950" y="1963103"/>
                  </a:moveTo>
                  <a:cubicBezTo>
                    <a:pt x="753428" y="1965008"/>
                    <a:pt x="763905" y="1966913"/>
                    <a:pt x="775335" y="1966913"/>
                  </a:cubicBezTo>
                  <a:cubicBezTo>
                    <a:pt x="885825" y="1966913"/>
                    <a:pt x="1090613" y="1966913"/>
                    <a:pt x="1090613" y="1966913"/>
                  </a:cubicBezTo>
                  <a:cubicBezTo>
                    <a:pt x="1084898" y="1965960"/>
                    <a:pt x="1079183" y="1965008"/>
                    <a:pt x="1073468" y="1964055"/>
                  </a:cubicBezTo>
                  <a:cubicBezTo>
                    <a:pt x="653415" y="1925955"/>
                    <a:pt x="321945" y="1501140"/>
                    <a:pt x="321945" y="983933"/>
                  </a:cubicBezTo>
                  <a:cubicBezTo>
                    <a:pt x="321945" y="469583"/>
                    <a:pt x="648653" y="47625"/>
                    <a:pt x="1064895" y="3810"/>
                  </a:cubicBezTo>
                  <a:cubicBezTo>
                    <a:pt x="1026795" y="3810"/>
                    <a:pt x="953453" y="3810"/>
                    <a:pt x="882015" y="3810"/>
                  </a:cubicBezTo>
                  <a:cubicBezTo>
                    <a:pt x="859155" y="1905"/>
                    <a:pt x="835343" y="0"/>
                    <a:pt x="812483" y="0"/>
                  </a:cubicBezTo>
                  <a:cubicBezTo>
                    <a:pt x="363855" y="0"/>
                    <a:pt x="0" y="440055"/>
                    <a:pt x="0" y="982980"/>
                  </a:cubicBezTo>
                  <a:cubicBezTo>
                    <a:pt x="0" y="1498283"/>
                    <a:pt x="326708" y="1920240"/>
                    <a:pt x="742950" y="1963103"/>
                  </a:cubicBezTo>
                  <a:close/>
                </a:path>
              </a:pathLst>
            </a:custGeom>
            <a:solidFill>
              <a:srgbClr val="B71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latin typeface="Segoe UI Light" panose="020B0502040204020203" pitchFamily="34" charset="0"/>
              </a:endParaRPr>
            </a:p>
          </p:txBody>
        </p:sp>
        <p:sp>
          <p:nvSpPr>
            <p:cNvPr id="12" name="Freeform: Shape 98"/>
            <p:cNvSpPr/>
            <p:nvPr/>
          </p:nvSpPr>
          <p:spPr>
            <a:xfrm>
              <a:off x="6604749" y="2225174"/>
              <a:ext cx="1333056" cy="2404159"/>
            </a:xfrm>
            <a:custGeom>
              <a:avLst/>
              <a:gdLst>
                <a:gd name="connsiteX0" fmla="*/ 742950 w 1090612"/>
                <a:gd name="connsiteY0" fmla="*/ 1963103 h 1966912"/>
                <a:gd name="connsiteX1" fmla="*/ 775335 w 1090612"/>
                <a:gd name="connsiteY1" fmla="*/ 1966913 h 1966912"/>
                <a:gd name="connsiteX2" fmla="*/ 1090613 w 1090612"/>
                <a:gd name="connsiteY2" fmla="*/ 1966913 h 1966912"/>
                <a:gd name="connsiteX3" fmla="*/ 1073468 w 1090612"/>
                <a:gd name="connsiteY3" fmla="*/ 1964055 h 1966912"/>
                <a:gd name="connsiteX4" fmla="*/ 321945 w 1090612"/>
                <a:gd name="connsiteY4" fmla="*/ 983933 h 1966912"/>
                <a:gd name="connsiteX5" fmla="*/ 1064895 w 1090612"/>
                <a:gd name="connsiteY5" fmla="*/ 3810 h 1966912"/>
                <a:gd name="connsiteX6" fmla="*/ 882015 w 1090612"/>
                <a:gd name="connsiteY6" fmla="*/ 3810 h 1966912"/>
                <a:gd name="connsiteX7" fmla="*/ 812483 w 1090612"/>
                <a:gd name="connsiteY7" fmla="*/ 0 h 1966912"/>
                <a:gd name="connsiteX8" fmla="*/ 0 w 1090612"/>
                <a:gd name="connsiteY8" fmla="*/ 982980 h 1966912"/>
                <a:gd name="connsiteX9" fmla="*/ 742950 w 1090612"/>
                <a:gd name="connsiteY9" fmla="*/ 1963103 h 1966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0612" h="1966912">
                  <a:moveTo>
                    <a:pt x="742950" y="1963103"/>
                  </a:moveTo>
                  <a:cubicBezTo>
                    <a:pt x="753428" y="1965008"/>
                    <a:pt x="763905" y="1966913"/>
                    <a:pt x="775335" y="1966913"/>
                  </a:cubicBezTo>
                  <a:cubicBezTo>
                    <a:pt x="885825" y="1966913"/>
                    <a:pt x="1090613" y="1966913"/>
                    <a:pt x="1090613" y="1966913"/>
                  </a:cubicBezTo>
                  <a:cubicBezTo>
                    <a:pt x="1084898" y="1965960"/>
                    <a:pt x="1079183" y="1965008"/>
                    <a:pt x="1073468" y="1964055"/>
                  </a:cubicBezTo>
                  <a:cubicBezTo>
                    <a:pt x="653415" y="1925955"/>
                    <a:pt x="321945" y="1501140"/>
                    <a:pt x="321945" y="983933"/>
                  </a:cubicBezTo>
                  <a:cubicBezTo>
                    <a:pt x="321945" y="469583"/>
                    <a:pt x="648653" y="47625"/>
                    <a:pt x="1064895" y="3810"/>
                  </a:cubicBezTo>
                  <a:cubicBezTo>
                    <a:pt x="1026795" y="3810"/>
                    <a:pt x="953453" y="3810"/>
                    <a:pt x="882015" y="3810"/>
                  </a:cubicBezTo>
                  <a:cubicBezTo>
                    <a:pt x="859155" y="1905"/>
                    <a:pt x="835343" y="0"/>
                    <a:pt x="812483" y="0"/>
                  </a:cubicBezTo>
                  <a:cubicBezTo>
                    <a:pt x="363855" y="0"/>
                    <a:pt x="0" y="440055"/>
                    <a:pt x="0" y="982980"/>
                  </a:cubicBezTo>
                  <a:cubicBezTo>
                    <a:pt x="0" y="1498283"/>
                    <a:pt x="326708" y="1920240"/>
                    <a:pt x="742950" y="1963103"/>
                  </a:cubicBezTo>
                  <a:close/>
                </a:path>
              </a:pathLst>
            </a:custGeom>
            <a:solidFill>
              <a:srgbClr val="EEB6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latin typeface="Segoe UI Light" panose="020B0502040204020203" pitchFamily="34" charset="0"/>
              </a:endParaRPr>
            </a:p>
          </p:txBody>
        </p:sp>
      </p:grpSp>
      <p:sp>
        <p:nvSpPr>
          <p:cNvPr id="11" name="Lorem ipsum dolor sit amet…"/>
          <p:cNvSpPr txBox="1"/>
          <p:nvPr/>
        </p:nvSpPr>
        <p:spPr>
          <a:xfrm>
            <a:off x="9382760" y="1714500"/>
            <a:ext cx="2395220" cy="752475"/>
          </a:xfrm>
          <a:prstGeom prst="rect">
            <a:avLst/>
          </a:prstGeom>
          <a:ln w="12700">
            <a:miter lim="400000"/>
          </a:ln>
        </p:spPr>
        <p:txBody>
          <a:bodyPr wrap="square" lIns="50800" tIns="50800" rIns="50800" bIns="50800" anchor="ctr">
            <a:noAutofit/>
          </a:bodyPr>
          <a:lstStyle/>
          <a:p>
            <a:pPr>
              <a:lnSpc>
                <a:spcPct val="150000"/>
              </a:lnSpc>
            </a:pPr>
            <a:r>
              <a:rPr lang="en-US" altLang="zh-CN" sz="900" dirty="0">
                <a:solidFill>
                  <a:schemeClr val="bg1"/>
                </a:solidFill>
                <a:latin typeface="Times New Roman Regular" panose="02020503050405090304" charset="0"/>
                <a:ea typeface="HarmonyOS Sans SC Light" panose="00000400000000000000" pitchFamily="2" charset="-122"/>
                <a:cs typeface="Times New Roman Regular" panose="02020503050405090304" charset="0"/>
              </a:rPr>
              <a:t>To ensure efficient workflow and version consistency, we adopted the following collaboratin tools:</a:t>
            </a:r>
            <a:endParaRPr lang="en-US" altLang="zh-CN" sz="900" dirty="0">
              <a:solidFill>
                <a:schemeClr val="bg1"/>
              </a:solidFill>
              <a:latin typeface="Times New Roman Regular" panose="02020503050405090304" charset="0"/>
              <a:ea typeface="HarmonyOS Sans SC Light" panose="00000400000000000000" pitchFamily="2" charset="-122"/>
              <a:cs typeface="Times New Roman Regular" panose="02020503050405090304" charset="0"/>
            </a:endParaRPr>
          </a:p>
        </p:txBody>
      </p:sp>
      <p:sp>
        <p:nvSpPr>
          <p:cNvPr id="19" name="Shape"/>
          <p:cNvSpPr/>
          <p:nvPr/>
        </p:nvSpPr>
        <p:spPr>
          <a:xfrm>
            <a:off x="377825" y="5099685"/>
            <a:ext cx="2825750" cy="1362075"/>
          </a:xfrm>
          <a:custGeom>
            <a:avLst/>
            <a:gdLst/>
            <a:ahLst/>
            <a:cxnLst>
              <a:cxn ang="0">
                <a:pos x="wd2" y="hd2"/>
              </a:cxn>
              <a:cxn ang="5400000">
                <a:pos x="wd2" y="hd2"/>
              </a:cxn>
              <a:cxn ang="10800000">
                <a:pos x="wd2" y="hd2"/>
              </a:cxn>
              <a:cxn ang="16200000">
                <a:pos x="wd2" y="hd2"/>
              </a:cxn>
            </a:cxnLst>
            <a:rect l="0" t="0" r="r" b="b"/>
            <a:pathLst>
              <a:path w="21600" h="21600" extrusionOk="0">
                <a:moveTo>
                  <a:pt x="877" y="0"/>
                </a:moveTo>
                <a:cubicBezTo>
                  <a:pt x="619" y="0"/>
                  <a:pt x="466" y="0"/>
                  <a:pt x="363" y="66"/>
                </a:cubicBezTo>
                <a:cubicBezTo>
                  <a:pt x="215" y="148"/>
                  <a:pt x="97" y="328"/>
                  <a:pt x="43" y="554"/>
                </a:cubicBezTo>
                <a:cubicBezTo>
                  <a:pt x="0" y="712"/>
                  <a:pt x="0" y="949"/>
                  <a:pt x="0" y="1342"/>
                </a:cubicBezTo>
                <a:lnTo>
                  <a:pt x="0" y="20261"/>
                </a:lnTo>
                <a:cubicBezTo>
                  <a:pt x="0" y="20654"/>
                  <a:pt x="0" y="20888"/>
                  <a:pt x="43" y="21046"/>
                </a:cubicBezTo>
                <a:cubicBezTo>
                  <a:pt x="97" y="21272"/>
                  <a:pt x="215" y="21452"/>
                  <a:pt x="363" y="21534"/>
                </a:cubicBezTo>
                <a:cubicBezTo>
                  <a:pt x="466" y="21600"/>
                  <a:pt x="619" y="21600"/>
                  <a:pt x="877" y="21600"/>
                </a:cubicBezTo>
                <a:lnTo>
                  <a:pt x="20723" y="21600"/>
                </a:lnTo>
                <a:cubicBezTo>
                  <a:pt x="20981" y="21600"/>
                  <a:pt x="21134" y="21600"/>
                  <a:pt x="21237" y="21534"/>
                </a:cubicBezTo>
                <a:cubicBezTo>
                  <a:pt x="21385" y="21452"/>
                  <a:pt x="21503" y="21272"/>
                  <a:pt x="21557" y="21046"/>
                </a:cubicBezTo>
                <a:cubicBezTo>
                  <a:pt x="21600" y="20888"/>
                  <a:pt x="21600" y="20654"/>
                  <a:pt x="21600" y="20261"/>
                </a:cubicBezTo>
                <a:lnTo>
                  <a:pt x="21600" y="1342"/>
                </a:lnTo>
                <a:cubicBezTo>
                  <a:pt x="21600" y="949"/>
                  <a:pt x="21600" y="712"/>
                  <a:pt x="21557" y="554"/>
                </a:cubicBezTo>
                <a:cubicBezTo>
                  <a:pt x="21503" y="328"/>
                  <a:pt x="21385" y="148"/>
                  <a:pt x="21237" y="66"/>
                </a:cubicBezTo>
                <a:cubicBezTo>
                  <a:pt x="21134" y="0"/>
                  <a:pt x="20981" y="0"/>
                  <a:pt x="20723" y="0"/>
                </a:cubicBezTo>
                <a:lnTo>
                  <a:pt x="877" y="0"/>
                </a:lnTo>
                <a:close/>
              </a:path>
            </a:pathLst>
          </a:custGeom>
          <a:solidFill>
            <a:srgbClr val="B71A2B"/>
          </a:solidFill>
          <a:ln w="25400" cap="flat">
            <a:solidFill>
              <a:srgbClr val="B71A2B"/>
            </a:solidFill>
            <a:prstDash val="solid"/>
            <a:round/>
          </a:ln>
          <a:effectLst/>
        </p:spPr>
        <p:txBody>
          <a:bodyPr wrap="square" lIns="0" tIns="0" rIns="0" bIns="0" numCol="1" anchor="ctr">
            <a:noAutofit/>
          </a:bodyPr>
          <a:lstStyle/>
          <a:p>
            <a:endParaRPr sz="900"/>
          </a:p>
        </p:txBody>
      </p:sp>
      <p:sp>
        <p:nvSpPr>
          <p:cNvPr id="20" name="Shape"/>
          <p:cNvSpPr/>
          <p:nvPr/>
        </p:nvSpPr>
        <p:spPr>
          <a:xfrm>
            <a:off x="3280410" y="5099685"/>
            <a:ext cx="2825750" cy="1362075"/>
          </a:xfrm>
          <a:custGeom>
            <a:avLst/>
            <a:gdLst/>
            <a:ahLst/>
            <a:cxnLst>
              <a:cxn ang="0">
                <a:pos x="wd2" y="hd2"/>
              </a:cxn>
              <a:cxn ang="5400000">
                <a:pos x="wd2" y="hd2"/>
              </a:cxn>
              <a:cxn ang="10800000">
                <a:pos x="wd2" y="hd2"/>
              </a:cxn>
              <a:cxn ang="16200000">
                <a:pos x="wd2" y="hd2"/>
              </a:cxn>
            </a:cxnLst>
            <a:rect l="0" t="0" r="r" b="b"/>
            <a:pathLst>
              <a:path w="21600" h="21600" extrusionOk="0">
                <a:moveTo>
                  <a:pt x="877" y="0"/>
                </a:moveTo>
                <a:cubicBezTo>
                  <a:pt x="619" y="0"/>
                  <a:pt x="466" y="0"/>
                  <a:pt x="363" y="66"/>
                </a:cubicBezTo>
                <a:cubicBezTo>
                  <a:pt x="215" y="148"/>
                  <a:pt x="97" y="328"/>
                  <a:pt x="43" y="554"/>
                </a:cubicBezTo>
                <a:cubicBezTo>
                  <a:pt x="0" y="712"/>
                  <a:pt x="0" y="949"/>
                  <a:pt x="0" y="1342"/>
                </a:cubicBezTo>
                <a:lnTo>
                  <a:pt x="0" y="20261"/>
                </a:lnTo>
                <a:cubicBezTo>
                  <a:pt x="0" y="20654"/>
                  <a:pt x="0" y="20888"/>
                  <a:pt x="43" y="21046"/>
                </a:cubicBezTo>
                <a:cubicBezTo>
                  <a:pt x="97" y="21272"/>
                  <a:pt x="215" y="21452"/>
                  <a:pt x="363" y="21534"/>
                </a:cubicBezTo>
                <a:cubicBezTo>
                  <a:pt x="466" y="21600"/>
                  <a:pt x="619" y="21600"/>
                  <a:pt x="877" y="21600"/>
                </a:cubicBezTo>
                <a:lnTo>
                  <a:pt x="20723" y="21600"/>
                </a:lnTo>
                <a:cubicBezTo>
                  <a:pt x="20981" y="21600"/>
                  <a:pt x="21134" y="21600"/>
                  <a:pt x="21237" y="21534"/>
                </a:cubicBezTo>
                <a:cubicBezTo>
                  <a:pt x="21385" y="21452"/>
                  <a:pt x="21503" y="21272"/>
                  <a:pt x="21557" y="21046"/>
                </a:cubicBezTo>
                <a:cubicBezTo>
                  <a:pt x="21600" y="20888"/>
                  <a:pt x="21600" y="20654"/>
                  <a:pt x="21600" y="20261"/>
                </a:cubicBezTo>
                <a:lnTo>
                  <a:pt x="21600" y="1342"/>
                </a:lnTo>
                <a:cubicBezTo>
                  <a:pt x="21600" y="949"/>
                  <a:pt x="21600" y="712"/>
                  <a:pt x="21557" y="554"/>
                </a:cubicBezTo>
                <a:cubicBezTo>
                  <a:pt x="21503" y="328"/>
                  <a:pt x="21385" y="148"/>
                  <a:pt x="21237" y="66"/>
                </a:cubicBezTo>
                <a:cubicBezTo>
                  <a:pt x="21134" y="0"/>
                  <a:pt x="20981" y="0"/>
                  <a:pt x="20723" y="0"/>
                </a:cubicBezTo>
                <a:lnTo>
                  <a:pt x="877" y="0"/>
                </a:lnTo>
                <a:close/>
              </a:path>
            </a:pathLst>
          </a:custGeom>
          <a:solidFill>
            <a:schemeClr val="bg1"/>
          </a:solidFill>
          <a:ln w="25400" cap="flat">
            <a:solidFill>
              <a:srgbClr val="832430"/>
            </a:solidFill>
            <a:prstDash val="solid"/>
            <a:round/>
          </a:ln>
          <a:effectLst/>
        </p:spPr>
        <p:txBody>
          <a:bodyPr wrap="square" lIns="0" tIns="0" rIns="0" bIns="0" numCol="1" anchor="ctr">
            <a:noAutofit/>
          </a:bodyPr>
          <a:lstStyle/>
          <a:p>
            <a:endParaRPr sz="900"/>
          </a:p>
        </p:txBody>
      </p:sp>
      <p:sp>
        <p:nvSpPr>
          <p:cNvPr id="2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45795" y="5729605"/>
            <a:ext cx="2169795" cy="594995"/>
          </a:xfrm>
          <a:prstGeom prst="rect">
            <a:avLst/>
          </a:prstGeom>
          <a:noFill/>
          <a:ln w="12700" cap="flat">
            <a:noFill/>
            <a:miter lim="400000"/>
          </a:ln>
          <a:effectLst/>
        </p:spPr>
        <p:txBody>
          <a:bodyPr wrap="square" lIns="25400" tIns="25400" rIns="25400" bIns="25400" numCol="1" anchor="t">
            <a:noAutofit/>
          </a:bodyPr>
          <a:lstStyle>
            <a:lvl1pPr algn="l">
              <a:defRPr sz="2400">
                <a:solidFill>
                  <a:srgbClr val="A7A7A7"/>
                </a:solidFill>
                <a:latin typeface="Barlow Medium"/>
                <a:ea typeface="Barlow Medium"/>
                <a:cs typeface="Barlow Medium"/>
                <a:sym typeface="Barlow Medium"/>
              </a:defRPr>
            </a:lvl1pPr>
          </a:lstStyle>
          <a:p>
            <a:r>
              <a:rPr lang="en-US" altLang="zh-CN" sz="1000" dirty="0">
                <a:solidFill>
                  <a:schemeClr val="bg1"/>
                </a:solidFill>
                <a:latin typeface="Times New Roman Regular" panose="02020503050405090304" charset="0"/>
                <a:ea typeface="HarmonyOS Sans SC" panose="00000500000000000000" pitchFamily="2" charset="-122"/>
                <a:cs typeface="Times New Roman Regular" panose="02020503050405090304" charset="0"/>
              </a:rPr>
              <a:t>Reviewed studies on lncRNA, MIR100HG, and TGF-β signaling to understand their roles in cancer.</a:t>
            </a:r>
            <a:endParaRPr lang="en-US" altLang="zh-CN" sz="1000" dirty="0">
              <a:solidFill>
                <a:schemeClr val="bg1"/>
              </a:solidFill>
              <a:latin typeface="Times New Roman Regular" panose="02020503050405090304" charset="0"/>
              <a:ea typeface="HarmonyOS Sans SC" panose="00000500000000000000" pitchFamily="2" charset="-122"/>
              <a:cs typeface="Times New Roman Regular" panose="02020503050405090304" charset="0"/>
            </a:endParaRPr>
          </a:p>
        </p:txBody>
      </p:sp>
      <p:sp>
        <p:nvSpPr>
          <p:cNvPr id="2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12775" y="5328285"/>
            <a:ext cx="2395220" cy="381000"/>
          </a:xfrm>
          <a:prstGeom prst="rect">
            <a:avLst/>
          </a:prstGeom>
          <a:noFill/>
          <a:ln w="12700" cap="flat">
            <a:noFill/>
            <a:miter lim="400000"/>
          </a:ln>
          <a:effectLst/>
        </p:spPr>
        <p:txBody>
          <a:bodyPr wrap="square" lIns="25400" tIns="25400" rIns="25400" bIns="25400" numCol="1" anchor="t">
            <a:noAutofit/>
          </a:bodyPr>
          <a:lstStyle>
            <a:lvl1pPr algn="l">
              <a:defRPr sz="3600">
                <a:solidFill>
                  <a:schemeClr val="accent1"/>
                </a:solidFill>
                <a:latin typeface="Barlow SemiBold"/>
                <a:ea typeface="Barlow SemiBold"/>
                <a:cs typeface="Barlow SemiBold"/>
                <a:sym typeface="Barlow SemiBold"/>
              </a:defRPr>
            </a:lvl1pPr>
          </a:lstStyle>
          <a:p>
            <a:r>
              <a:rPr lang="en-US" altLang="zh-CN" sz="1200" b="1" dirty="0">
                <a:solidFill>
                  <a:schemeClr val="bg1"/>
                </a:solidFill>
                <a:latin typeface="Times New Roman Bold" panose="02020503050405090304" charset="0"/>
                <a:ea typeface="MiSans Heavy" panose="00000A00000000000000" pitchFamily="2" charset="-122"/>
                <a:cs typeface="Times New Roman Bold" panose="02020503050405090304" charset="0"/>
              </a:rPr>
              <a:t>Literature Review &amp; Background</a:t>
            </a:r>
            <a:endParaRPr lang="en-US" altLang="zh-CN" sz="1200" b="1" dirty="0">
              <a:solidFill>
                <a:schemeClr val="bg1"/>
              </a:solidFill>
              <a:latin typeface="Times New Roman Bold" panose="02020503050405090304" charset="0"/>
              <a:ea typeface="MiSans Heavy" panose="00000A00000000000000" pitchFamily="2" charset="-122"/>
              <a:cs typeface="Times New Roman Bold" panose="02020503050405090304" charset="0"/>
            </a:endParaRPr>
          </a:p>
        </p:txBody>
      </p:sp>
      <p:sp>
        <p:nvSpPr>
          <p:cNvPr id="2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515360" y="5651500"/>
            <a:ext cx="2543810" cy="843915"/>
          </a:xfrm>
          <a:prstGeom prst="rect">
            <a:avLst/>
          </a:prstGeom>
          <a:noFill/>
          <a:ln w="12700" cap="flat">
            <a:noFill/>
            <a:miter lim="400000"/>
          </a:ln>
          <a:effectLst/>
        </p:spPr>
        <p:txBody>
          <a:bodyPr wrap="square" lIns="25400" tIns="25400" rIns="25400" bIns="25400" numCol="1" anchor="t">
            <a:noAutofit/>
          </a:bodyPr>
          <a:lstStyle>
            <a:lvl1pPr algn="l">
              <a:defRPr sz="2400">
                <a:solidFill>
                  <a:srgbClr val="A7A7A7"/>
                </a:solidFill>
                <a:latin typeface="Barlow Medium"/>
                <a:ea typeface="Barlow Medium"/>
                <a:cs typeface="Barlow Medium"/>
                <a:sym typeface="Barlow Medium"/>
              </a:defRPr>
            </a:lvl1pPr>
          </a:lstStyle>
          <a:p>
            <a:r>
              <a:rPr lang="en-US" altLang="zh-CN" sz="1000" dirty="0">
                <a:solidFill>
                  <a:schemeClr val="tx1"/>
                </a:solidFill>
                <a:latin typeface="HarmonyOS Sans SC" panose="00000500000000000000" pitchFamily="2" charset="-122"/>
                <a:ea typeface="HarmonyOS Sans SC" panose="00000500000000000000" pitchFamily="2" charset="-122"/>
              </a:rPr>
              <a:t>Cleaned missing and outlier data, integrated expression, methylation, and clinical info, and performed basic stratification and correlation analysis.</a:t>
            </a:r>
            <a:endParaRPr lang="en-US" altLang="zh-CN" sz="1000" dirty="0">
              <a:solidFill>
                <a:schemeClr val="tx1"/>
              </a:solidFill>
              <a:latin typeface="HarmonyOS Sans SC" panose="00000500000000000000" pitchFamily="2" charset="-122"/>
              <a:ea typeface="HarmonyOS Sans SC" panose="00000500000000000000" pitchFamily="2" charset="-122"/>
            </a:endParaRPr>
          </a:p>
        </p:txBody>
      </p:sp>
      <p:sp>
        <p:nvSpPr>
          <p:cNvPr id="2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446145" y="5272405"/>
            <a:ext cx="2613025" cy="594995"/>
          </a:xfrm>
          <a:prstGeom prst="rect">
            <a:avLst/>
          </a:prstGeom>
          <a:noFill/>
          <a:ln w="12700" cap="flat">
            <a:noFill/>
            <a:miter lim="400000"/>
          </a:ln>
          <a:effectLst/>
        </p:spPr>
        <p:txBody>
          <a:bodyPr wrap="square" lIns="25400" tIns="25400" rIns="25400" bIns="25400" numCol="1" anchor="t">
            <a:noAutofit/>
          </a:bodyPr>
          <a:lstStyle>
            <a:lvl1pPr algn="l">
              <a:defRPr sz="3600">
                <a:solidFill>
                  <a:schemeClr val="accent2"/>
                </a:solidFill>
                <a:latin typeface="Barlow SemiBold"/>
                <a:ea typeface="Barlow SemiBold"/>
                <a:cs typeface="Barlow SemiBold"/>
                <a:sym typeface="Barlow SemiBold"/>
              </a:defRPr>
            </a:lvl1pPr>
          </a:lstStyle>
          <a:p>
            <a:r>
              <a:rPr lang="en-US" altLang="zh-CN" sz="1200" b="1" dirty="0">
                <a:solidFill>
                  <a:schemeClr val="tx1"/>
                </a:solidFill>
                <a:latin typeface="Times New Roman Bold" panose="02020503050405090304" charset="0"/>
                <a:ea typeface="MiSans Heavy" panose="00000A00000000000000" pitchFamily="2" charset="-122"/>
                <a:cs typeface="Times New Roman Bold" panose="02020503050405090304" charset="0"/>
              </a:rPr>
              <a:t>Data Cleaning &amp; Statistical Analysis</a:t>
            </a:r>
            <a:endParaRPr lang="en-US" altLang="zh-CN" sz="1200" b="1" dirty="0">
              <a:solidFill>
                <a:schemeClr val="tx1"/>
              </a:solidFill>
              <a:latin typeface="Times New Roman Bold" panose="02020503050405090304" charset="0"/>
              <a:ea typeface="MiSans Heavy" panose="00000A00000000000000" pitchFamily="2" charset="-122"/>
              <a:cs typeface="Times New Roman Bold" panose="02020503050405090304" charset="0"/>
            </a:endParaRPr>
          </a:p>
        </p:txBody>
      </p:sp>
      <p:sp>
        <p:nvSpPr>
          <p:cNvPr id="26" name="Shape"/>
          <p:cNvSpPr/>
          <p:nvPr/>
        </p:nvSpPr>
        <p:spPr>
          <a:xfrm>
            <a:off x="6182995" y="5099685"/>
            <a:ext cx="2825115" cy="1362075"/>
          </a:xfrm>
          <a:custGeom>
            <a:avLst/>
            <a:gdLst/>
            <a:ahLst/>
            <a:cxnLst>
              <a:cxn ang="0">
                <a:pos x="wd2" y="hd2"/>
              </a:cxn>
              <a:cxn ang="5400000">
                <a:pos x="wd2" y="hd2"/>
              </a:cxn>
              <a:cxn ang="10800000">
                <a:pos x="wd2" y="hd2"/>
              </a:cxn>
              <a:cxn ang="16200000">
                <a:pos x="wd2" y="hd2"/>
              </a:cxn>
            </a:cxnLst>
            <a:rect l="0" t="0" r="r" b="b"/>
            <a:pathLst>
              <a:path w="21600" h="21600" extrusionOk="0">
                <a:moveTo>
                  <a:pt x="877" y="0"/>
                </a:moveTo>
                <a:cubicBezTo>
                  <a:pt x="620" y="0"/>
                  <a:pt x="464" y="0"/>
                  <a:pt x="361" y="66"/>
                </a:cubicBezTo>
                <a:cubicBezTo>
                  <a:pt x="213" y="148"/>
                  <a:pt x="97" y="328"/>
                  <a:pt x="43" y="554"/>
                </a:cubicBezTo>
                <a:cubicBezTo>
                  <a:pt x="0" y="712"/>
                  <a:pt x="0" y="949"/>
                  <a:pt x="0" y="1342"/>
                </a:cubicBezTo>
                <a:lnTo>
                  <a:pt x="0" y="20261"/>
                </a:lnTo>
                <a:cubicBezTo>
                  <a:pt x="0" y="20654"/>
                  <a:pt x="0" y="20888"/>
                  <a:pt x="43" y="21046"/>
                </a:cubicBezTo>
                <a:cubicBezTo>
                  <a:pt x="97" y="21272"/>
                  <a:pt x="213" y="21452"/>
                  <a:pt x="361" y="21534"/>
                </a:cubicBezTo>
                <a:cubicBezTo>
                  <a:pt x="464" y="21600"/>
                  <a:pt x="620" y="21600"/>
                  <a:pt x="877" y="21600"/>
                </a:cubicBezTo>
                <a:lnTo>
                  <a:pt x="20723" y="21600"/>
                </a:lnTo>
                <a:cubicBezTo>
                  <a:pt x="20980" y="21600"/>
                  <a:pt x="21136" y="21600"/>
                  <a:pt x="21239" y="21534"/>
                </a:cubicBezTo>
                <a:cubicBezTo>
                  <a:pt x="21387" y="21452"/>
                  <a:pt x="21503" y="21272"/>
                  <a:pt x="21557" y="21046"/>
                </a:cubicBezTo>
                <a:cubicBezTo>
                  <a:pt x="21600" y="20888"/>
                  <a:pt x="21600" y="20654"/>
                  <a:pt x="21600" y="20261"/>
                </a:cubicBezTo>
                <a:lnTo>
                  <a:pt x="21600" y="1342"/>
                </a:lnTo>
                <a:cubicBezTo>
                  <a:pt x="21600" y="949"/>
                  <a:pt x="21600" y="712"/>
                  <a:pt x="21557" y="554"/>
                </a:cubicBezTo>
                <a:cubicBezTo>
                  <a:pt x="21503" y="328"/>
                  <a:pt x="21387" y="148"/>
                  <a:pt x="21239" y="66"/>
                </a:cubicBezTo>
                <a:cubicBezTo>
                  <a:pt x="21136" y="0"/>
                  <a:pt x="20980" y="0"/>
                  <a:pt x="20723" y="0"/>
                </a:cubicBezTo>
                <a:lnTo>
                  <a:pt x="877" y="0"/>
                </a:lnTo>
                <a:close/>
              </a:path>
            </a:pathLst>
          </a:custGeom>
          <a:solidFill>
            <a:schemeClr val="bg1"/>
          </a:solidFill>
          <a:ln w="25400" cap="flat">
            <a:solidFill>
              <a:srgbClr val="C43C2D"/>
            </a:solidFill>
            <a:prstDash val="solid"/>
            <a:round/>
          </a:ln>
          <a:effectLst/>
        </p:spPr>
        <p:txBody>
          <a:bodyPr wrap="square" lIns="0" tIns="0" rIns="0" bIns="0" numCol="1" anchor="ctr">
            <a:noAutofit/>
          </a:bodyPr>
          <a:lstStyle/>
          <a:p>
            <a:endParaRPr sz="900"/>
          </a:p>
        </p:txBody>
      </p:sp>
      <p:sp>
        <p:nvSpPr>
          <p:cNvPr id="28" name="Shape"/>
          <p:cNvSpPr/>
          <p:nvPr/>
        </p:nvSpPr>
        <p:spPr>
          <a:xfrm>
            <a:off x="9085580" y="5099685"/>
            <a:ext cx="2825750" cy="1362075"/>
          </a:xfrm>
          <a:custGeom>
            <a:avLst/>
            <a:gdLst/>
            <a:ahLst/>
            <a:cxnLst>
              <a:cxn ang="0">
                <a:pos x="wd2" y="hd2"/>
              </a:cxn>
              <a:cxn ang="5400000">
                <a:pos x="wd2" y="hd2"/>
              </a:cxn>
              <a:cxn ang="10800000">
                <a:pos x="wd2" y="hd2"/>
              </a:cxn>
              <a:cxn ang="16200000">
                <a:pos x="wd2" y="hd2"/>
              </a:cxn>
            </a:cxnLst>
            <a:rect l="0" t="0" r="r" b="b"/>
            <a:pathLst>
              <a:path w="21600" h="21600" extrusionOk="0">
                <a:moveTo>
                  <a:pt x="877" y="0"/>
                </a:moveTo>
                <a:cubicBezTo>
                  <a:pt x="620" y="0"/>
                  <a:pt x="466" y="0"/>
                  <a:pt x="363" y="66"/>
                </a:cubicBezTo>
                <a:cubicBezTo>
                  <a:pt x="215" y="148"/>
                  <a:pt x="97" y="328"/>
                  <a:pt x="43" y="554"/>
                </a:cubicBezTo>
                <a:cubicBezTo>
                  <a:pt x="0" y="712"/>
                  <a:pt x="0" y="949"/>
                  <a:pt x="0" y="1342"/>
                </a:cubicBezTo>
                <a:lnTo>
                  <a:pt x="0" y="20261"/>
                </a:lnTo>
                <a:cubicBezTo>
                  <a:pt x="0" y="20654"/>
                  <a:pt x="0" y="20888"/>
                  <a:pt x="43" y="21046"/>
                </a:cubicBezTo>
                <a:cubicBezTo>
                  <a:pt x="97" y="21272"/>
                  <a:pt x="215" y="21452"/>
                  <a:pt x="363" y="21534"/>
                </a:cubicBezTo>
                <a:cubicBezTo>
                  <a:pt x="466" y="21600"/>
                  <a:pt x="620" y="21600"/>
                  <a:pt x="877" y="21600"/>
                </a:cubicBezTo>
                <a:lnTo>
                  <a:pt x="20723" y="21600"/>
                </a:lnTo>
                <a:cubicBezTo>
                  <a:pt x="20980" y="21600"/>
                  <a:pt x="21134" y="21600"/>
                  <a:pt x="21237" y="21534"/>
                </a:cubicBezTo>
                <a:cubicBezTo>
                  <a:pt x="21385" y="21452"/>
                  <a:pt x="21503" y="21272"/>
                  <a:pt x="21557" y="21046"/>
                </a:cubicBezTo>
                <a:cubicBezTo>
                  <a:pt x="21600" y="20888"/>
                  <a:pt x="21600" y="20654"/>
                  <a:pt x="21600" y="20261"/>
                </a:cubicBezTo>
                <a:lnTo>
                  <a:pt x="21600" y="1342"/>
                </a:lnTo>
                <a:cubicBezTo>
                  <a:pt x="21600" y="949"/>
                  <a:pt x="21600" y="712"/>
                  <a:pt x="21557" y="554"/>
                </a:cubicBezTo>
                <a:cubicBezTo>
                  <a:pt x="21503" y="328"/>
                  <a:pt x="21385" y="148"/>
                  <a:pt x="21237" y="66"/>
                </a:cubicBezTo>
                <a:cubicBezTo>
                  <a:pt x="21134" y="0"/>
                  <a:pt x="20980" y="0"/>
                  <a:pt x="20723" y="0"/>
                </a:cubicBezTo>
                <a:lnTo>
                  <a:pt x="877" y="0"/>
                </a:lnTo>
                <a:close/>
              </a:path>
            </a:pathLst>
          </a:custGeom>
          <a:solidFill>
            <a:schemeClr val="bg1"/>
          </a:solidFill>
          <a:ln w="25400" cap="flat">
            <a:solidFill>
              <a:srgbClr val="EEB6B0"/>
            </a:solidFill>
            <a:prstDash val="solid"/>
            <a:round/>
          </a:ln>
          <a:effectLst/>
        </p:spPr>
        <p:txBody>
          <a:bodyPr wrap="square" lIns="0" tIns="0" rIns="0" bIns="0" numCol="1" anchor="ctr">
            <a:noAutofit/>
          </a:bodyPr>
          <a:lstStyle/>
          <a:p>
            <a:endParaRPr sz="900"/>
          </a:p>
        </p:txBody>
      </p:sp>
      <p:sp>
        <p:nvSpPr>
          <p:cNvPr id="2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438265" y="5684520"/>
            <a:ext cx="2286000" cy="474345"/>
          </a:xfrm>
          <a:prstGeom prst="rect">
            <a:avLst/>
          </a:prstGeom>
          <a:noFill/>
          <a:ln w="12700" cap="flat">
            <a:noFill/>
            <a:miter lim="400000"/>
          </a:ln>
          <a:effectLst/>
        </p:spPr>
        <p:txBody>
          <a:bodyPr wrap="square" lIns="25400" tIns="25400" rIns="25400" bIns="25400" numCol="1" anchor="t">
            <a:noAutofit/>
          </a:bodyPr>
          <a:lstStyle>
            <a:lvl1pPr algn="l">
              <a:defRPr sz="2400">
                <a:solidFill>
                  <a:srgbClr val="A7A7A7"/>
                </a:solidFill>
                <a:latin typeface="Barlow Medium"/>
                <a:ea typeface="Barlow Medium"/>
                <a:cs typeface="Barlow Medium"/>
                <a:sym typeface="Barlow Medium"/>
              </a:defRPr>
            </a:lvl1pPr>
          </a:lstStyle>
          <a:p>
            <a:r>
              <a:rPr lang="en-US" altLang="zh-CN" sz="1000" dirty="0">
                <a:solidFill>
                  <a:srgbClr val="C43C2D"/>
                </a:solidFill>
                <a:latin typeface="Times New Roman Regular" panose="02020503050405090304" charset="0"/>
                <a:ea typeface="HarmonyOS Sans SC" panose="00000500000000000000" pitchFamily="2" charset="-122"/>
                <a:cs typeface="Times New Roman Regular" panose="02020503050405090304" charset="0"/>
              </a:rPr>
              <a:t>Trained XGBoost models to identify key regulators, using multi-omics features in both cancer and normal tissues.</a:t>
            </a:r>
            <a:endParaRPr lang="en-US" altLang="zh-CN" sz="1000" dirty="0">
              <a:solidFill>
                <a:srgbClr val="C43C2D"/>
              </a:solidFill>
              <a:latin typeface="Times New Roman Regular" panose="02020503050405090304" charset="0"/>
              <a:ea typeface="HarmonyOS Sans SC" panose="00000500000000000000" pitchFamily="2" charset="-122"/>
              <a:cs typeface="Times New Roman Regular" panose="02020503050405090304" charset="0"/>
            </a:endParaRPr>
          </a:p>
        </p:txBody>
      </p:sp>
      <p:sp>
        <p:nvSpPr>
          <p:cNvPr id="3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417945" y="5272405"/>
            <a:ext cx="2170430" cy="436880"/>
          </a:xfrm>
          <a:prstGeom prst="rect">
            <a:avLst/>
          </a:prstGeom>
          <a:noFill/>
          <a:ln w="12700" cap="flat">
            <a:noFill/>
            <a:miter lim="400000"/>
          </a:ln>
          <a:effectLst/>
        </p:spPr>
        <p:txBody>
          <a:bodyPr wrap="square" lIns="25400" tIns="25400" rIns="25400" bIns="25400" numCol="1" anchor="t">
            <a:noAutofit/>
          </a:bodyPr>
          <a:lstStyle>
            <a:lvl1pPr algn="l">
              <a:defRPr sz="3600">
                <a:solidFill>
                  <a:schemeClr val="accent3"/>
                </a:solidFill>
                <a:latin typeface="Barlow SemiBold"/>
                <a:ea typeface="Barlow SemiBold"/>
                <a:cs typeface="Barlow SemiBold"/>
                <a:sym typeface="Barlow SemiBold"/>
              </a:defRPr>
            </a:lvl1pPr>
          </a:lstStyle>
          <a:p>
            <a:r>
              <a:rPr lang="en-US" altLang="zh-CN" sz="1200" b="1" dirty="0">
                <a:solidFill>
                  <a:srgbClr val="C43C2D"/>
                </a:solidFill>
                <a:latin typeface="Times New Roman Bold" panose="02020503050405090304" charset="0"/>
                <a:ea typeface="MiSans Heavy" panose="00000A00000000000000" pitchFamily="2" charset="-122"/>
                <a:cs typeface="Times New Roman Bold" panose="02020503050405090304" charset="0"/>
              </a:rPr>
              <a:t>Modeling &amp; Feature Selection</a:t>
            </a:r>
            <a:endParaRPr lang="en-US" altLang="zh-CN" sz="1200" b="1" dirty="0">
              <a:solidFill>
                <a:srgbClr val="C43C2D"/>
              </a:solidFill>
              <a:latin typeface="Times New Roman Bold" panose="02020503050405090304" charset="0"/>
              <a:ea typeface="MiSans Heavy" panose="00000A00000000000000" pitchFamily="2" charset="-122"/>
              <a:cs typeface="Times New Roman Bold" panose="02020503050405090304" charset="0"/>
            </a:endParaRPr>
          </a:p>
        </p:txBody>
      </p:sp>
      <p:sp>
        <p:nvSpPr>
          <p:cNvPr id="3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340850" y="5742305"/>
            <a:ext cx="2335530" cy="416560"/>
          </a:xfrm>
          <a:prstGeom prst="rect">
            <a:avLst/>
          </a:prstGeom>
          <a:noFill/>
          <a:ln w="12700" cap="flat">
            <a:noFill/>
            <a:miter lim="400000"/>
          </a:ln>
          <a:effectLst/>
        </p:spPr>
        <p:txBody>
          <a:bodyPr wrap="square" lIns="25400" tIns="25400" rIns="25400" bIns="25400" numCol="1" anchor="t">
            <a:noAutofit/>
          </a:bodyPr>
          <a:lstStyle>
            <a:lvl1pPr algn="l">
              <a:defRPr sz="2400">
                <a:solidFill>
                  <a:srgbClr val="A7A7A7"/>
                </a:solidFill>
                <a:latin typeface="Barlow Medium"/>
                <a:ea typeface="Barlow Medium"/>
                <a:cs typeface="Barlow Medium"/>
                <a:sym typeface="Barlow Medium"/>
              </a:defRPr>
            </a:lvl1pPr>
          </a:lstStyle>
          <a:p>
            <a:r>
              <a:rPr lang="en-US" altLang="zh-CN" sz="1000" dirty="0">
                <a:solidFill>
                  <a:srgbClr val="E19D96"/>
                </a:solidFill>
                <a:latin typeface="Times New Roman Regular" panose="02020503050405090304" charset="0"/>
                <a:ea typeface="HarmonyOS Sans SC" panose="00000500000000000000" pitchFamily="2" charset="-122"/>
                <a:cs typeface="Times New Roman Regular" panose="02020503050405090304" charset="0"/>
              </a:rPr>
              <a:t>Interpreted results, linked findings to biological context, and suggested future directions for expansion and validation.</a:t>
            </a:r>
            <a:endParaRPr lang="en-US" altLang="zh-CN" sz="1000" dirty="0">
              <a:solidFill>
                <a:srgbClr val="E19D96"/>
              </a:solidFill>
              <a:latin typeface="Times New Roman Regular" panose="02020503050405090304" charset="0"/>
              <a:ea typeface="HarmonyOS Sans SC" panose="00000500000000000000" pitchFamily="2" charset="-122"/>
              <a:cs typeface="Times New Roman Regular" panose="02020503050405090304" charset="0"/>
            </a:endParaRPr>
          </a:p>
        </p:txBody>
      </p:sp>
      <p:sp>
        <p:nvSpPr>
          <p:cNvPr id="3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9340850" y="5272405"/>
            <a:ext cx="2227580" cy="594995"/>
          </a:xfrm>
          <a:prstGeom prst="rect">
            <a:avLst/>
          </a:prstGeom>
          <a:noFill/>
          <a:ln w="12700" cap="flat">
            <a:noFill/>
            <a:miter lim="400000"/>
          </a:ln>
          <a:effectLst/>
        </p:spPr>
        <p:txBody>
          <a:bodyPr wrap="square" lIns="25400" tIns="25400" rIns="25400" bIns="25400" numCol="1" anchor="t">
            <a:noAutofit/>
          </a:bodyPr>
          <a:lstStyle>
            <a:lvl1pPr algn="l">
              <a:defRPr sz="3600">
                <a:solidFill>
                  <a:srgbClr val="535353"/>
                </a:solidFill>
                <a:latin typeface="Barlow SemiBold"/>
                <a:ea typeface="Barlow SemiBold"/>
                <a:cs typeface="Barlow SemiBold"/>
                <a:sym typeface="Barlow SemiBold"/>
              </a:defRPr>
            </a:lvl1pPr>
          </a:lstStyle>
          <a:p>
            <a:r>
              <a:rPr lang="en-US" altLang="zh-CN" sz="1200" b="1" dirty="0">
                <a:solidFill>
                  <a:srgbClr val="E19D96"/>
                </a:solidFill>
                <a:latin typeface="Times New Roman Bold" panose="02020503050405090304" charset="0"/>
                <a:ea typeface="MiSans Heavy" panose="00000A00000000000000" pitchFamily="2" charset="-122"/>
                <a:cs typeface="Times New Roman Bold" panose="02020503050405090304" charset="0"/>
              </a:rPr>
              <a:t>Result Interpretation &amp; Future Work</a:t>
            </a:r>
            <a:endParaRPr lang="en-US" altLang="zh-CN" sz="1200" b="1" dirty="0">
              <a:solidFill>
                <a:srgbClr val="E19D96"/>
              </a:solidFill>
              <a:latin typeface="Times New Roman Bold" panose="02020503050405090304" charset="0"/>
              <a:ea typeface="MiSans Heavy" panose="00000A00000000000000" pitchFamily="2" charset="-122"/>
              <a:cs typeface="Times New Roman Bold" panose="02020503050405090304" charset="0"/>
            </a:endParaRPr>
          </a:p>
        </p:txBody>
      </p:sp>
      <p:grpSp>
        <p:nvGrpSpPr>
          <p:cNvPr id="48" name="组合 47"/>
          <p:cNvGrpSpPr/>
          <p:nvPr/>
        </p:nvGrpSpPr>
        <p:grpSpPr>
          <a:xfrm>
            <a:off x="3966845" y="1092200"/>
            <a:ext cx="1802130" cy="669925"/>
            <a:chOff x="3828079" y="1153409"/>
            <a:chExt cx="1534432" cy="669727"/>
          </a:xfrm>
        </p:grpSpPr>
        <p:sp>
          <p:nvSpPr>
            <p:cNvPr id="41" name="Google Shape;1933;p36"/>
            <p:cNvSpPr/>
            <p:nvPr/>
          </p:nvSpPr>
          <p:spPr>
            <a:xfrm>
              <a:off x="3828079" y="1357933"/>
              <a:ext cx="1534432" cy="465203"/>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ctr">
                <a:buClr>
                  <a:schemeClr val="dk2"/>
                </a:buClr>
                <a:buSzPts val="800"/>
              </a:pPr>
              <a:r>
                <a:rPr lang="en-US" altLang="zh-CN" sz="1200" b="1"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rPr>
                <a:t>Data Cleaning &amp; Statistical Analysis</a:t>
              </a:r>
              <a:endParaRPr lang="en-US" altLang="zh-CN" sz="1200" b="1"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endParaRPr>
            </a:p>
          </p:txBody>
        </p:sp>
        <p:sp>
          <p:nvSpPr>
            <p:cNvPr id="47" name="Google Shape;1934;p36"/>
            <p:cNvSpPr/>
            <p:nvPr/>
          </p:nvSpPr>
          <p:spPr>
            <a:xfrm>
              <a:off x="4135913" y="1153409"/>
              <a:ext cx="945625" cy="235962"/>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ctr">
                <a:buClr>
                  <a:schemeClr val="dk1"/>
                </a:buClr>
                <a:buSzPts val="900"/>
              </a:pPr>
              <a:r>
                <a:rPr lang="en-US" altLang="zh-CN" sz="1400" b="1" dirty="0">
                  <a:solidFill>
                    <a:srgbClr val="AE192C"/>
                  </a:solidFill>
                  <a:latin typeface="Times New Roman Regular" panose="02020503050405090304" charset="0"/>
                  <a:ea typeface="HarmonyOS Sans SC Medium" panose="00000600000000000000" pitchFamily="2" charset="-122"/>
                  <a:cs typeface="Times New Roman Regular" panose="02020503050405090304" charset="0"/>
                  <a:sym typeface="Barlow SemiBold"/>
                </a:rPr>
                <a:t>Step 2</a:t>
              </a:r>
              <a:endParaRPr lang="en-US" altLang="zh-CN" sz="1400" b="1" dirty="0">
                <a:solidFill>
                  <a:srgbClr val="AE192C"/>
                </a:solidFill>
                <a:latin typeface="Times New Roman Regular" panose="02020503050405090304" charset="0"/>
                <a:ea typeface="HarmonyOS Sans SC Medium" panose="00000600000000000000" pitchFamily="2" charset="-122"/>
                <a:cs typeface="Times New Roman Regular" panose="02020503050405090304" charset="0"/>
                <a:sym typeface="Barlow SemiBold"/>
              </a:endParaRPr>
            </a:p>
          </p:txBody>
        </p:sp>
      </p:grpSp>
      <p:grpSp>
        <p:nvGrpSpPr>
          <p:cNvPr id="52" name="组合 51"/>
          <p:cNvGrpSpPr/>
          <p:nvPr/>
        </p:nvGrpSpPr>
        <p:grpSpPr>
          <a:xfrm>
            <a:off x="6837045" y="1087120"/>
            <a:ext cx="1802130" cy="669925"/>
            <a:chOff x="3828079" y="1153409"/>
            <a:chExt cx="1534432" cy="669727"/>
          </a:xfrm>
        </p:grpSpPr>
        <p:sp>
          <p:nvSpPr>
            <p:cNvPr id="53" name="Google Shape;1933;p36"/>
            <p:cNvSpPr/>
            <p:nvPr/>
          </p:nvSpPr>
          <p:spPr>
            <a:xfrm>
              <a:off x="3828079" y="1357933"/>
              <a:ext cx="1534432" cy="465203"/>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ctr">
                <a:buClr>
                  <a:schemeClr val="dk2"/>
                </a:buClr>
                <a:buSzPts val="800"/>
              </a:pPr>
              <a:r>
                <a:rPr lang="en-US" altLang="zh-CN" sz="1200" b="1" dirty="0">
                  <a:solidFill>
                    <a:srgbClr val="AE192C"/>
                  </a:solidFill>
                  <a:latin typeface="Times New Roman Bold" panose="02020503050405090304" charset="0"/>
                  <a:ea typeface="HarmonyOS Sans SC Light" panose="00000400000000000000" pitchFamily="2" charset="-122"/>
                  <a:cs typeface="Times New Roman Bold" panose="02020503050405090304" charset="0"/>
                </a:rPr>
                <a:t>Result Interpretation &amp; Future Work</a:t>
              </a:r>
              <a:endParaRPr lang="en-US" altLang="zh-CN" sz="1200" b="1" dirty="0">
                <a:solidFill>
                  <a:srgbClr val="AE192C"/>
                </a:solidFill>
                <a:latin typeface="Times New Roman Bold" panose="02020503050405090304" charset="0"/>
                <a:ea typeface="HarmonyOS Sans SC Light" panose="00000400000000000000" pitchFamily="2" charset="-122"/>
                <a:cs typeface="Times New Roman Bold" panose="02020503050405090304" charset="0"/>
              </a:endParaRPr>
            </a:p>
          </p:txBody>
        </p:sp>
        <p:sp>
          <p:nvSpPr>
            <p:cNvPr id="54" name="Google Shape;1934;p36"/>
            <p:cNvSpPr/>
            <p:nvPr/>
          </p:nvSpPr>
          <p:spPr>
            <a:xfrm>
              <a:off x="4135913" y="1153409"/>
              <a:ext cx="945625" cy="235962"/>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ctr">
                <a:buClr>
                  <a:schemeClr val="dk1"/>
                </a:buClr>
                <a:buSzPts val="900"/>
              </a:pPr>
              <a:r>
                <a:rPr lang="en-US" altLang="zh-CN" sz="1400" b="1" dirty="0">
                  <a:solidFill>
                    <a:srgbClr val="AE192C"/>
                  </a:solidFill>
                  <a:latin typeface="Times New Roman Bold" panose="02020503050405090304" charset="0"/>
                  <a:ea typeface="HarmonyOS Sans SC Medium" panose="00000600000000000000" pitchFamily="2" charset="-122"/>
                  <a:cs typeface="Times New Roman Bold" panose="02020503050405090304" charset="0"/>
                  <a:sym typeface="Barlow SemiBold"/>
                </a:rPr>
                <a:t>Step 3</a:t>
              </a:r>
              <a:endParaRPr lang="en-US" altLang="zh-CN" sz="1400" b="1" dirty="0">
                <a:solidFill>
                  <a:srgbClr val="AE192C"/>
                </a:solidFill>
                <a:latin typeface="Times New Roman Bold" panose="02020503050405090304" charset="0"/>
                <a:ea typeface="HarmonyOS Sans SC Medium" panose="00000600000000000000" pitchFamily="2" charset="-122"/>
                <a:cs typeface="Times New Roman Bold" panose="02020503050405090304" charset="0"/>
                <a:sym typeface="Barlow SemiBold"/>
              </a:endParaRPr>
            </a:p>
          </p:txBody>
        </p:sp>
      </p:grpSp>
      <p:grpSp>
        <p:nvGrpSpPr>
          <p:cNvPr id="55" name="组合 54"/>
          <p:cNvGrpSpPr/>
          <p:nvPr/>
        </p:nvGrpSpPr>
        <p:grpSpPr>
          <a:xfrm>
            <a:off x="2479675" y="4429125"/>
            <a:ext cx="1802130" cy="669925"/>
            <a:chOff x="3828079" y="1153409"/>
            <a:chExt cx="1534432" cy="669727"/>
          </a:xfrm>
        </p:grpSpPr>
        <p:sp>
          <p:nvSpPr>
            <p:cNvPr id="56" name="Google Shape;1933;p36"/>
            <p:cNvSpPr/>
            <p:nvPr/>
          </p:nvSpPr>
          <p:spPr>
            <a:xfrm>
              <a:off x="3828079" y="1357933"/>
              <a:ext cx="1534432" cy="465203"/>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ctr">
                <a:buClr>
                  <a:schemeClr val="dk2"/>
                </a:buClr>
                <a:buSzPts val="800"/>
              </a:pPr>
              <a:r>
                <a:rPr lang="en-US" altLang="zh-CN" sz="1200" b="1"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rPr>
                <a:t>Literature Review &amp; Background</a:t>
              </a:r>
              <a:endParaRPr lang="en-US" altLang="zh-CN" sz="1200" b="1"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endParaRPr>
            </a:p>
          </p:txBody>
        </p:sp>
        <p:sp>
          <p:nvSpPr>
            <p:cNvPr id="57" name="Google Shape;1934;p36"/>
            <p:cNvSpPr/>
            <p:nvPr/>
          </p:nvSpPr>
          <p:spPr>
            <a:xfrm>
              <a:off x="4135913" y="1153409"/>
              <a:ext cx="945625" cy="235962"/>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ctr">
                <a:buClr>
                  <a:schemeClr val="dk1"/>
                </a:buClr>
                <a:buSzPts val="900"/>
              </a:pPr>
              <a:r>
                <a:rPr lang="en-US" altLang="zh-CN" sz="1400" b="1" dirty="0">
                  <a:solidFill>
                    <a:srgbClr val="AE192C"/>
                  </a:solidFill>
                  <a:latin typeface="Times New Roman Regular" panose="02020503050405090304" charset="0"/>
                  <a:ea typeface="HarmonyOS Sans SC Medium" panose="00000600000000000000" pitchFamily="2" charset="-122"/>
                  <a:cs typeface="Times New Roman Regular" panose="02020503050405090304" charset="0"/>
                  <a:sym typeface="Barlow SemiBold"/>
                </a:rPr>
                <a:t>Step 1</a:t>
              </a:r>
              <a:endParaRPr lang="en-US" altLang="zh-CN" sz="1400" b="1" dirty="0">
                <a:solidFill>
                  <a:srgbClr val="AE192C"/>
                </a:solidFill>
                <a:latin typeface="Times New Roman Regular" panose="02020503050405090304" charset="0"/>
                <a:ea typeface="HarmonyOS Sans SC Medium" panose="00000600000000000000" pitchFamily="2" charset="-122"/>
                <a:cs typeface="Times New Roman Regular" panose="02020503050405090304" charset="0"/>
                <a:sym typeface="Barlow SemiBold"/>
              </a:endParaRPr>
            </a:p>
          </p:txBody>
        </p:sp>
      </p:grpSp>
      <p:grpSp>
        <p:nvGrpSpPr>
          <p:cNvPr id="58" name="组合 57"/>
          <p:cNvGrpSpPr/>
          <p:nvPr/>
        </p:nvGrpSpPr>
        <p:grpSpPr>
          <a:xfrm>
            <a:off x="5344795" y="4429125"/>
            <a:ext cx="1802130" cy="669925"/>
            <a:chOff x="3828079" y="1153409"/>
            <a:chExt cx="1534432" cy="669727"/>
          </a:xfrm>
        </p:grpSpPr>
        <p:sp>
          <p:nvSpPr>
            <p:cNvPr id="59" name="Google Shape;1933;p36"/>
            <p:cNvSpPr/>
            <p:nvPr/>
          </p:nvSpPr>
          <p:spPr>
            <a:xfrm>
              <a:off x="3828079" y="1357933"/>
              <a:ext cx="1534432" cy="465203"/>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ctr">
                <a:buClr>
                  <a:schemeClr val="dk2"/>
                </a:buClr>
                <a:buSzPts val="800"/>
              </a:pPr>
              <a:r>
                <a:rPr lang="en-US" altLang="zh-CN" sz="1200" b="1"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rPr>
                <a:t>Modeling &amp; Feature Selection</a:t>
              </a:r>
              <a:endParaRPr lang="en-US" altLang="zh-CN" sz="1200" b="1"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endParaRPr>
            </a:p>
          </p:txBody>
        </p:sp>
        <p:sp>
          <p:nvSpPr>
            <p:cNvPr id="60" name="Google Shape;1934;p36"/>
            <p:cNvSpPr/>
            <p:nvPr/>
          </p:nvSpPr>
          <p:spPr>
            <a:xfrm>
              <a:off x="4135913" y="1153409"/>
              <a:ext cx="945625" cy="235962"/>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ctr">
                <a:buClr>
                  <a:schemeClr val="dk1"/>
                </a:buClr>
                <a:buSzPts val="900"/>
              </a:pPr>
              <a:r>
                <a:rPr lang="en-US" altLang="zh-CN" sz="1400" b="1" dirty="0">
                  <a:solidFill>
                    <a:srgbClr val="AE192C"/>
                  </a:solidFill>
                  <a:latin typeface="Times New Roman Regular" panose="02020503050405090304" charset="0"/>
                  <a:ea typeface="HarmonyOS Sans SC Medium" panose="00000600000000000000" pitchFamily="2" charset="-122"/>
                  <a:cs typeface="Times New Roman Regular" panose="02020503050405090304" charset="0"/>
                  <a:sym typeface="Barlow SemiBold"/>
                </a:rPr>
                <a:t>Step 3</a:t>
              </a:r>
              <a:endParaRPr lang="en-US" altLang="zh-CN" sz="1400" b="1" dirty="0">
                <a:solidFill>
                  <a:srgbClr val="AE192C"/>
                </a:solidFill>
                <a:latin typeface="Times New Roman Regular" panose="02020503050405090304" charset="0"/>
                <a:ea typeface="HarmonyOS Sans SC Medium" panose="00000600000000000000" pitchFamily="2" charset="-122"/>
                <a:cs typeface="Times New Roman Regular" panose="02020503050405090304" charset="0"/>
                <a:sym typeface="Barlow SemiBold"/>
              </a:endParaRPr>
            </a:p>
          </p:txBody>
        </p:sp>
      </p:grpSp>
      <p:sp>
        <p:nvSpPr>
          <p:cNvPr id="15" name="Venn diagram"/>
          <p:cNvSpPr txBox="1"/>
          <p:nvPr/>
        </p:nvSpPr>
        <p:spPr>
          <a:xfrm>
            <a:off x="9382760" y="1191895"/>
            <a:ext cx="2227580" cy="271145"/>
          </a:xfrm>
          <a:prstGeom prst="rect">
            <a:avLst/>
          </a:prstGeom>
          <a:ln w="12700">
            <a:miter lim="400000"/>
          </a:ln>
        </p:spPr>
        <p:txBody>
          <a:bodyPr wrap="square" lIns="25400" tIns="25400" rIns="25400" bIns="25400">
            <a:noAutofit/>
          </a:bodyPr>
          <a:lstStyle>
            <a:lvl1pPr algn="l">
              <a:defRPr sz="6000">
                <a:solidFill>
                  <a:srgbClr val="060708"/>
                </a:solidFill>
              </a:defRPr>
            </a:lvl1pPr>
          </a:lstStyle>
          <a:p>
            <a:r>
              <a:rPr lang="en-US" altLang="zh-CN" sz="1600" b="1" dirty="0">
                <a:solidFill>
                  <a:schemeClr val="bg1"/>
                </a:solidFill>
                <a:latin typeface="Times New Roman Bold" panose="02020503050405090304" charset="0"/>
                <a:ea typeface="MiSans Heavy" panose="00000A00000000000000" pitchFamily="2" charset="-122"/>
                <a:cs typeface="Times New Roman Bold" panose="02020503050405090304" charset="0"/>
              </a:rPr>
              <a:t>Collaboration &amp; Progress Tracking</a:t>
            </a:r>
            <a:endParaRPr lang="en-US" altLang="zh-CN" sz="1600" b="1" dirty="0">
              <a:solidFill>
                <a:schemeClr val="bg1"/>
              </a:solidFill>
              <a:latin typeface="Times New Roman Bold" panose="02020503050405090304" charset="0"/>
              <a:ea typeface="MiSans Heavy" panose="00000A00000000000000" pitchFamily="2" charset="-122"/>
              <a:cs typeface="Times New Roman Bold" panose="02020503050405090304" charset="0"/>
            </a:endParaRPr>
          </a:p>
        </p:txBody>
      </p:sp>
      <p:sp>
        <p:nvSpPr>
          <p:cNvPr id="17" name="椭圆 16"/>
          <p:cNvSpPr/>
          <p:nvPr/>
        </p:nvSpPr>
        <p:spPr>
          <a:xfrm>
            <a:off x="3663819" y="2866807"/>
            <a:ext cx="359417" cy="359417"/>
          </a:xfrm>
          <a:prstGeom prst="ellipse">
            <a:avLst/>
          </a:prstGeom>
          <a:solidFill>
            <a:schemeClr val="bg1"/>
          </a:solidFill>
          <a:ln w="25400">
            <a:solidFill>
              <a:srgbClr val="AE19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35" name="椭圆 34"/>
          <p:cNvSpPr/>
          <p:nvPr/>
        </p:nvSpPr>
        <p:spPr>
          <a:xfrm>
            <a:off x="5158484" y="2866807"/>
            <a:ext cx="359417" cy="359417"/>
          </a:xfrm>
          <a:prstGeom prst="ellipse">
            <a:avLst/>
          </a:prstGeom>
          <a:solidFill>
            <a:schemeClr val="bg1"/>
          </a:solidFill>
          <a:ln w="25400">
            <a:solidFill>
              <a:srgbClr val="AE19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37" name="椭圆 36"/>
          <p:cNvSpPr/>
          <p:nvPr/>
        </p:nvSpPr>
        <p:spPr>
          <a:xfrm>
            <a:off x="6653149" y="2866807"/>
            <a:ext cx="359417" cy="359417"/>
          </a:xfrm>
          <a:prstGeom prst="ellipse">
            <a:avLst/>
          </a:prstGeom>
          <a:solidFill>
            <a:schemeClr val="bg1"/>
          </a:solidFill>
          <a:ln w="25400">
            <a:solidFill>
              <a:srgbClr val="EEB6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49" name="椭圆 48"/>
          <p:cNvSpPr/>
          <p:nvPr/>
        </p:nvSpPr>
        <p:spPr>
          <a:xfrm>
            <a:off x="2065371" y="2866807"/>
            <a:ext cx="359417" cy="359417"/>
          </a:xfrm>
          <a:prstGeom prst="ellipse">
            <a:avLst/>
          </a:prstGeom>
          <a:solidFill>
            <a:schemeClr val="bg1"/>
          </a:solidFill>
          <a:ln w="25400">
            <a:solidFill>
              <a:srgbClr val="AE19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grpSp>
        <p:nvGrpSpPr>
          <p:cNvPr id="63" name="组合 62"/>
          <p:cNvGrpSpPr/>
          <p:nvPr/>
        </p:nvGrpSpPr>
        <p:grpSpPr>
          <a:xfrm>
            <a:off x="4173220" y="2851150"/>
            <a:ext cx="1214755" cy="400050"/>
            <a:chOff x="4137190" y="2834890"/>
            <a:chExt cx="1038541" cy="400146"/>
          </a:xfrm>
        </p:grpSpPr>
        <p:sp>
          <p:nvSpPr>
            <p:cNvPr id="50" name="Google Shape;1928;p36"/>
            <p:cNvSpPr/>
            <p:nvPr/>
          </p:nvSpPr>
          <p:spPr>
            <a:xfrm>
              <a:off x="4137190" y="2998759"/>
              <a:ext cx="1038541" cy="236277"/>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l">
                <a:buClr>
                  <a:schemeClr val="dk1"/>
                </a:buClr>
                <a:buSzPts val="900"/>
                <a:buFontTx/>
              </a:pPr>
              <a:r>
                <a:rPr lang="en-US" altLang="zh-CN" sz="1000" dirty="0">
                  <a:solidFill>
                    <a:schemeClr val="bg1"/>
                  </a:solidFill>
                  <a:latin typeface="Times New Roman Regular" panose="02020503050405090304" charset="0"/>
                  <a:ea typeface="HarmonyOS Sans SC Medium" panose="00000600000000000000" pitchFamily="2" charset="-122"/>
                  <a:cs typeface="Times New Roman Regular" panose="02020503050405090304" charset="0"/>
                </a:rPr>
                <a:t>Jan30–Feb27</a:t>
              </a:r>
              <a:endParaRPr lang="en-US" altLang="zh-CN" sz="1000" dirty="0">
                <a:solidFill>
                  <a:schemeClr val="bg1"/>
                </a:solidFill>
                <a:latin typeface="Times New Roman Regular" panose="02020503050405090304" charset="0"/>
                <a:ea typeface="HarmonyOS Sans SC Medium" panose="00000600000000000000" pitchFamily="2" charset="-122"/>
                <a:cs typeface="Times New Roman Regular" panose="02020503050405090304" charset="0"/>
              </a:endParaRPr>
            </a:p>
          </p:txBody>
        </p:sp>
        <p:sp>
          <p:nvSpPr>
            <p:cNvPr id="51" name="Venn diagram"/>
            <p:cNvSpPr txBox="1"/>
            <p:nvPr/>
          </p:nvSpPr>
          <p:spPr>
            <a:xfrm>
              <a:off x="4146842" y="2834890"/>
              <a:ext cx="665149" cy="235006"/>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buClrTx/>
                <a:buSzTx/>
                <a:buFontTx/>
              </a:pPr>
              <a:r>
                <a:rPr lang="en-US" sz="1200" b="1" dirty="0">
                  <a:solidFill>
                    <a:schemeClr val="bg1"/>
                  </a:solidFill>
                  <a:latin typeface="Times New Roman Regular" panose="02020503050405090304" charset="0"/>
                  <a:ea typeface="MiSans Heavy" panose="00000A00000000000000" pitchFamily="2" charset="-122"/>
                  <a:cs typeface="Times New Roman Regular" panose="02020503050405090304" charset="0"/>
                </a:rPr>
                <a:t>Step 2</a:t>
              </a:r>
              <a:endParaRPr lang="en-US" sz="1200" b="1" dirty="0">
                <a:solidFill>
                  <a:schemeClr val="bg1"/>
                </a:solidFill>
                <a:latin typeface="Times New Roman Regular" panose="02020503050405090304" charset="0"/>
                <a:ea typeface="MiSans Heavy" panose="00000A00000000000000" pitchFamily="2" charset="-122"/>
                <a:cs typeface="Times New Roman Regular" panose="02020503050405090304" charset="0"/>
              </a:endParaRPr>
            </a:p>
          </p:txBody>
        </p:sp>
      </p:grpSp>
      <p:grpSp>
        <p:nvGrpSpPr>
          <p:cNvPr id="65" name="组合 64"/>
          <p:cNvGrpSpPr/>
          <p:nvPr/>
        </p:nvGrpSpPr>
        <p:grpSpPr>
          <a:xfrm>
            <a:off x="5668010" y="2851150"/>
            <a:ext cx="1101725" cy="400685"/>
            <a:chOff x="4137190" y="2834890"/>
            <a:chExt cx="1016635" cy="400685"/>
          </a:xfrm>
        </p:grpSpPr>
        <p:sp>
          <p:nvSpPr>
            <p:cNvPr id="66" name="Google Shape;1928;p36"/>
            <p:cNvSpPr/>
            <p:nvPr/>
          </p:nvSpPr>
          <p:spPr>
            <a:xfrm>
              <a:off x="4137190" y="2999355"/>
              <a:ext cx="1016635" cy="236220"/>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l">
                <a:buClr>
                  <a:schemeClr val="dk1"/>
                </a:buClr>
                <a:buSzPts val="900"/>
                <a:buFontTx/>
              </a:pPr>
              <a:r>
                <a:rPr lang="en-US" altLang="zh-CN" sz="1000" dirty="0">
                  <a:solidFill>
                    <a:schemeClr val="bg1"/>
                  </a:solidFill>
                  <a:latin typeface="Times New Roman Regular" panose="02020503050405090304" charset="0"/>
                  <a:ea typeface="HarmonyOS Sans SC Medium" panose="00000600000000000000" pitchFamily="2" charset="-122"/>
                  <a:cs typeface="Times New Roman Regular" panose="02020503050405090304" charset="0"/>
                </a:rPr>
                <a:t>Mar6–Mar27</a:t>
              </a:r>
              <a:endParaRPr lang="en-US" altLang="zh-CN" sz="1000" dirty="0">
                <a:solidFill>
                  <a:schemeClr val="bg1"/>
                </a:solidFill>
                <a:latin typeface="Times New Roman Regular" panose="02020503050405090304" charset="0"/>
                <a:ea typeface="HarmonyOS Sans SC Medium" panose="00000600000000000000" pitchFamily="2" charset="-122"/>
                <a:cs typeface="Times New Roman Regular" panose="02020503050405090304" charset="0"/>
              </a:endParaRPr>
            </a:p>
          </p:txBody>
        </p:sp>
        <p:sp>
          <p:nvSpPr>
            <p:cNvPr id="67" name="Venn diagram"/>
            <p:cNvSpPr txBox="1"/>
            <p:nvPr/>
          </p:nvSpPr>
          <p:spPr>
            <a:xfrm>
              <a:off x="4146842" y="2834890"/>
              <a:ext cx="665149" cy="23495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buClrTx/>
                <a:buSzTx/>
                <a:buFontTx/>
              </a:pPr>
              <a:r>
                <a:rPr lang="en-US" sz="1200" b="1" dirty="0">
                  <a:solidFill>
                    <a:schemeClr val="bg1"/>
                  </a:solidFill>
                  <a:latin typeface="Times New Roman Regular" panose="02020503050405090304" charset="0"/>
                  <a:ea typeface="MiSans Heavy" panose="00000A00000000000000" pitchFamily="2" charset="-122"/>
                  <a:cs typeface="Times New Roman Regular" panose="02020503050405090304" charset="0"/>
                </a:rPr>
                <a:t>Step 3</a:t>
              </a:r>
              <a:endParaRPr lang="en-US" sz="1200" b="1" dirty="0">
                <a:solidFill>
                  <a:schemeClr val="bg1"/>
                </a:solidFill>
                <a:latin typeface="Times New Roman Regular" panose="02020503050405090304" charset="0"/>
                <a:ea typeface="MiSans Heavy" panose="00000A00000000000000" pitchFamily="2" charset="-122"/>
                <a:cs typeface="Times New Roman Regular" panose="02020503050405090304" charset="0"/>
              </a:endParaRPr>
            </a:p>
          </p:txBody>
        </p:sp>
      </p:grpSp>
      <p:grpSp>
        <p:nvGrpSpPr>
          <p:cNvPr id="68" name="组合 67"/>
          <p:cNvGrpSpPr/>
          <p:nvPr/>
        </p:nvGrpSpPr>
        <p:grpSpPr>
          <a:xfrm>
            <a:off x="7140575" y="2851150"/>
            <a:ext cx="1215390" cy="400685"/>
            <a:chOff x="4137190" y="2834890"/>
            <a:chExt cx="1122045" cy="400685"/>
          </a:xfrm>
        </p:grpSpPr>
        <p:sp>
          <p:nvSpPr>
            <p:cNvPr id="69" name="Google Shape;1928;p36"/>
            <p:cNvSpPr/>
            <p:nvPr/>
          </p:nvSpPr>
          <p:spPr>
            <a:xfrm>
              <a:off x="4137190" y="2999355"/>
              <a:ext cx="1122045" cy="236220"/>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lgn="l">
                <a:buClr>
                  <a:schemeClr val="dk1"/>
                </a:buClr>
                <a:buSzPts val="900"/>
                <a:buFontTx/>
              </a:pPr>
              <a:r>
                <a:rPr lang="en-US" altLang="zh-CN" sz="1000" dirty="0">
                  <a:solidFill>
                    <a:schemeClr val="bg1"/>
                  </a:solidFill>
                  <a:latin typeface="Times New Roman Regular" panose="02020503050405090304" charset="0"/>
                  <a:ea typeface="HarmonyOS Sans SC Medium" panose="00000600000000000000" pitchFamily="2" charset="-122"/>
                  <a:cs typeface="Times New Roman Regular" panose="02020503050405090304" charset="0"/>
                </a:rPr>
                <a:t>Mar27–Apr3</a:t>
              </a:r>
              <a:endParaRPr lang="en-US" altLang="zh-CN" sz="1000" dirty="0">
                <a:solidFill>
                  <a:schemeClr val="bg1"/>
                </a:solidFill>
                <a:latin typeface="Times New Roman Regular" panose="02020503050405090304" charset="0"/>
                <a:ea typeface="HarmonyOS Sans SC Medium" panose="00000600000000000000" pitchFamily="2" charset="-122"/>
                <a:cs typeface="Times New Roman Regular" panose="02020503050405090304" charset="0"/>
              </a:endParaRPr>
            </a:p>
          </p:txBody>
        </p:sp>
        <p:sp>
          <p:nvSpPr>
            <p:cNvPr id="70" name="Venn diagram"/>
            <p:cNvSpPr txBox="1"/>
            <p:nvPr/>
          </p:nvSpPr>
          <p:spPr>
            <a:xfrm>
              <a:off x="4146842" y="2834890"/>
              <a:ext cx="665149" cy="23495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buClrTx/>
                <a:buSzTx/>
                <a:buFontTx/>
              </a:pPr>
              <a:r>
                <a:rPr lang="en-US" sz="1200" b="1" dirty="0">
                  <a:solidFill>
                    <a:schemeClr val="bg1"/>
                  </a:solidFill>
                  <a:latin typeface="Times New Roman Regular" panose="02020503050405090304" charset="0"/>
                  <a:ea typeface="MiSans Heavy" panose="00000A00000000000000" pitchFamily="2" charset="-122"/>
                  <a:cs typeface="Times New Roman Regular" panose="02020503050405090304" charset="0"/>
                </a:rPr>
                <a:t>Step 4</a:t>
              </a:r>
              <a:endParaRPr lang="en-US" sz="1200" b="1" dirty="0">
                <a:solidFill>
                  <a:schemeClr val="bg1"/>
                </a:solidFill>
                <a:latin typeface="Times New Roman Regular" panose="02020503050405090304" charset="0"/>
                <a:ea typeface="MiSans Heavy" panose="00000A00000000000000" pitchFamily="2" charset="-122"/>
                <a:cs typeface="Times New Roman Regular" panose="02020503050405090304" charset="0"/>
              </a:endParaRPr>
            </a:p>
          </p:txBody>
        </p:sp>
      </p:grpSp>
      <p:grpSp>
        <p:nvGrpSpPr>
          <p:cNvPr id="71" name="组合 70"/>
          <p:cNvGrpSpPr/>
          <p:nvPr/>
        </p:nvGrpSpPr>
        <p:grpSpPr>
          <a:xfrm>
            <a:off x="2578735" y="2851150"/>
            <a:ext cx="1215390" cy="368300"/>
            <a:chOff x="4137190" y="2834890"/>
            <a:chExt cx="1122045" cy="368300"/>
          </a:xfrm>
        </p:grpSpPr>
        <p:sp>
          <p:nvSpPr>
            <p:cNvPr id="72" name="Google Shape;1928;p36"/>
            <p:cNvSpPr/>
            <p:nvPr/>
          </p:nvSpPr>
          <p:spPr>
            <a:xfrm>
              <a:off x="4137190" y="2999355"/>
              <a:ext cx="1122045" cy="203835"/>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5400" tIns="25400" rIns="25400" bIns="25400" anchor="t" anchorCtr="0">
              <a:noAutofit/>
            </a:bodyPr>
            <a:lstStyle/>
            <a:p>
              <a:pPr>
                <a:buClr>
                  <a:schemeClr val="dk1"/>
                </a:buClr>
                <a:buSzPts val="900"/>
              </a:pPr>
              <a:r>
                <a:rPr lang="en-US" altLang="zh-CN" sz="1000" dirty="0">
                  <a:solidFill>
                    <a:schemeClr val="bg1"/>
                  </a:solidFill>
                  <a:latin typeface="Times New Roman Regular" panose="02020503050405090304" charset="0"/>
                  <a:ea typeface="HarmonyOS Sans SC Medium" panose="00000600000000000000" pitchFamily="2" charset="-122"/>
                  <a:cs typeface="Times New Roman Regular" panose="02020503050405090304" charset="0"/>
                </a:rPr>
                <a:t>Jan23–Jan30</a:t>
              </a:r>
              <a:endParaRPr lang="en-US" altLang="zh-CN" sz="1000" dirty="0">
                <a:solidFill>
                  <a:schemeClr val="bg1"/>
                </a:solidFill>
                <a:latin typeface="Times New Roman Regular" panose="02020503050405090304" charset="0"/>
                <a:ea typeface="HarmonyOS Sans SC Medium" panose="00000600000000000000" pitchFamily="2" charset="-122"/>
                <a:cs typeface="Times New Roman Regular" panose="02020503050405090304" charset="0"/>
              </a:endParaRPr>
            </a:p>
          </p:txBody>
        </p:sp>
        <p:sp>
          <p:nvSpPr>
            <p:cNvPr id="73" name="Venn diagram"/>
            <p:cNvSpPr txBox="1"/>
            <p:nvPr/>
          </p:nvSpPr>
          <p:spPr>
            <a:xfrm>
              <a:off x="4146842" y="2834890"/>
              <a:ext cx="665149" cy="23495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r>
                <a:rPr lang="en-US" sz="1200" b="1" dirty="0">
                  <a:solidFill>
                    <a:schemeClr val="bg1"/>
                  </a:solidFill>
                  <a:latin typeface="Times New Roman Regular" panose="02020503050405090304" charset="0"/>
                  <a:ea typeface="MiSans Heavy" panose="00000A00000000000000" pitchFamily="2" charset="-122"/>
                  <a:cs typeface="Times New Roman Regular" panose="02020503050405090304" charset="0"/>
                </a:rPr>
                <a:t>Step 1</a:t>
              </a:r>
              <a:endParaRPr lang="en-US" sz="1200" b="1" dirty="0">
                <a:solidFill>
                  <a:schemeClr val="bg1"/>
                </a:solidFill>
                <a:latin typeface="Times New Roman Regular" panose="02020503050405090304" charset="0"/>
                <a:ea typeface="MiSans Heavy" panose="00000A00000000000000" pitchFamily="2" charset="-122"/>
                <a:cs typeface="Times New Roman Regular" panose="02020503050405090304" charset="0"/>
              </a:endParaRPr>
            </a:p>
          </p:txBody>
        </p:sp>
      </p:grpSp>
      <p:sp>
        <p:nvSpPr>
          <p:cNvPr id="74" name="Venn diagram"/>
          <p:cNvSpPr txBox="1"/>
          <p:nvPr/>
        </p:nvSpPr>
        <p:spPr>
          <a:xfrm>
            <a:off x="7779385" y="2851150"/>
            <a:ext cx="946150" cy="236855"/>
          </a:xfrm>
          <a:prstGeom prst="rect">
            <a:avLst/>
          </a:prstGeom>
          <a:ln w="12700">
            <a:miter lim="400000"/>
          </a:ln>
        </p:spPr>
        <p:txBody>
          <a:bodyPr wrap="square" lIns="25400" tIns="25400" rIns="25400" bIns="25400">
            <a:noAutofit/>
          </a:bodyPr>
          <a:lstStyle>
            <a:lvl1pPr algn="l">
              <a:defRPr sz="6000">
                <a:solidFill>
                  <a:srgbClr val="060708"/>
                </a:solidFill>
              </a:defRPr>
            </a:lvl1pPr>
          </a:lstStyle>
          <a:p>
            <a:pPr algn="ctr"/>
            <a:r>
              <a:rPr lang="en-US" altLang="zh-CN" sz="1200" dirty="0">
                <a:solidFill>
                  <a:schemeClr val="bg1"/>
                </a:solidFill>
                <a:latin typeface="Times New Roman Regular" panose="02020503050405090304" charset="0"/>
                <a:ea typeface="MiSans Heavy" panose="00000A00000000000000" pitchFamily="2" charset="-122"/>
                <a:cs typeface="Times New Roman Regular" panose="02020503050405090304" charset="0"/>
              </a:rPr>
              <a:t>Project Timeline</a:t>
            </a:r>
            <a:endParaRPr lang="en-US" altLang="zh-CN" sz="1200" dirty="0">
              <a:solidFill>
                <a:schemeClr val="bg1"/>
              </a:solidFill>
              <a:latin typeface="Times New Roman Regular" panose="02020503050405090304" charset="0"/>
              <a:ea typeface="MiSans Heavy" panose="00000A00000000000000" pitchFamily="2" charset="-122"/>
              <a:cs typeface="Times New Roman Regular" panose="02020503050405090304" charset="0"/>
            </a:endParaRPr>
          </a:p>
        </p:txBody>
      </p:sp>
      <p:sp>
        <p:nvSpPr>
          <p:cNvPr id="75" name="Freeform 37"/>
          <p:cNvSpPr/>
          <p:nvPr/>
        </p:nvSpPr>
        <p:spPr bwMode="auto">
          <a:xfrm>
            <a:off x="3738857" y="2954432"/>
            <a:ext cx="233363" cy="203200"/>
          </a:xfrm>
          <a:custGeom>
            <a:avLst/>
            <a:gdLst/>
            <a:ahLst/>
            <a:cxnLst>
              <a:cxn ang="0">
                <a:pos x="34" y="49"/>
              </a:cxn>
              <a:cxn ang="0">
                <a:pos x="29" y="49"/>
              </a:cxn>
              <a:cxn ang="0">
                <a:pos x="11" y="58"/>
              </a:cxn>
              <a:cxn ang="0">
                <a:pos x="7" y="59"/>
              </a:cxn>
              <a:cxn ang="0">
                <a:pos x="5" y="57"/>
              </a:cxn>
              <a:cxn ang="0">
                <a:pos x="5" y="57"/>
              </a:cxn>
              <a:cxn ang="0">
                <a:pos x="6" y="55"/>
              </a:cxn>
              <a:cxn ang="0">
                <a:pos x="13" y="44"/>
              </a:cxn>
              <a:cxn ang="0">
                <a:pos x="0" y="25"/>
              </a:cxn>
              <a:cxn ang="0">
                <a:pos x="34" y="0"/>
              </a:cxn>
              <a:cxn ang="0">
                <a:pos x="68" y="25"/>
              </a:cxn>
              <a:cxn ang="0">
                <a:pos x="34" y="49"/>
              </a:cxn>
            </a:cxnLst>
            <a:rect l="0" t="0" r="r" b="b"/>
            <a:pathLst>
              <a:path w="68" h="59">
                <a:moveTo>
                  <a:pt x="34" y="49"/>
                </a:moveTo>
                <a:cubicBezTo>
                  <a:pt x="33" y="49"/>
                  <a:pt x="31" y="49"/>
                  <a:pt x="29" y="49"/>
                </a:cubicBezTo>
                <a:cubicBezTo>
                  <a:pt x="24" y="53"/>
                  <a:pt x="18" y="56"/>
                  <a:pt x="11" y="58"/>
                </a:cubicBezTo>
                <a:cubicBezTo>
                  <a:pt x="10" y="58"/>
                  <a:pt x="9" y="59"/>
                  <a:pt x="7" y="59"/>
                </a:cubicBezTo>
                <a:cubicBezTo>
                  <a:pt x="6" y="59"/>
                  <a:pt x="6" y="58"/>
                  <a:pt x="5" y="57"/>
                </a:cubicBezTo>
                <a:cubicBezTo>
                  <a:pt x="5" y="57"/>
                  <a:pt x="5" y="57"/>
                  <a:pt x="5" y="57"/>
                </a:cubicBezTo>
                <a:cubicBezTo>
                  <a:pt x="5" y="56"/>
                  <a:pt x="6" y="56"/>
                  <a:pt x="6" y="55"/>
                </a:cubicBezTo>
                <a:cubicBezTo>
                  <a:pt x="9" y="52"/>
                  <a:pt x="11" y="50"/>
                  <a:pt x="13" y="44"/>
                </a:cubicBezTo>
                <a:cubicBezTo>
                  <a:pt x="5" y="39"/>
                  <a:pt x="0" y="32"/>
                  <a:pt x="0" y="25"/>
                </a:cubicBezTo>
                <a:cubicBezTo>
                  <a:pt x="0" y="11"/>
                  <a:pt x="16" y="0"/>
                  <a:pt x="34" y="0"/>
                </a:cubicBezTo>
                <a:cubicBezTo>
                  <a:pt x="53" y="0"/>
                  <a:pt x="68" y="11"/>
                  <a:pt x="68" y="25"/>
                </a:cubicBezTo>
                <a:cubicBezTo>
                  <a:pt x="68" y="38"/>
                  <a:pt x="53" y="49"/>
                  <a:pt x="34" y="49"/>
                </a:cubicBezTo>
                <a:close/>
              </a:path>
            </a:pathLst>
          </a:custGeom>
          <a:solidFill>
            <a:srgbClr val="B71A2B"/>
          </a:solidFill>
          <a:ln w="9525">
            <a:noFill/>
            <a:round/>
          </a:ln>
        </p:spPr>
        <p:txBody>
          <a:bodyPr vert="horz" wrap="square" lIns="91440" tIns="45720" rIns="91440" bIns="45720" numCol="1" anchor="t" anchorCtr="0" compatLnSpc="1"/>
          <a:lstStyle/>
          <a:p>
            <a:endParaRPr lang="en-US">
              <a:latin typeface="Times New Roman Regular" panose="02020503050405090304" charset="0"/>
              <a:cs typeface="Times New Roman Regular" panose="02020503050405090304" charset="0"/>
            </a:endParaRPr>
          </a:p>
        </p:txBody>
      </p:sp>
      <p:sp>
        <p:nvSpPr>
          <p:cNvPr id="77" name="Freeform 66"/>
          <p:cNvSpPr>
            <a:spLocks noEditPoints="1"/>
          </p:cNvSpPr>
          <p:nvPr/>
        </p:nvSpPr>
        <p:spPr bwMode="auto">
          <a:xfrm>
            <a:off x="2129034" y="2947561"/>
            <a:ext cx="247650" cy="192088"/>
          </a:xfrm>
          <a:custGeom>
            <a:avLst/>
            <a:gdLst/>
            <a:ahLst/>
            <a:cxnLst>
              <a:cxn ang="0">
                <a:pos x="29" y="41"/>
              </a:cxn>
              <a:cxn ang="0">
                <a:pos x="22" y="40"/>
              </a:cxn>
              <a:cxn ang="0">
                <a:pos x="11" y="45"/>
              </a:cxn>
              <a:cxn ang="0">
                <a:pos x="7" y="46"/>
              </a:cxn>
              <a:cxn ang="0">
                <a:pos x="7" y="46"/>
              </a:cxn>
              <a:cxn ang="0">
                <a:pos x="6" y="45"/>
              </a:cxn>
              <a:cxn ang="0">
                <a:pos x="6" y="43"/>
              </a:cxn>
              <a:cxn ang="0">
                <a:pos x="11" y="36"/>
              </a:cxn>
              <a:cxn ang="0">
                <a:pos x="0" y="20"/>
              </a:cxn>
              <a:cxn ang="0">
                <a:pos x="29" y="0"/>
              </a:cxn>
              <a:cxn ang="0">
                <a:pos x="57" y="20"/>
              </a:cxn>
              <a:cxn ang="0">
                <a:pos x="29" y="41"/>
              </a:cxn>
              <a:cxn ang="0">
                <a:pos x="62" y="47"/>
              </a:cxn>
              <a:cxn ang="0">
                <a:pos x="66" y="53"/>
              </a:cxn>
              <a:cxn ang="0">
                <a:pos x="67" y="55"/>
              </a:cxn>
              <a:cxn ang="0">
                <a:pos x="66" y="56"/>
              </a:cxn>
              <a:cxn ang="0">
                <a:pos x="62" y="55"/>
              </a:cxn>
              <a:cxn ang="0">
                <a:pos x="51" y="50"/>
              </a:cxn>
              <a:cxn ang="0">
                <a:pos x="44" y="51"/>
              </a:cxn>
              <a:cxn ang="0">
                <a:pos x="25" y="46"/>
              </a:cxn>
              <a:cxn ang="0">
                <a:pos x="29" y="46"/>
              </a:cxn>
              <a:cxn ang="0">
                <a:pos x="52" y="39"/>
              </a:cxn>
              <a:cxn ang="0">
                <a:pos x="62" y="20"/>
              </a:cxn>
              <a:cxn ang="0">
                <a:pos x="61" y="14"/>
              </a:cxn>
              <a:cxn ang="0">
                <a:pos x="72" y="30"/>
              </a:cxn>
              <a:cxn ang="0">
                <a:pos x="62" y="47"/>
              </a:cxn>
            </a:cxnLst>
            <a:rect l="0" t="0" r="r" b="b"/>
            <a:pathLst>
              <a:path w="72" h="56">
                <a:moveTo>
                  <a:pt x="29" y="41"/>
                </a:moveTo>
                <a:cubicBezTo>
                  <a:pt x="26" y="41"/>
                  <a:pt x="24" y="40"/>
                  <a:pt x="22" y="40"/>
                </a:cubicBezTo>
                <a:cubicBezTo>
                  <a:pt x="18" y="42"/>
                  <a:pt x="15" y="44"/>
                  <a:pt x="11" y="45"/>
                </a:cubicBezTo>
                <a:cubicBezTo>
                  <a:pt x="9" y="45"/>
                  <a:pt x="8" y="46"/>
                  <a:pt x="7" y="46"/>
                </a:cubicBezTo>
                <a:cubicBezTo>
                  <a:pt x="7" y="46"/>
                  <a:pt x="7" y="46"/>
                  <a:pt x="7" y="46"/>
                </a:cubicBezTo>
                <a:cubicBezTo>
                  <a:pt x="6" y="46"/>
                  <a:pt x="6" y="45"/>
                  <a:pt x="6" y="45"/>
                </a:cubicBezTo>
                <a:cubicBezTo>
                  <a:pt x="5" y="44"/>
                  <a:pt x="6" y="43"/>
                  <a:pt x="6" y="43"/>
                </a:cubicBezTo>
                <a:cubicBezTo>
                  <a:pt x="8" y="41"/>
                  <a:pt x="10" y="40"/>
                  <a:pt x="11" y="36"/>
                </a:cubicBezTo>
                <a:cubicBezTo>
                  <a:pt x="5" y="32"/>
                  <a:pt x="0" y="27"/>
                  <a:pt x="0" y="20"/>
                </a:cubicBezTo>
                <a:cubicBezTo>
                  <a:pt x="0" y="9"/>
                  <a:pt x="13" y="0"/>
                  <a:pt x="29" y="0"/>
                </a:cubicBezTo>
                <a:cubicBezTo>
                  <a:pt x="44" y="0"/>
                  <a:pt x="57" y="9"/>
                  <a:pt x="57" y="20"/>
                </a:cubicBezTo>
                <a:cubicBezTo>
                  <a:pt x="57" y="32"/>
                  <a:pt x="44" y="41"/>
                  <a:pt x="29" y="41"/>
                </a:cubicBezTo>
                <a:close/>
                <a:moveTo>
                  <a:pt x="62" y="47"/>
                </a:moveTo>
                <a:cubicBezTo>
                  <a:pt x="63" y="50"/>
                  <a:pt x="65" y="51"/>
                  <a:pt x="66" y="53"/>
                </a:cubicBezTo>
                <a:cubicBezTo>
                  <a:pt x="67" y="54"/>
                  <a:pt x="67" y="54"/>
                  <a:pt x="67" y="55"/>
                </a:cubicBezTo>
                <a:cubicBezTo>
                  <a:pt x="67" y="56"/>
                  <a:pt x="67" y="56"/>
                  <a:pt x="66" y="56"/>
                </a:cubicBezTo>
                <a:cubicBezTo>
                  <a:pt x="65" y="56"/>
                  <a:pt x="63" y="56"/>
                  <a:pt x="62" y="55"/>
                </a:cubicBezTo>
                <a:cubicBezTo>
                  <a:pt x="58" y="54"/>
                  <a:pt x="55" y="53"/>
                  <a:pt x="51" y="50"/>
                </a:cubicBezTo>
                <a:cubicBezTo>
                  <a:pt x="49" y="51"/>
                  <a:pt x="47" y="51"/>
                  <a:pt x="44" y="51"/>
                </a:cubicBezTo>
                <a:cubicBezTo>
                  <a:pt x="37" y="51"/>
                  <a:pt x="30" y="49"/>
                  <a:pt x="25" y="46"/>
                </a:cubicBezTo>
                <a:cubicBezTo>
                  <a:pt x="26" y="46"/>
                  <a:pt x="28" y="46"/>
                  <a:pt x="29" y="46"/>
                </a:cubicBezTo>
                <a:cubicBezTo>
                  <a:pt x="37" y="46"/>
                  <a:pt x="46" y="43"/>
                  <a:pt x="52" y="39"/>
                </a:cubicBezTo>
                <a:cubicBezTo>
                  <a:pt x="58" y="34"/>
                  <a:pt x="62" y="27"/>
                  <a:pt x="62" y="20"/>
                </a:cubicBezTo>
                <a:cubicBezTo>
                  <a:pt x="62" y="18"/>
                  <a:pt x="62" y="16"/>
                  <a:pt x="61" y="14"/>
                </a:cubicBezTo>
                <a:cubicBezTo>
                  <a:pt x="68" y="18"/>
                  <a:pt x="72" y="24"/>
                  <a:pt x="72" y="30"/>
                </a:cubicBezTo>
                <a:cubicBezTo>
                  <a:pt x="72" y="37"/>
                  <a:pt x="68" y="43"/>
                  <a:pt x="62" y="47"/>
                </a:cubicBezTo>
                <a:close/>
              </a:path>
            </a:pathLst>
          </a:custGeom>
          <a:solidFill>
            <a:srgbClr val="AE192C"/>
          </a:solidFill>
          <a:ln w="9525">
            <a:noFill/>
            <a:round/>
          </a:ln>
        </p:spPr>
        <p:txBody>
          <a:bodyPr vert="horz" wrap="square" lIns="91440" tIns="45720" rIns="91440" bIns="45720" numCol="1" anchor="t" anchorCtr="0" compatLnSpc="1"/>
          <a:lstStyle/>
          <a:p>
            <a:endParaRPr lang="en-US">
              <a:latin typeface="Times New Roman Regular" panose="02020503050405090304" charset="0"/>
              <a:cs typeface="Times New Roman Regular" panose="02020503050405090304" charset="0"/>
            </a:endParaRPr>
          </a:p>
        </p:txBody>
      </p:sp>
      <p:sp>
        <p:nvSpPr>
          <p:cNvPr id="79" name="Freeform 76"/>
          <p:cNvSpPr>
            <a:spLocks noEditPoints="1"/>
          </p:cNvSpPr>
          <p:nvPr/>
        </p:nvSpPr>
        <p:spPr bwMode="auto">
          <a:xfrm>
            <a:off x="5224217" y="2932417"/>
            <a:ext cx="212725" cy="212725"/>
          </a:xfrm>
          <a:custGeom>
            <a:avLst/>
            <a:gdLst/>
            <a:ahLst/>
            <a:cxnLst>
              <a:cxn ang="0">
                <a:pos x="62" y="31"/>
              </a:cxn>
              <a:cxn ang="0">
                <a:pos x="31" y="62"/>
              </a:cxn>
              <a:cxn ang="0">
                <a:pos x="0" y="31"/>
              </a:cxn>
              <a:cxn ang="0">
                <a:pos x="31" y="0"/>
              </a:cxn>
              <a:cxn ang="0">
                <a:pos x="62" y="31"/>
              </a:cxn>
              <a:cxn ang="0">
                <a:pos x="37" y="12"/>
              </a:cxn>
              <a:cxn ang="0">
                <a:pos x="37" y="11"/>
              </a:cxn>
              <a:cxn ang="0">
                <a:pos x="36" y="11"/>
              </a:cxn>
              <a:cxn ang="0">
                <a:pos x="27" y="11"/>
              </a:cxn>
              <a:cxn ang="0">
                <a:pos x="26" y="11"/>
              </a:cxn>
              <a:cxn ang="0">
                <a:pos x="26" y="12"/>
              </a:cxn>
              <a:cxn ang="0">
                <a:pos x="26" y="37"/>
              </a:cxn>
              <a:cxn ang="0">
                <a:pos x="28" y="38"/>
              </a:cxn>
              <a:cxn ang="0">
                <a:pos x="35" y="38"/>
              </a:cxn>
              <a:cxn ang="0">
                <a:pos x="36" y="37"/>
              </a:cxn>
              <a:cxn ang="0">
                <a:pos x="37" y="12"/>
              </a:cxn>
              <a:cxn ang="0">
                <a:pos x="36" y="43"/>
              </a:cxn>
              <a:cxn ang="0">
                <a:pos x="35" y="42"/>
              </a:cxn>
              <a:cxn ang="0">
                <a:pos x="28" y="42"/>
              </a:cxn>
              <a:cxn ang="0">
                <a:pos x="26" y="43"/>
              </a:cxn>
              <a:cxn ang="0">
                <a:pos x="26" y="51"/>
              </a:cxn>
              <a:cxn ang="0">
                <a:pos x="28" y="52"/>
              </a:cxn>
              <a:cxn ang="0">
                <a:pos x="35" y="52"/>
              </a:cxn>
              <a:cxn ang="0">
                <a:pos x="36" y="51"/>
              </a:cxn>
              <a:cxn ang="0">
                <a:pos x="36" y="43"/>
              </a:cxn>
            </a:cxnLst>
            <a:rect l="0" t="0" r="r" b="b"/>
            <a:pathLst>
              <a:path w="62" h="62">
                <a:moveTo>
                  <a:pt x="62" y="31"/>
                </a:moveTo>
                <a:cubicBezTo>
                  <a:pt x="62" y="48"/>
                  <a:pt x="48" y="62"/>
                  <a:pt x="31" y="62"/>
                </a:cubicBezTo>
                <a:cubicBezTo>
                  <a:pt x="14" y="62"/>
                  <a:pt x="0" y="48"/>
                  <a:pt x="0" y="31"/>
                </a:cubicBezTo>
                <a:cubicBezTo>
                  <a:pt x="0" y="14"/>
                  <a:pt x="14" y="0"/>
                  <a:pt x="31" y="0"/>
                </a:cubicBezTo>
                <a:cubicBezTo>
                  <a:pt x="48" y="0"/>
                  <a:pt x="62" y="14"/>
                  <a:pt x="62" y="31"/>
                </a:cubicBezTo>
                <a:close/>
                <a:moveTo>
                  <a:pt x="37" y="12"/>
                </a:moveTo>
                <a:cubicBezTo>
                  <a:pt x="37" y="11"/>
                  <a:pt x="37" y="11"/>
                  <a:pt x="37" y="11"/>
                </a:cubicBezTo>
                <a:cubicBezTo>
                  <a:pt x="36" y="11"/>
                  <a:pt x="36" y="11"/>
                  <a:pt x="36" y="11"/>
                </a:cubicBezTo>
                <a:cubicBezTo>
                  <a:pt x="27" y="11"/>
                  <a:pt x="27" y="11"/>
                  <a:pt x="27" y="11"/>
                </a:cubicBezTo>
                <a:cubicBezTo>
                  <a:pt x="27" y="11"/>
                  <a:pt x="26" y="11"/>
                  <a:pt x="26" y="11"/>
                </a:cubicBezTo>
                <a:cubicBezTo>
                  <a:pt x="26" y="11"/>
                  <a:pt x="26" y="11"/>
                  <a:pt x="26" y="12"/>
                </a:cubicBezTo>
                <a:cubicBezTo>
                  <a:pt x="26" y="37"/>
                  <a:pt x="26" y="37"/>
                  <a:pt x="26" y="37"/>
                </a:cubicBezTo>
                <a:cubicBezTo>
                  <a:pt x="26" y="37"/>
                  <a:pt x="27" y="38"/>
                  <a:pt x="28" y="38"/>
                </a:cubicBezTo>
                <a:cubicBezTo>
                  <a:pt x="35" y="38"/>
                  <a:pt x="35" y="38"/>
                  <a:pt x="35" y="38"/>
                </a:cubicBezTo>
                <a:cubicBezTo>
                  <a:pt x="36" y="38"/>
                  <a:pt x="36" y="37"/>
                  <a:pt x="36" y="37"/>
                </a:cubicBezTo>
                <a:lnTo>
                  <a:pt x="37" y="12"/>
                </a:lnTo>
                <a:close/>
                <a:moveTo>
                  <a:pt x="36" y="43"/>
                </a:moveTo>
                <a:cubicBezTo>
                  <a:pt x="36" y="42"/>
                  <a:pt x="36" y="42"/>
                  <a:pt x="35" y="42"/>
                </a:cubicBezTo>
                <a:cubicBezTo>
                  <a:pt x="28" y="42"/>
                  <a:pt x="28" y="42"/>
                  <a:pt x="28" y="42"/>
                </a:cubicBezTo>
                <a:cubicBezTo>
                  <a:pt x="27" y="42"/>
                  <a:pt x="26" y="42"/>
                  <a:pt x="26" y="43"/>
                </a:cubicBezTo>
                <a:cubicBezTo>
                  <a:pt x="26" y="51"/>
                  <a:pt x="26" y="51"/>
                  <a:pt x="26" y="51"/>
                </a:cubicBezTo>
                <a:cubicBezTo>
                  <a:pt x="26" y="51"/>
                  <a:pt x="27" y="52"/>
                  <a:pt x="28" y="52"/>
                </a:cubicBezTo>
                <a:cubicBezTo>
                  <a:pt x="35" y="52"/>
                  <a:pt x="35" y="52"/>
                  <a:pt x="35" y="52"/>
                </a:cubicBezTo>
                <a:cubicBezTo>
                  <a:pt x="36" y="52"/>
                  <a:pt x="36" y="51"/>
                  <a:pt x="36" y="51"/>
                </a:cubicBezTo>
                <a:lnTo>
                  <a:pt x="36" y="43"/>
                </a:lnTo>
                <a:close/>
              </a:path>
            </a:pathLst>
          </a:custGeom>
          <a:solidFill>
            <a:srgbClr val="AE192C"/>
          </a:solidFill>
          <a:ln w="9525">
            <a:noFill/>
            <a:round/>
          </a:ln>
        </p:spPr>
        <p:txBody>
          <a:bodyPr vert="horz" wrap="square" lIns="91440" tIns="45720" rIns="91440" bIns="45720" numCol="1" anchor="t" anchorCtr="0" compatLnSpc="1"/>
          <a:lstStyle/>
          <a:p>
            <a:endParaRPr lang="en-US">
              <a:latin typeface="Times New Roman Regular" panose="02020503050405090304" charset="0"/>
              <a:cs typeface="Times New Roman Regular" panose="02020503050405090304" charset="0"/>
            </a:endParaRPr>
          </a:p>
        </p:txBody>
      </p:sp>
      <p:sp>
        <p:nvSpPr>
          <p:cNvPr id="80" name="Freeform 95"/>
          <p:cNvSpPr/>
          <p:nvPr/>
        </p:nvSpPr>
        <p:spPr bwMode="auto">
          <a:xfrm>
            <a:off x="6714110" y="2951618"/>
            <a:ext cx="247650" cy="212725"/>
          </a:xfrm>
          <a:custGeom>
            <a:avLst/>
            <a:gdLst/>
            <a:ahLst/>
            <a:cxnLst>
              <a:cxn ang="0">
                <a:pos x="35" y="61"/>
              </a:cxn>
              <a:cxn ang="0">
                <a:pos x="10" y="37"/>
              </a:cxn>
              <a:cxn ang="0">
                <a:pos x="0" y="19"/>
              </a:cxn>
              <a:cxn ang="0">
                <a:pos x="20" y="0"/>
              </a:cxn>
              <a:cxn ang="0">
                <a:pos x="36" y="9"/>
              </a:cxn>
              <a:cxn ang="0">
                <a:pos x="53" y="0"/>
              </a:cxn>
              <a:cxn ang="0">
                <a:pos x="72" y="19"/>
              </a:cxn>
              <a:cxn ang="0">
                <a:pos x="63" y="37"/>
              </a:cxn>
              <a:cxn ang="0">
                <a:pos x="38" y="61"/>
              </a:cxn>
              <a:cxn ang="0">
                <a:pos x="36" y="62"/>
              </a:cxn>
              <a:cxn ang="0">
                <a:pos x="35" y="61"/>
              </a:cxn>
            </a:cxnLst>
            <a:rect l="0" t="0" r="r" b="b"/>
            <a:pathLst>
              <a:path w="72" h="62">
                <a:moveTo>
                  <a:pt x="35" y="61"/>
                </a:moveTo>
                <a:cubicBezTo>
                  <a:pt x="10" y="37"/>
                  <a:pt x="10" y="37"/>
                  <a:pt x="10" y="37"/>
                </a:cubicBezTo>
                <a:cubicBezTo>
                  <a:pt x="9" y="37"/>
                  <a:pt x="0" y="29"/>
                  <a:pt x="0" y="19"/>
                </a:cubicBezTo>
                <a:cubicBezTo>
                  <a:pt x="0" y="7"/>
                  <a:pt x="8" y="0"/>
                  <a:pt x="20" y="0"/>
                </a:cubicBezTo>
                <a:cubicBezTo>
                  <a:pt x="27" y="0"/>
                  <a:pt x="33" y="6"/>
                  <a:pt x="36" y="9"/>
                </a:cubicBezTo>
                <a:cubicBezTo>
                  <a:pt x="40" y="6"/>
                  <a:pt x="46" y="0"/>
                  <a:pt x="53" y="0"/>
                </a:cubicBezTo>
                <a:cubicBezTo>
                  <a:pt x="65" y="0"/>
                  <a:pt x="72" y="7"/>
                  <a:pt x="72" y="19"/>
                </a:cubicBezTo>
                <a:cubicBezTo>
                  <a:pt x="72" y="29"/>
                  <a:pt x="64" y="37"/>
                  <a:pt x="63" y="37"/>
                </a:cubicBezTo>
                <a:cubicBezTo>
                  <a:pt x="38" y="61"/>
                  <a:pt x="38" y="61"/>
                  <a:pt x="38" y="61"/>
                </a:cubicBezTo>
                <a:cubicBezTo>
                  <a:pt x="38" y="62"/>
                  <a:pt x="37" y="62"/>
                  <a:pt x="36" y="62"/>
                </a:cubicBezTo>
                <a:cubicBezTo>
                  <a:pt x="36" y="62"/>
                  <a:pt x="35" y="62"/>
                  <a:pt x="35" y="61"/>
                </a:cubicBezTo>
                <a:close/>
              </a:path>
            </a:pathLst>
          </a:custGeom>
          <a:solidFill>
            <a:srgbClr val="AE192C"/>
          </a:solidFill>
          <a:ln w="9525">
            <a:noFill/>
            <a:round/>
          </a:ln>
        </p:spPr>
        <p:txBody>
          <a:bodyPr vert="horz" wrap="square" lIns="91440" tIns="45720" rIns="91440" bIns="45720" numCol="1" anchor="t" anchorCtr="0" compatLnSpc="1"/>
          <a:lstStyle/>
          <a:p>
            <a:endParaRPr lang="en-US">
              <a:latin typeface="Times New Roman Regular" panose="02020503050405090304" charset="0"/>
              <a:cs typeface="Times New Roman Regular" panose="02020503050405090304" charset="0"/>
            </a:endParaRPr>
          </a:p>
        </p:txBody>
      </p:sp>
      <p:sp>
        <p:nvSpPr>
          <p:cNvPr id="83" name="Lorem ipsum dolor sit amet…"/>
          <p:cNvSpPr txBox="1"/>
          <p:nvPr/>
        </p:nvSpPr>
        <p:spPr>
          <a:xfrm>
            <a:off x="9382760" y="2574608"/>
            <a:ext cx="2291715" cy="2317115"/>
          </a:xfrm>
          <a:prstGeom prst="rect">
            <a:avLst/>
          </a:prstGeom>
          <a:ln w="12700">
            <a:miter lim="400000"/>
          </a:ln>
        </p:spPr>
        <p:txBody>
          <a:bodyPr wrap="square" lIns="50800" tIns="50800" rIns="50800" bIns="50800" anchor="ctr">
            <a:spAutoFit/>
          </a:bodyPr>
          <a:lstStyle/>
          <a:p>
            <a:pPr>
              <a:lnSpc>
                <a:spcPct val="150000"/>
              </a:lnSpc>
            </a:pPr>
            <a:r>
              <a:rPr lang="en-US" altLang="zh-CN" sz="1200"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rPr>
              <a:t>We collaborated via Google Drive, Notion, and GitHub to keep data, code, and documents synchronized. Notion boards were used to track progress visually. Tasks were divided among members, with shared documents enabling cross-review to ensure consistency.</a:t>
            </a:r>
            <a:endParaRPr lang="en-US" altLang="zh-CN" sz="1200"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endParaRPr>
          </a:p>
        </p:txBody>
      </p:sp>
      <p:sp>
        <p:nvSpPr>
          <p:cNvPr id="9" name="矩形: 圆角 8"/>
          <p:cNvSpPr/>
          <p:nvPr userDrawn="1"/>
        </p:nvSpPr>
        <p:spPr>
          <a:xfrm flipV="1">
            <a:off x="2171065" y="709930"/>
            <a:ext cx="9743440" cy="45720"/>
          </a:xfrm>
          <a:prstGeom prst="roundRect">
            <a:avLst/>
          </a:prstGeom>
          <a:solidFill>
            <a:srgbClr val="8C0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13" name="矩形: 圆角 12"/>
          <p:cNvSpPr/>
          <p:nvPr userDrawn="1"/>
        </p:nvSpPr>
        <p:spPr>
          <a:xfrm flipV="1">
            <a:off x="300990" y="709930"/>
            <a:ext cx="1801495" cy="45720"/>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对角圆角 60"/>
          <p:cNvSpPr/>
          <p:nvPr userDrawn="1"/>
        </p:nvSpPr>
        <p:spPr>
          <a:xfrm>
            <a:off x="300990" y="259715"/>
            <a:ext cx="1801495" cy="358775"/>
          </a:xfrm>
          <a:prstGeom prst="round2DiagRect">
            <a:avLst>
              <a:gd name="adj1" fmla="val 33096"/>
              <a:gd name="adj2" fmla="val 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latin typeface="Times New Roman Bold" panose="02020503050405090304" charset="0"/>
                <a:cs typeface="Times New Roman Bold" panose="02020503050405090304" charset="0"/>
              </a:rPr>
              <a:t>Group M-28</a:t>
            </a:r>
            <a:endParaRPr lang="en-US" altLang="zh-CN" b="1">
              <a:latin typeface="Times New Roman Bold" panose="02020503050405090304" charset="0"/>
              <a:cs typeface="Times New Roman Bold" panose="02020503050405090304" charset="0"/>
            </a:endParaRPr>
          </a:p>
        </p:txBody>
      </p:sp>
      <p:sp>
        <p:nvSpPr>
          <p:cNvPr id="62" name="Venn diagram"/>
          <p:cNvSpPr txBox="1"/>
          <p:nvPr userDrawn="1"/>
        </p:nvSpPr>
        <p:spPr>
          <a:xfrm>
            <a:off x="2292350" y="259715"/>
            <a:ext cx="4118610" cy="35814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en-US" altLang="zh-CN" sz="2000" b="1" dirty="0">
                <a:solidFill>
                  <a:srgbClr val="AE192C"/>
                </a:solidFill>
                <a:latin typeface="Times New Roman Bold" panose="02020503050405090304" charset="0"/>
                <a:ea typeface="MiSans" panose="00000800000000000000" pitchFamily="2" charset="-122"/>
                <a:cs typeface="Times New Roman Bold" panose="02020503050405090304" charset="0"/>
              </a:rPr>
              <a:t>2.1 Project Workflow Overview</a:t>
            </a:r>
            <a:endParaRPr lang="en-US" altLang="zh-CN" sz="2000" b="1" dirty="0">
              <a:solidFill>
                <a:srgbClr val="AE192C"/>
              </a:solidFill>
              <a:latin typeface="Times New Roman Bold" panose="02020503050405090304" charset="0"/>
              <a:ea typeface="MiSans" panose="00000800000000000000" pitchFamily="2" charset="-122"/>
              <a:cs typeface="Times New Roman Bold" panose="02020503050405090304" charset="0"/>
            </a:endParaRPr>
          </a:p>
        </p:txBody>
      </p:sp>
      <p:cxnSp>
        <p:nvCxnSpPr>
          <p:cNvPr id="78" name="直接连接符 77"/>
          <p:cNvCxnSpPr/>
          <p:nvPr userDrawn="1"/>
        </p:nvCxnSpPr>
        <p:spPr>
          <a:xfrm>
            <a:off x="300990" y="6567805"/>
            <a:ext cx="11612880" cy="0"/>
          </a:xfrm>
          <a:prstGeom prst="line">
            <a:avLst/>
          </a:prstGeom>
          <a:ln>
            <a:solidFill>
              <a:srgbClr val="EEB6B0"/>
            </a:solidFill>
          </a:ln>
        </p:spPr>
        <p:style>
          <a:lnRef idx="1">
            <a:schemeClr val="accent1"/>
          </a:lnRef>
          <a:fillRef idx="0">
            <a:schemeClr val="accent1"/>
          </a:fillRef>
          <a:effectRef idx="0">
            <a:schemeClr val="accent1"/>
          </a:effectRef>
          <a:fontRef idx="minor">
            <a:schemeClr val="tx1"/>
          </a:fontRef>
        </p:style>
      </p:cxnSp>
      <p:sp>
        <p:nvSpPr>
          <p:cNvPr id="81" name="文本框 80"/>
          <p:cNvSpPr txBox="1"/>
          <p:nvPr userDrawn="1"/>
        </p:nvSpPr>
        <p:spPr>
          <a:xfrm>
            <a:off x="266700" y="6604000"/>
            <a:ext cx="10967720" cy="327660"/>
          </a:xfrm>
          <a:prstGeom prst="rect">
            <a:avLst/>
          </a:prstGeom>
          <a:noFill/>
        </p:spPr>
        <p:txBody>
          <a:bodyPr wrap="none" rtlCol="0">
            <a:noAutofit/>
          </a:bodyPr>
          <a:lstStyle/>
          <a:p>
            <a:pPr algn="l"/>
            <a:r>
              <a:rPr lang="en-US" altLang="zh-CN" sz="600" spc="300" dirty="0">
                <a:solidFill>
                  <a:srgbClr val="AE192C"/>
                </a:solidFill>
                <a:latin typeface="Montserrat" panose="00000500000000000000" pitchFamily="2" charset="0"/>
                <a:ea typeface="HarmonyOS Sans SC Light" panose="00000400000000000000" pitchFamily="2" charset="-122"/>
              </a:rPr>
              <a:t>Project Workflow Overview</a:t>
            </a:r>
            <a:endParaRPr lang="en-US" altLang="zh-CN" sz="600" spc="300" dirty="0">
              <a:solidFill>
                <a:srgbClr val="AE192C"/>
              </a:solidFill>
              <a:latin typeface="Montserrat" panose="00000500000000000000" pitchFamily="2" charset="0"/>
              <a:ea typeface="HarmonyOS Sans SC Light" panose="00000400000000000000" pitchFamily="2" charset="-122"/>
            </a:endParaRPr>
          </a:p>
          <a:p>
            <a:pPr algn="l"/>
            <a:endParaRPr lang="en-US" altLang="zh-CN" sz="600" spc="300" dirty="0">
              <a:solidFill>
                <a:srgbClr val="AE192C"/>
              </a:solidFill>
              <a:latin typeface="Montserrat" panose="00000500000000000000" pitchFamily="2" charset="0"/>
              <a:ea typeface="HarmonyOS Sans SC Light" panose="00000400000000000000" pitchFamily="2" charset="-122"/>
            </a:endParaRPr>
          </a:p>
        </p:txBody>
      </p:sp>
      <p:pic>
        <p:nvPicPr>
          <p:cNvPr id="86" name="图片 85" descr="1fb514cb1a5e54e89daecde6a77344a3"/>
          <p:cNvPicPr>
            <a:picLocks noChangeAspect="1"/>
          </p:cNvPicPr>
          <p:nvPr/>
        </p:nvPicPr>
        <p:blipFill>
          <a:blip r:embed="rId1"/>
          <a:stretch>
            <a:fillRect/>
          </a:stretch>
        </p:blipFill>
        <p:spPr>
          <a:xfrm>
            <a:off x="10278745" y="144780"/>
            <a:ext cx="1635125" cy="4737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 name="组合 91"/>
          <p:cNvGrpSpPr/>
          <p:nvPr/>
        </p:nvGrpSpPr>
        <p:grpSpPr>
          <a:xfrm>
            <a:off x="301058" y="259550"/>
            <a:ext cx="11613108" cy="6308399"/>
            <a:chOff x="301058" y="259550"/>
            <a:chExt cx="11613108" cy="6308399"/>
          </a:xfrm>
          <a:solidFill>
            <a:srgbClr val="C00000"/>
          </a:solidFill>
        </p:grpSpPr>
        <p:sp>
          <p:nvSpPr>
            <p:cNvPr id="93" name="矩形: 圆角 92"/>
            <p:cNvSpPr/>
            <p:nvPr userDrawn="1"/>
          </p:nvSpPr>
          <p:spPr>
            <a:xfrm flipV="1">
              <a:off x="2170802" y="709684"/>
              <a:ext cx="9743364" cy="45719"/>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a:solidFill>
                  <a:schemeClr val="accent1"/>
                </a:solidFill>
                <a:effectLst>
                  <a:outerShdw blurRad="38100" dist="25400" dir="5400000" algn="ctr" rotWithShape="0">
                    <a:srgbClr val="6E747A">
                      <a:alpha val="43000"/>
                    </a:srgbClr>
                  </a:outerShdw>
                </a:effectLst>
              </a:endParaRPr>
            </a:p>
          </p:txBody>
        </p:sp>
        <p:sp>
          <p:nvSpPr>
            <p:cNvPr id="99" name="矩形: 圆角 98"/>
            <p:cNvSpPr/>
            <p:nvPr userDrawn="1"/>
          </p:nvSpPr>
          <p:spPr>
            <a:xfrm flipV="1">
              <a:off x="301058" y="709682"/>
              <a:ext cx="1801505" cy="4571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endParaRPr lang="zh-CN" altLang="en-US">
                <a:solidFill>
                  <a:schemeClr val="accent1"/>
                </a:solidFill>
                <a:effectLst>
                  <a:outerShdw blurRad="38100" dist="25400" dir="5400000" algn="ctr" rotWithShape="0">
                    <a:srgbClr val="6E747A">
                      <a:alpha val="43000"/>
                    </a:srgbClr>
                  </a:outerShdw>
                </a:effectLst>
              </a:endParaRPr>
            </a:p>
          </p:txBody>
        </p:sp>
        <p:sp>
          <p:nvSpPr>
            <p:cNvPr id="103" name="矩形: 对角圆角 102"/>
            <p:cNvSpPr/>
            <p:nvPr userDrawn="1"/>
          </p:nvSpPr>
          <p:spPr>
            <a:xfrm>
              <a:off x="301058" y="259550"/>
              <a:ext cx="1801505" cy="359073"/>
            </a:xfrm>
            <a:prstGeom prst="round2DiagRect">
              <a:avLst>
                <a:gd name="adj1" fmla="val 33096"/>
                <a:gd name="adj2" fmla="val 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bodyPr>
            <a:lstStyle/>
            <a:p>
              <a:pPr algn="ctr"/>
              <a:r>
                <a:rPr lang="en-US" altLang="zh-CN" b="1">
                  <a:latin typeface="Times New Roman Bold" panose="02020503050405090304" charset="0"/>
                  <a:cs typeface="Times New Roman Bold" panose="02020503050405090304" charset="0"/>
                  <a:sym typeface="+mn-ea"/>
                </a:rPr>
                <a:t>Group M-28</a:t>
              </a:r>
              <a:endParaRPr lang="zh-CN" altLang="en-US">
                <a:solidFill>
                  <a:schemeClr val="accent1"/>
                </a:solidFill>
                <a:effectLst>
                  <a:outerShdw blurRad="38100" dist="25400" dir="5400000" algn="ctr" rotWithShape="0">
                    <a:srgbClr val="6E747A">
                      <a:alpha val="43000"/>
                    </a:srgbClr>
                  </a:outerShdw>
                </a:effectLst>
                <a:latin typeface="Montserrat" panose="00000500000000000000" pitchFamily="2" charset="0"/>
              </a:endParaRPr>
            </a:p>
          </p:txBody>
        </p:sp>
        <p:sp>
          <p:nvSpPr>
            <p:cNvPr id="105" name="Freeform 355"/>
            <p:cNvSpPr/>
            <p:nvPr userDrawn="1"/>
          </p:nvSpPr>
          <p:spPr>
            <a:xfrm rot="18900000">
              <a:off x="9704526" y="457541"/>
              <a:ext cx="106335" cy="145811"/>
            </a:xfrm>
            <a:custGeom>
              <a:avLst/>
              <a:gdLst/>
              <a:ahLst/>
              <a:cxnLst>
                <a:cxn ang="0">
                  <a:pos x="wd2" y="hd2"/>
                </a:cxn>
                <a:cxn ang="5400000">
                  <a:pos x="wd2" y="hd2"/>
                </a:cxn>
                <a:cxn ang="10800000">
                  <a:pos x="wd2" y="hd2"/>
                </a:cxn>
                <a:cxn ang="16200000">
                  <a:pos x="wd2" y="hd2"/>
                </a:cxn>
              </a:cxnLst>
              <a:rect l="0" t="0" r="r" b="b"/>
              <a:pathLst>
                <a:path w="21600" h="21600" extrusionOk="0">
                  <a:moveTo>
                    <a:pt x="20632" y="13021"/>
                  </a:moveTo>
                  <a:lnTo>
                    <a:pt x="11484" y="19690"/>
                  </a:lnTo>
                  <a:lnTo>
                    <a:pt x="11484" y="0"/>
                  </a:lnTo>
                  <a:lnTo>
                    <a:pt x="10115" y="0"/>
                  </a:lnTo>
                  <a:lnTo>
                    <a:pt x="10115" y="19690"/>
                  </a:lnTo>
                  <a:lnTo>
                    <a:pt x="968" y="13021"/>
                  </a:lnTo>
                  <a:lnTo>
                    <a:pt x="0" y="13727"/>
                  </a:lnTo>
                  <a:lnTo>
                    <a:pt x="10800" y="21600"/>
                  </a:lnTo>
                  <a:lnTo>
                    <a:pt x="21600" y="13727"/>
                  </a:lnTo>
                  <a:close/>
                </a:path>
              </a:pathLst>
            </a:custGeom>
            <a:grpFill/>
            <a:ln w="12700">
              <a:solidFill>
                <a:schemeClr val="accent1"/>
              </a:solidFill>
              <a:miter lim="400000"/>
            </a:ln>
          </p:spPr>
          <p:txBody>
            <a:bodyPr lIns="22860" rIns="22860" anchor="ctr">
              <a:scene3d>
                <a:camera prst="orthographicFront"/>
                <a:lightRig rig="threePt" dir="t"/>
              </a:scene3d>
            </a:bodyPr>
            <a:lstStyle/>
            <a:p>
              <a:pPr algn="l" defTabSz="457200">
                <a:defRPr sz="1800"/>
              </a:pPr>
              <a:endParaRPr sz="900">
                <a:solidFill>
                  <a:schemeClr val="accent1"/>
                </a:solidFill>
                <a:effectLst>
                  <a:outerShdw blurRad="38100" dist="25400" dir="5400000" algn="ctr" rotWithShape="0">
                    <a:srgbClr val="6E747A">
                      <a:alpha val="43000"/>
                    </a:srgbClr>
                  </a:outerShdw>
                </a:effectLst>
                <a:latin typeface="Montserrat" panose="00000500000000000000" pitchFamily="2" charset="0"/>
              </a:endParaRPr>
            </a:p>
          </p:txBody>
        </p:sp>
        <p:cxnSp>
          <p:nvCxnSpPr>
            <p:cNvPr id="107" name="直接连接符 106"/>
            <p:cNvCxnSpPr/>
            <p:nvPr userDrawn="1"/>
          </p:nvCxnSpPr>
          <p:spPr>
            <a:xfrm>
              <a:off x="301058" y="6567949"/>
              <a:ext cx="11613108" cy="0"/>
            </a:xfrm>
            <a:prstGeom prst="line">
              <a:avLst/>
            </a:prstGeom>
            <a:grpFill/>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grpSp>
      <p:sp>
        <p:nvSpPr>
          <p:cNvPr id="116" name="文本框 115"/>
          <p:cNvSpPr txBox="1"/>
          <p:nvPr userDrawn="1"/>
        </p:nvSpPr>
        <p:spPr>
          <a:xfrm>
            <a:off x="266938" y="6603835"/>
            <a:ext cx="10967720" cy="327660"/>
          </a:xfrm>
          <a:prstGeom prst="rect">
            <a:avLst/>
          </a:prstGeom>
          <a:noFill/>
        </p:spPr>
        <p:txBody>
          <a:bodyPr wrap="none" rtlCol="0">
            <a:noAutofit/>
          </a:bodyPr>
          <a:p>
            <a:pPr algn="l"/>
            <a:r>
              <a:rPr lang="en-US" altLang="zh-CN" sz="600" spc="300" dirty="0">
                <a:solidFill>
                  <a:srgbClr val="AE192C"/>
                </a:solidFill>
                <a:latin typeface="Montserrat" panose="00000500000000000000" pitchFamily="2" charset="0"/>
                <a:ea typeface="HarmonyOS Sans SC Light" panose="00000400000000000000" pitchFamily="2" charset="-122"/>
              </a:rPr>
              <a:t>Prediction of non-coding RNAs role in cancer through multi-omics data integration.</a:t>
            </a:r>
            <a:endParaRPr lang="en-US" altLang="zh-CN" sz="600" spc="300" dirty="0">
              <a:solidFill>
                <a:srgbClr val="AE192C"/>
              </a:solidFill>
              <a:latin typeface="Montserrat" panose="00000500000000000000" pitchFamily="2" charset="0"/>
              <a:ea typeface="HarmonyOS Sans SC Light" panose="00000400000000000000" pitchFamily="2" charset="-122"/>
            </a:endParaRPr>
          </a:p>
        </p:txBody>
      </p:sp>
      <p:sp>
        <p:nvSpPr>
          <p:cNvPr id="117" name="TextBox 3"/>
          <p:cNvSpPr txBox="1"/>
          <p:nvPr/>
        </p:nvSpPr>
        <p:spPr>
          <a:xfrm>
            <a:off x="516255" y="1039495"/>
            <a:ext cx="11365230" cy="953770"/>
          </a:xfrm>
          <a:prstGeom prst="rect">
            <a:avLst/>
          </a:prstGeom>
          <a:noFill/>
        </p:spPr>
        <p:txBody>
          <a:bodyPr wrap="square">
            <a:noAutofit/>
          </a:bodyPr>
          <a:p>
            <a:pPr>
              <a:defRPr sz="1800" b="1">
                <a:solidFill>
                  <a:srgbClr val="990000"/>
                </a:solidFill>
              </a:defRPr>
            </a:pPr>
            <a:r>
              <a:t>1.</a:t>
            </a:r>
            <a:r>
              <a:rPr>
                <a:latin typeface="Times New Roman" panose="02020503050405090304" charset="0"/>
                <a:cs typeface="Times New Roman" panose="02020503050405090304" charset="0"/>
              </a:rPr>
              <a:t> </a:t>
            </a:r>
            <a:r>
              <a:rPr sz="2000">
                <a:latin typeface="Times New Roman" panose="02020503050405090304" charset="0"/>
                <a:cs typeface="Times New Roman" panose="02020503050405090304" charset="0"/>
              </a:rPr>
              <a:t>Background &amp; Significance</a:t>
            </a:r>
            <a:endParaRPr sz="2000">
              <a:latin typeface="Times New Roman" panose="02020503050405090304" charset="0"/>
              <a:cs typeface="Times New Roman" panose="02020503050405090304" charset="0"/>
            </a:endParaRPr>
          </a:p>
          <a:p>
            <a:pPr>
              <a:spcBef>
                <a:spcPts val="400"/>
              </a:spcBef>
              <a:defRPr sz="1400"/>
            </a:pPr>
            <a:r>
              <a:rPr sz="1600">
                <a:latin typeface="Times New Roman" panose="02020503050405090304" charset="0"/>
                <a:cs typeface="Times New Roman" panose="02020503050405090304" charset="0"/>
              </a:rPr>
              <a:t>ENCODE revealed pervasive transcription in the genome; lncRNAs like MIR100HG emerged as key regulators (ENCODE, 2007; Uszczynska, 2018).</a:t>
            </a:r>
            <a:endParaRPr sz="1600">
              <a:latin typeface="Times New Roman" panose="02020503050405090304" charset="0"/>
              <a:cs typeface="Times New Roman" panose="02020503050405090304" charset="0"/>
            </a:endParaRPr>
          </a:p>
        </p:txBody>
      </p:sp>
      <p:sp>
        <p:nvSpPr>
          <p:cNvPr id="118" name="TextBox 4"/>
          <p:cNvSpPr txBox="1"/>
          <p:nvPr/>
        </p:nvSpPr>
        <p:spPr>
          <a:xfrm>
            <a:off x="516255" y="2059305"/>
            <a:ext cx="11158855" cy="942975"/>
          </a:xfrm>
          <a:prstGeom prst="rect">
            <a:avLst/>
          </a:prstGeom>
          <a:noFill/>
        </p:spPr>
        <p:txBody>
          <a:bodyPr wrap="square">
            <a:spAutoFit/>
          </a:bodyPr>
          <a:p>
            <a:pPr>
              <a:defRPr sz="1800" b="1">
                <a:solidFill>
                  <a:srgbClr val="990000"/>
                </a:solidFill>
              </a:defRPr>
            </a:pPr>
            <a:r>
              <a:t>2.</a:t>
            </a:r>
            <a:r>
              <a:rPr>
                <a:latin typeface="Times New Roman" panose="02020503050405090304" charset="0"/>
                <a:cs typeface="Times New Roman" panose="02020503050405090304" charset="0"/>
              </a:rPr>
              <a:t> </a:t>
            </a:r>
            <a:r>
              <a:rPr sz="2000">
                <a:latin typeface="Times New Roman" panose="02020503050405090304" charset="0"/>
                <a:cs typeface="Times New Roman" panose="02020503050405090304" charset="0"/>
              </a:rPr>
              <a:t>MIR100HG and TGF-β Signaling</a:t>
            </a:r>
            <a:endParaRPr>
              <a:latin typeface="Times New Roman" panose="02020503050405090304" charset="0"/>
              <a:cs typeface="Times New Roman" panose="02020503050405090304" charset="0"/>
            </a:endParaRPr>
          </a:p>
          <a:p>
            <a:pPr>
              <a:spcBef>
                <a:spcPts val="400"/>
              </a:spcBef>
              <a:defRPr sz="1400"/>
            </a:pPr>
            <a:r>
              <a:rPr sz="1600">
                <a:latin typeface="Times New Roman" panose="02020503050405090304" charset="0"/>
                <a:cs typeface="Times New Roman" panose="02020503050405090304" charset="0"/>
              </a:rPr>
              <a:t>MIR100HG is induced by TGF-β and enhances pathway activity via miR-100/125b and HuR-mediated TGFB1 stabilization (Ottaviani, 2018; Papoutsoglou, 2021).</a:t>
            </a:r>
            <a:endParaRPr sz="1600">
              <a:latin typeface="Times New Roman" panose="02020503050405090304" charset="0"/>
              <a:cs typeface="Times New Roman" panose="02020503050405090304" charset="0"/>
            </a:endParaRPr>
          </a:p>
        </p:txBody>
      </p:sp>
      <p:sp>
        <p:nvSpPr>
          <p:cNvPr id="119" name="TextBox 5"/>
          <p:cNvSpPr txBox="1"/>
          <p:nvPr/>
        </p:nvSpPr>
        <p:spPr>
          <a:xfrm>
            <a:off x="516255" y="3108325"/>
            <a:ext cx="11158855" cy="1029335"/>
          </a:xfrm>
          <a:prstGeom prst="rect">
            <a:avLst/>
          </a:prstGeom>
          <a:noFill/>
        </p:spPr>
        <p:txBody>
          <a:bodyPr wrap="square">
            <a:noAutofit/>
          </a:bodyPr>
          <a:p>
            <a:pPr>
              <a:defRPr sz="1800" b="1">
                <a:solidFill>
                  <a:srgbClr val="990000"/>
                </a:solidFill>
              </a:defRPr>
            </a:pPr>
            <a:r>
              <a:t>3.</a:t>
            </a:r>
            <a:r>
              <a:rPr sz="2000"/>
              <a:t> </a:t>
            </a:r>
            <a:r>
              <a:rPr sz="2000">
                <a:latin typeface="Times New Roman" panose="02020503050405090304" charset="0"/>
                <a:cs typeface="Times New Roman" panose="02020503050405090304" charset="0"/>
              </a:rPr>
              <a:t>lncRNA and DNA Methylation</a:t>
            </a:r>
            <a:endParaRPr sz="2000">
              <a:latin typeface="Times New Roman" panose="02020503050405090304" charset="0"/>
              <a:cs typeface="Times New Roman" panose="02020503050405090304" charset="0"/>
            </a:endParaRPr>
          </a:p>
          <a:p>
            <a:pPr>
              <a:spcBef>
                <a:spcPts val="400"/>
              </a:spcBef>
              <a:defRPr sz="1400"/>
            </a:pPr>
            <a:r>
              <a:rPr sz="1600">
                <a:latin typeface="Times New Roman" panose="02020503050405090304" charset="0"/>
                <a:cs typeface="Times New Roman" panose="02020503050405090304" charset="0"/>
              </a:rPr>
              <a:t>lncRNAs regulate methylation by recruiting DNMTs or modulating TETs; MIR100HG may follow similar routes (Jin, 2012; Huang, 2022).</a:t>
            </a:r>
            <a:endParaRPr sz="1600">
              <a:latin typeface="Times New Roman" panose="02020503050405090304" charset="0"/>
              <a:cs typeface="Times New Roman" panose="02020503050405090304" charset="0"/>
            </a:endParaRPr>
          </a:p>
        </p:txBody>
      </p:sp>
      <p:sp>
        <p:nvSpPr>
          <p:cNvPr id="120" name="TextBox 6"/>
          <p:cNvSpPr txBox="1"/>
          <p:nvPr/>
        </p:nvSpPr>
        <p:spPr>
          <a:xfrm>
            <a:off x="516255" y="4137660"/>
            <a:ext cx="11158855" cy="1379220"/>
          </a:xfrm>
          <a:prstGeom prst="rect">
            <a:avLst/>
          </a:prstGeom>
          <a:noFill/>
        </p:spPr>
        <p:txBody>
          <a:bodyPr wrap="square">
            <a:noAutofit/>
          </a:bodyPr>
          <a:p>
            <a:pPr>
              <a:defRPr sz="1800" b="1">
                <a:solidFill>
                  <a:srgbClr val="990000"/>
                </a:solidFill>
              </a:defRPr>
            </a:pPr>
            <a:r>
              <a:t>4.</a:t>
            </a:r>
            <a:r>
              <a:rPr sz="2000">
                <a:latin typeface="Times New Roman" panose="02020503050405090304" charset="0"/>
                <a:cs typeface="Times New Roman" panose="02020503050405090304" charset="0"/>
              </a:rPr>
              <a:t> Transcription Factors and Epigenetic Interplay</a:t>
            </a:r>
            <a:endParaRPr>
              <a:latin typeface="Times New Roman" panose="02020503050405090304" charset="0"/>
              <a:cs typeface="Times New Roman" panose="02020503050405090304" charset="0"/>
            </a:endParaRPr>
          </a:p>
          <a:p>
            <a:pPr>
              <a:spcBef>
                <a:spcPts val="400"/>
              </a:spcBef>
              <a:defRPr sz="1400"/>
            </a:pPr>
            <a:r>
              <a:rPr sz="1600">
                <a:latin typeface="Times New Roman" panose="02020503050405090304" charset="0"/>
                <a:cs typeface="Times New Roman" panose="02020503050405090304" charset="0"/>
              </a:rPr>
              <a:t>TFs like Myc interact with DNMTs for gene silencing; lncRNAs may scaffold such complexes (Brenner, 2005).</a:t>
            </a:r>
            <a:endParaRPr sz="1600">
              <a:latin typeface="Times New Roman" panose="02020503050405090304" charset="0"/>
              <a:cs typeface="Times New Roman" panose="02020503050405090304" charset="0"/>
            </a:endParaRPr>
          </a:p>
        </p:txBody>
      </p:sp>
      <p:sp>
        <p:nvSpPr>
          <p:cNvPr id="121" name="TextBox 7"/>
          <p:cNvSpPr txBox="1"/>
          <p:nvPr/>
        </p:nvSpPr>
        <p:spPr>
          <a:xfrm>
            <a:off x="516255" y="4992370"/>
            <a:ext cx="11158855" cy="1308100"/>
          </a:xfrm>
          <a:prstGeom prst="rect">
            <a:avLst/>
          </a:prstGeom>
          <a:noFill/>
        </p:spPr>
        <p:txBody>
          <a:bodyPr wrap="square">
            <a:noAutofit/>
          </a:bodyPr>
          <a:p>
            <a:pPr>
              <a:defRPr sz="1800" b="1">
                <a:solidFill>
                  <a:srgbClr val="990000"/>
                </a:solidFill>
              </a:defRPr>
            </a:pPr>
            <a:r>
              <a:t>5.</a:t>
            </a:r>
            <a:r>
              <a:rPr>
                <a:latin typeface="Times New Roman" panose="02020503050405090304" charset="0"/>
                <a:cs typeface="Times New Roman" panose="02020503050405090304" charset="0"/>
              </a:rPr>
              <a:t> </a:t>
            </a:r>
            <a:r>
              <a:rPr sz="2000">
                <a:latin typeface="Times New Roman" panose="02020503050405090304" charset="0"/>
                <a:cs typeface="Times New Roman" panose="02020503050405090304" charset="0"/>
              </a:rPr>
              <a:t>Research Gap &amp; Objective</a:t>
            </a:r>
            <a:endParaRPr>
              <a:latin typeface="Times New Roman" panose="02020503050405090304" charset="0"/>
              <a:cs typeface="Times New Roman" panose="02020503050405090304" charset="0"/>
            </a:endParaRPr>
          </a:p>
          <a:p>
            <a:pPr>
              <a:spcBef>
                <a:spcPts val="400"/>
              </a:spcBef>
              <a:defRPr sz="1400"/>
            </a:pPr>
            <a:r>
              <a:rPr sz="1600">
                <a:latin typeface="Times New Roman" panose="02020503050405090304" charset="0"/>
                <a:cs typeface="Times New Roman" panose="02020503050405090304" charset="0"/>
              </a:rPr>
              <a:t>Unclear whether MIR100HG regulates epigenetics/TF networks across cancers; this study integrates multi-omics from </a:t>
            </a:r>
            <a:r>
              <a:rPr lang="en-US" sz="1600">
                <a:latin typeface="Times New Roman" panose="02020503050405090304" charset="0"/>
                <a:cs typeface="Times New Roman" panose="02020503050405090304" charset="0"/>
              </a:rPr>
              <a:t>five cancers to explore the mechanisms</a:t>
            </a:r>
            <a:r>
              <a:rPr sz="1600"/>
              <a:t>.</a:t>
            </a:r>
            <a:endParaRPr sz="1600"/>
          </a:p>
        </p:txBody>
      </p:sp>
      <p:grpSp>
        <p:nvGrpSpPr>
          <p:cNvPr id="8" name="组合 7"/>
          <p:cNvGrpSpPr/>
          <p:nvPr/>
        </p:nvGrpSpPr>
        <p:grpSpPr>
          <a:xfrm>
            <a:off x="300990" y="144780"/>
            <a:ext cx="11613515" cy="610870"/>
            <a:chOff x="474" y="228"/>
            <a:chExt cx="18289" cy="962"/>
          </a:xfrm>
        </p:grpSpPr>
        <p:sp>
          <p:nvSpPr>
            <p:cNvPr id="9" name="矩形: 圆角 8"/>
            <p:cNvSpPr/>
            <p:nvPr userDrawn="1"/>
          </p:nvSpPr>
          <p:spPr>
            <a:xfrm flipV="1">
              <a:off x="3419" y="1118"/>
              <a:ext cx="15344" cy="72"/>
            </a:xfrm>
            <a:prstGeom prst="roundRect">
              <a:avLst/>
            </a:prstGeom>
            <a:solidFill>
              <a:srgbClr val="971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Times New Roman Regular" panose="02020503050405090304" charset="0"/>
                <a:cs typeface="Times New Roman Regular" panose="02020503050405090304" charset="0"/>
              </a:endParaRPr>
            </a:p>
          </p:txBody>
        </p:sp>
        <p:sp>
          <p:nvSpPr>
            <p:cNvPr id="7" name="矩形: 圆角 12"/>
            <p:cNvSpPr/>
            <p:nvPr userDrawn="1"/>
          </p:nvSpPr>
          <p:spPr>
            <a:xfrm flipV="1">
              <a:off x="474" y="1118"/>
              <a:ext cx="2837" cy="72"/>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61" name="矩形: 对角圆角 60"/>
            <p:cNvSpPr/>
            <p:nvPr userDrawn="1"/>
          </p:nvSpPr>
          <p:spPr>
            <a:xfrm>
              <a:off x="474" y="409"/>
              <a:ext cx="2837" cy="565"/>
            </a:xfrm>
            <a:prstGeom prst="round2DiagRect">
              <a:avLst>
                <a:gd name="adj1" fmla="val 33096"/>
                <a:gd name="adj2" fmla="val 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latin typeface="Times New Roman Regular" panose="02020503050405090304" charset="0"/>
                  <a:cs typeface="Times New Roman Regular" panose="02020503050405090304" charset="0"/>
                </a:rPr>
                <a:t>Group M-28</a:t>
              </a:r>
              <a:endParaRPr lang="en-US" altLang="zh-CN" b="1">
                <a:latin typeface="Times New Roman Regular" panose="02020503050405090304" charset="0"/>
                <a:cs typeface="Times New Roman Regular" panose="02020503050405090304" charset="0"/>
              </a:endParaRPr>
            </a:p>
          </p:txBody>
        </p:sp>
        <p:sp>
          <p:nvSpPr>
            <p:cNvPr id="62" name="Venn diagram"/>
            <p:cNvSpPr txBox="1"/>
            <p:nvPr userDrawn="1"/>
          </p:nvSpPr>
          <p:spPr>
            <a:xfrm>
              <a:off x="3610" y="409"/>
              <a:ext cx="6486" cy="564"/>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rPr>
                <a:t>2.2 Literature review</a:t>
              </a:r>
              <a:endPar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endParaRPr>
            </a:p>
          </p:txBody>
        </p:sp>
        <p:pic>
          <p:nvPicPr>
            <p:cNvPr id="86" name="图片 85" descr="1fb514cb1a5e54e89daecde6a77344a3"/>
            <p:cNvPicPr>
              <a:picLocks noChangeAspect="1"/>
            </p:cNvPicPr>
            <p:nvPr/>
          </p:nvPicPr>
          <p:blipFill>
            <a:blip r:embed="rId1"/>
            <a:stretch>
              <a:fillRect/>
            </a:stretch>
          </p:blipFill>
          <p:spPr>
            <a:xfrm>
              <a:off x="16187" y="228"/>
              <a:ext cx="2575" cy="746"/>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01058" y="259550"/>
            <a:ext cx="11613108" cy="495853"/>
            <a:chOff x="301058" y="259550"/>
            <a:chExt cx="11613108" cy="495853"/>
          </a:xfrm>
        </p:grpSpPr>
        <p:sp>
          <p:nvSpPr>
            <p:cNvPr id="9" name="矩形: 圆角 8"/>
            <p:cNvSpPr/>
            <p:nvPr userDrawn="1"/>
          </p:nvSpPr>
          <p:spPr>
            <a:xfrm flipV="1">
              <a:off x="2170802" y="709684"/>
              <a:ext cx="9743364" cy="45719"/>
            </a:xfrm>
            <a:prstGeom prst="roundRect">
              <a:avLst/>
            </a:prstGeom>
            <a:solidFill>
              <a:srgbClr val="8C0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Times New Roman Regular" panose="02020503050405090304" charset="0"/>
                <a:cs typeface="Times New Roman Regular" panose="02020503050405090304" charset="0"/>
              </a:endParaRPr>
            </a:p>
          </p:txBody>
        </p:sp>
        <p:sp>
          <p:nvSpPr>
            <p:cNvPr id="13" name="矩形: 圆角 12"/>
            <p:cNvSpPr/>
            <p:nvPr userDrawn="1"/>
          </p:nvSpPr>
          <p:spPr>
            <a:xfrm flipV="1">
              <a:off x="301058" y="709682"/>
              <a:ext cx="1801505" cy="45719"/>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61" name="矩形: 对角圆角 60"/>
            <p:cNvSpPr/>
            <p:nvPr userDrawn="1"/>
          </p:nvSpPr>
          <p:spPr>
            <a:xfrm>
              <a:off x="301058" y="259550"/>
              <a:ext cx="1801505" cy="359073"/>
            </a:xfrm>
            <a:prstGeom prst="round2DiagRect">
              <a:avLst>
                <a:gd name="adj1" fmla="val 33096"/>
                <a:gd name="adj2" fmla="val 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Times New Roman Regular" panose="02020503050405090304" charset="0"/>
                  <a:cs typeface="Times New Roman Regular" panose="02020503050405090304" charset="0"/>
                </a:rPr>
                <a:t>Group </a:t>
              </a:r>
              <a:r>
                <a:rPr lang="en-US" altLang="zh-CN">
                  <a:latin typeface="Times New Roman Regular" panose="02020503050405090304" charset="0"/>
                  <a:cs typeface="Times New Roman Regular" panose="02020503050405090304" charset="0"/>
                </a:rPr>
                <a:t>M-28</a:t>
              </a:r>
              <a:endParaRPr lang="en-US" altLang="zh-CN">
                <a:latin typeface="Times New Roman Regular" panose="02020503050405090304" charset="0"/>
                <a:cs typeface="Times New Roman Regular" panose="02020503050405090304" charset="0"/>
              </a:endParaRPr>
            </a:p>
          </p:txBody>
        </p:sp>
        <p:sp>
          <p:nvSpPr>
            <p:cNvPr id="62" name="Venn diagram"/>
            <p:cNvSpPr txBox="1"/>
            <p:nvPr userDrawn="1"/>
          </p:nvSpPr>
          <p:spPr>
            <a:xfrm>
              <a:off x="2292091" y="259551"/>
              <a:ext cx="4118542" cy="35814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rPr>
                <a:t>2.3 Data </a:t>
              </a:r>
              <a:r>
                <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rPr>
                <a:t>Cleaning</a:t>
              </a:r>
              <a:endPar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endParaRPr>
            </a:p>
          </p:txBody>
        </p:sp>
      </p:grpSp>
      <p:pic>
        <p:nvPicPr>
          <p:cNvPr id="86" name="图片 85" descr="1fb514cb1a5e54e89daecde6a77344a3"/>
          <p:cNvPicPr>
            <a:picLocks noChangeAspect="1"/>
          </p:cNvPicPr>
          <p:nvPr/>
        </p:nvPicPr>
        <p:blipFill>
          <a:blip r:embed="rId3"/>
          <a:stretch>
            <a:fillRect/>
          </a:stretch>
        </p:blipFill>
        <p:spPr>
          <a:xfrm>
            <a:off x="10278745" y="144780"/>
            <a:ext cx="1635125" cy="473710"/>
          </a:xfrm>
          <a:prstGeom prst="rect">
            <a:avLst/>
          </a:prstGeom>
        </p:spPr>
      </p:pic>
      <p:graphicFrame>
        <p:nvGraphicFramePr>
          <p:cNvPr id="140" name="Chart 188"/>
          <p:cNvGraphicFramePr/>
          <p:nvPr/>
        </p:nvGraphicFramePr>
        <p:xfrm>
          <a:off x="641985" y="709295"/>
          <a:ext cx="1180465" cy="1514475"/>
        </p:xfrm>
        <a:graphic>
          <a:graphicData uri="http://schemas.openxmlformats.org/drawingml/2006/chart">
            <c:chart xmlns:c="http://schemas.openxmlformats.org/drawingml/2006/chart" xmlns:r="http://schemas.openxmlformats.org/officeDocument/2006/relationships" r:id="rId1"/>
          </a:graphicData>
        </a:graphic>
      </p:graphicFrame>
      <p:grpSp>
        <p:nvGrpSpPr>
          <p:cNvPr id="143" name="组合 142"/>
          <p:cNvGrpSpPr/>
          <p:nvPr/>
        </p:nvGrpSpPr>
        <p:grpSpPr>
          <a:xfrm rot="0">
            <a:off x="730885" y="1062990"/>
            <a:ext cx="10857230" cy="5385435"/>
            <a:chOff x="1464" y="1627"/>
            <a:chExt cx="16408" cy="7756"/>
          </a:xfrm>
        </p:grpSpPr>
        <p:grpSp>
          <p:nvGrpSpPr>
            <p:cNvPr id="23" name="Group 7"/>
            <p:cNvGrpSpPr/>
            <p:nvPr/>
          </p:nvGrpSpPr>
          <p:grpSpPr>
            <a:xfrm>
              <a:off x="1464" y="3566"/>
              <a:ext cx="7959" cy="5817"/>
              <a:chOff x="929517" y="2264372"/>
              <a:chExt cx="5053698" cy="3694109"/>
            </a:xfrm>
          </p:grpSpPr>
          <p:sp>
            <p:nvSpPr>
              <p:cNvPr id="24" name="Rectangle: Rounded Corners 92"/>
              <p:cNvSpPr/>
              <p:nvPr/>
            </p:nvSpPr>
            <p:spPr>
              <a:xfrm>
                <a:off x="929517" y="2264372"/>
                <a:ext cx="5053698" cy="3694109"/>
              </a:xfrm>
              <a:prstGeom prst="roundRect">
                <a:avLst>
                  <a:gd name="adj" fmla="val 2859"/>
                </a:avLst>
              </a:prstGeom>
              <a:solidFill>
                <a:schemeClr val="bg1"/>
              </a:solidFill>
              <a:ln>
                <a:noFill/>
              </a:ln>
              <a:effectLst>
                <a:outerShdw blurRad="330200" sx="99000" sy="99000" algn="ctr"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atin typeface="Times New Roman Regular" panose="02020503050405090304" charset="0"/>
                  <a:cs typeface="Times New Roman Regular" panose="02020503050405090304" charset="0"/>
                </a:endParaRPr>
              </a:p>
            </p:txBody>
          </p:sp>
          <p:cxnSp>
            <p:nvCxnSpPr>
              <p:cNvPr id="25" name="Straight Connector 128"/>
              <p:cNvCxnSpPr/>
              <p:nvPr/>
            </p:nvCxnSpPr>
            <p:spPr>
              <a:xfrm>
                <a:off x="1242485" y="2774248"/>
                <a:ext cx="4427762"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6" name="TextBox 135"/>
              <p:cNvSpPr txBox="1"/>
              <p:nvPr/>
            </p:nvSpPr>
            <p:spPr>
              <a:xfrm>
                <a:off x="1167007" y="2421852"/>
                <a:ext cx="3025775" cy="280473"/>
              </a:xfrm>
              <a:prstGeom prst="rect">
                <a:avLst/>
              </a:prstGeom>
              <a:noFill/>
            </p:spPr>
            <p:txBody>
              <a:bodyPr wrap="square" rtlCol="0">
                <a:spAutoFit/>
              </a:bodyPr>
              <a:p>
                <a:pPr algn="l"/>
                <a:r>
                  <a:rPr lang="en-US" altLang="zh-CN" sz="1400" b="1" dirty="0">
                    <a:solidFill>
                      <a:srgbClr val="AE192C"/>
                    </a:solidFill>
                    <a:latin typeface="Times New Roman Bold" panose="02020503050405090304" charset="0"/>
                    <a:ea typeface="MiSans" panose="00000800000000000000" pitchFamily="2" charset="-122"/>
                    <a:cs typeface="Times New Roman Bold" panose="02020503050405090304" charset="0"/>
                    <a:sym typeface="+mn-ea"/>
                  </a:rPr>
                  <a:t>Data Preprocessing</a:t>
                </a:r>
                <a:endParaRPr lang="en-US" altLang="zh-CN" sz="1400" b="1" dirty="0">
                  <a:solidFill>
                    <a:srgbClr val="AE192C"/>
                  </a:solidFill>
                  <a:latin typeface="Times New Roman Bold" panose="02020503050405090304" charset="0"/>
                  <a:ea typeface="MiSans" panose="00000800000000000000" pitchFamily="2" charset="-122"/>
                  <a:cs typeface="Times New Roman Bold" panose="02020503050405090304" charset="0"/>
                  <a:sym typeface="+mn-ea"/>
                </a:endParaRPr>
              </a:p>
            </p:txBody>
          </p:sp>
        </p:grpSp>
        <p:sp>
          <p:nvSpPr>
            <p:cNvPr id="27" name="TextBox 90"/>
            <p:cNvSpPr txBox="1"/>
            <p:nvPr/>
          </p:nvSpPr>
          <p:spPr>
            <a:xfrm>
              <a:off x="3016" y="1627"/>
              <a:ext cx="3862" cy="442"/>
            </a:xfrm>
            <a:prstGeom prst="rect">
              <a:avLst/>
            </a:prstGeom>
            <a:noFill/>
          </p:spPr>
          <p:txBody>
            <a:bodyPr wrap="square" rtlCol="0">
              <a:spAutoFit/>
            </a:bodyPr>
            <a:p>
              <a:r>
                <a:rPr lang="en-US" altLang="zh-CN" sz="1400" dirty="0">
                  <a:solidFill>
                    <a:srgbClr val="AE192C"/>
                  </a:solidFill>
                  <a:latin typeface="Times New Roman Regular" panose="02020503050405090304" charset="0"/>
                  <a:ea typeface="OPPOSans H" panose="00020600040101010101" charset="-122"/>
                  <a:cs typeface="Times New Roman Regular" panose="02020503050405090304" charset="0"/>
                </a:rPr>
                <a:t>Missing value 80%</a:t>
              </a:r>
              <a:endParaRPr lang="en-US" altLang="zh-CN" sz="1400" dirty="0">
                <a:solidFill>
                  <a:srgbClr val="AE192C"/>
                </a:solidFill>
                <a:latin typeface="Times New Roman Regular" panose="02020503050405090304" charset="0"/>
                <a:ea typeface="OPPOSans H" panose="00020600040101010101" charset="-122"/>
                <a:cs typeface="Times New Roman Regular" panose="02020503050405090304" charset="0"/>
              </a:endParaRPr>
            </a:p>
          </p:txBody>
        </p:sp>
        <p:sp>
          <p:nvSpPr>
            <p:cNvPr id="28" name="TextBox 91"/>
            <p:cNvSpPr txBox="1"/>
            <p:nvPr/>
          </p:nvSpPr>
          <p:spPr>
            <a:xfrm>
              <a:off x="3016" y="2006"/>
              <a:ext cx="4059" cy="1087"/>
            </a:xfrm>
            <a:prstGeom prst="rect">
              <a:avLst/>
            </a:prstGeom>
            <a:noFill/>
          </p:spPr>
          <p:txBody>
            <a:bodyPr wrap="square" rtlCol="0">
              <a:spAutoFit/>
            </a:bodyPr>
            <a:p>
              <a:pPr>
                <a:lnSpc>
                  <a:spcPct val="120000"/>
                </a:lnSpc>
              </a:pPr>
              <a:r>
                <a:rPr lang="en-US" altLang="zh-CN" sz="1200" dirty="0">
                  <a:solidFill>
                    <a:schemeClr val="tx1">
                      <a:lumMod val="65000"/>
                      <a:lumOff val="35000"/>
                    </a:schemeClr>
                  </a:solidFill>
                  <a:latin typeface="Times New Roman Regular" panose="02020503050405090304" charset="0"/>
                  <a:ea typeface="微软雅黑 Light" panose="020B0502040204020203" charset="-122"/>
                  <a:cs typeface="Times New Roman Regular" panose="02020503050405090304" charset="0"/>
                </a:rPr>
                <a:t>Features with missingness were either fully complete or had &gt;80% missing values, indicating non-random patterns.</a:t>
              </a:r>
              <a:endParaRPr lang="en-US" altLang="zh-CN" sz="1200" dirty="0">
                <a:solidFill>
                  <a:schemeClr val="tx1">
                    <a:lumMod val="65000"/>
                    <a:lumOff val="35000"/>
                  </a:schemeClr>
                </a:solidFill>
                <a:latin typeface="Times New Roman Regular" panose="02020503050405090304" charset="0"/>
                <a:ea typeface="微软雅黑 Light" panose="020B0502040204020203" charset="-122"/>
                <a:cs typeface="Times New Roman Regular" panose="02020503050405090304" charset="0"/>
              </a:endParaRPr>
            </a:p>
          </p:txBody>
        </p:sp>
        <p:grpSp>
          <p:nvGrpSpPr>
            <p:cNvPr id="29" name="Group 12"/>
            <p:cNvGrpSpPr/>
            <p:nvPr/>
          </p:nvGrpSpPr>
          <p:grpSpPr>
            <a:xfrm>
              <a:off x="9913" y="3566"/>
              <a:ext cx="7959" cy="5817"/>
              <a:chOff x="6295003" y="2264372"/>
              <a:chExt cx="5053698" cy="3694109"/>
            </a:xfrm>
          </p:grpSpPr>
          <p:sp>
            <p:nvSpPr>
              <p:cNvPr id="30" name="Rectangle: Rounded Corners 95"/>
              <p:cNvSpPr/>
              <p:nvPr/>
            </p:nvSpPr>
            <p:spPr>
              <a:xfrm>
                <a:off x="6295003" y="2264372"/>
                <a:ext cx="5053698" cy="3694109"/>
              </a:xfrm>
              <a:prstGeom prst="roundRect">
                <a:avLst>
                  <a:gd name="adj" fmla="val 2859"/>
                </a:avLst>
              </a:prstGeom>
              <a:solidFill>
                <a:schemeClr val="bg1"/>
              </a:solidFill>
              <a:ln>
                <a:noFill/>
              </a:ln>
              <a:effectLst>
                <a:outerShdw blurRad="330200" sx="99000" sy="99000" algn="ctr"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atin typeface="Times New Roman Regular" panose="02020503050405090304" charset="0"/>
                  <a:cs typeface="Times New Roman Regular" panose="02020503050405090304" charset="0"/>
                </a:endParaRPr>
              </a:p>
            </p:txBody>
          </p:sp>
          <p:sp>
            <p:nvSpPr>
              <p:cNvPr id="33" name="TextBox 100"/>
              <p:cNvSpPr txBox="1"/>
              <p:nvPr/>
            </p:nvSpPr>
            <p:spPr>
              <a:xfrm>
                <a:off x="6807278" y="5615841"/>
                <a:ext cx="258404" cy="224146"/>
              </a:xfrm>
              <a:prstGeom prst="rect">
                <a:avLst/>
              </a:prstGeom>
              <a:noFill/>
            </p:spPr>
            <p:txBody>
              <a:bodyPr wrap="square" rtlCol="0">
                <a:spAutoFit/>
              </a:bodyPr>
              <a:p>
                <a:r>
                  <a:rPr lang="en-US" sz="1000" dirty="0">
                    <a:solidFill>
                      <a:schemeClr val="bg1">
                        <a:lumMod val="65000"/>
                      </a:schemeClr>
                    </a:solidFill>
                    <a:latin typeface="Times New Roman Regular" panose="02020503050405090304" charset="0"/>
                    <a:ea typeface="Open Sans Light" panose="020B0306030504020204" pitchFamily="34" charset="0"/>
                    <a:cs typeface="Times New Roman Regular" panose="02020503050405090304" charset="0"/>
                  </a:rPr>
                  <a:t>0</a:t>
                </a:r>
                <a:endParaRPr lang="en-US" sz="1000" dirty="0">
                  <a:solidFill>
                    <a:schemeClr val="bg1">
                      <a:lumMod val="65000"/>
                    </a:schemeClr>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34" name="TextBox 101"/>
              <p:cNvSpPr txBox="1"/>
              <p:nvPr/>
            </p:nvSpPr>
            <p:spPr>
              <a:xfrm>
                <a:off x="7395910" y="5615841"/>
                <a:ext cx="258404" cy="224146"/>
              </a:xfrm>
              <a:prstGeom prst="rect">
                <a:avLst/>
              </a:prstGeom>
              <a:noFill/>
            </p:spPr>
            <p:txBody>
              <a:bodyPr wrap="square" rtlCol="0">
                <a:spAutoFit/>
              </a:bodyPr>
              <a:p>
                <a:r>
                  <a:rPr lang="en-US" sz="1000" dirty="0">
                    <a:solidFill>
                      <a:schemeClr val="bg1">
                        <a:lumMod val="65000"/>
                      </a:schemeClr>
                    </a:solidFill>
                    <a:latin typeface="Times New Roman Regular" panose="02020503050405090304" charset="0"/>
                    <a:ea typeface="Open Sans Light" panose="020B0306030504020204" pitchFamily="34" charset="0"/>
                    <a:cs typeface="Times New Roman Regular" panose="02020503050405090304" charset="0"/>
                  </a:rPr>
                  <a:t>5</a:t>
                </a:r>
                <a:endParaRPr lang="en-US" sz="1000" dirty="0">
                  <a:solidFill>
                    <a:schemeClr val="bg1">
                      <a:lumMod val="65000"/>
                    </a:schemeClr>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35" name="TextBox 102"/>
              <p:cNvSpPr txBox="1"/>
              <p:nvPr/>
            </p:nvSpPr>
            <p:spPr>
              <a:xfrm>
                <a:off x="7970378" y="5615841"/>
                <a:ext cx="332142" cy="224146"/>
              </a:xfrm>
              <a:prstGeom prst="rect">
                <a:avLst/>
              </a:prstGeom>
              <a:noFill/>
            </p:spPr>
            <p:txBody>
              <a:bodyPr wrap="square" rtlCol="0">
                <a:spAutoFit/>
              </a:bodyPr>
              <a:p>
                <a:r>
                  <a:rPr lang="en-US" sz="1000" dirty="0">
                    <a:solidFill>
                      <a:schemeClr val="bg1">
                        <a:lumMod val="65000"/>
                      </a:schemeClr>
                    </a:solidFill>
                    <a:latin typeface="Times New Roman Regular" panose="02020503050405090304" charset="0"/>
                    <a:ea typeface="Open Sans Light" panose="020B0306030504020204" pitchFamily="34" charset="0"/>
                    <a:cs typeface="Times New Roman Regular" panose="02020503050405090304" charset="0"/>
                  </a:rPr>
                  <a:t>10</a:t>
                </a:r>
                <a:endParaRPr lang="en-US" sz="1000" dirty="0">
                  <a:solidFill>
                    <a:schemeClr val="bg1">
                      <a:lumMod val="65000"/>
                    </a:schemeClr>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36" name="TextBox 103"/>
              <p:cNvSpPr txBox="1"/>
              <p:nvPr/>
            </p:nvSpPr>
            <p:spPr>
              <a:xfrm>
                <a:off x="8606661" y="5615841"/>
                <a:ext cx="332142" cy="224146"/>
              </a:xfrm>
              <a:prstGeom prst="rect">
                <a:avLst/>
              </a:prstGeom>
              <a:noFill/>
            </p:spPr>
            <p:txBody>
              <a:bodyPr wrap="square" rtlCol="0">
                <a:spAutoFit/>
              </a:bodyPr>
              <a:p>
                <a:r>
                  <a:rPr lang="en-US" sz="1000" dirty="0">
                    <a:solidFill>
                      <a:schemeClr val="bg1">
                        <a:lumMod val="65000"/>
                      </a:schemeClr>
                    </a:solidFill>
                    <a:latin typeface="Times New Roman Regular" panose="02020503050405090304" charset="0"/>
                    <a:ea typeface="Open Sans Light" panose="020B0306030504020204" pitchFamily="34" charset="0"/>
                    <a:cs typeface="Times New Roman Regular" panose="02020503050405090304" charset="0"/>
                  </a:rPr>
                  <a:t>15</a:t>
                </a:r>
                <a:endParaRPr lang="en-US" sz="1000" dirty="0">
                  <a:solidFill>
                    <a:schemeClr val="bg1">
                      <a:lumMod val="65000"/>
                    </a:schemeClr>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37" name="TextBox 104"/>
              <p:cNvSpPr txBox="1"/>
              <p:nvPr/>
            </p:nvSpPr>
            <p:spPr>
              <a:xfrm>
                <a:off x="9228776" y="5615841"/>
                <a:ext cx="332142" cy="224146"/>
              </a:xfrm>
              <a:prstGeom prst="rect">
                <a:avLst/>
              </a:prstGeom>
              <a:noFill/>
            </p:spPr>
            <p:txBody>
              <a:bodyPr wrap="square" rtlCol="0">
                <a:spAutoFit/>
              </a:bodyPr>
              <a:p>
                <a:r>
                  <a:rPr lang="en-US" sz="1000" dirty="0">
                    <a:solidFill>
                      <a:schemeClr val="bg1">
                        <a:lumMod val="65000"/>
                      </a:schemeClr>
                    </a:solidFill>
                    <a:latin typeface="Times New Roman Regular" panose="02020503050405090304" charset="0"/>
                    <a:ea typeface="Open Sans Light" panose="020B0306030504020204" pitchFamily="34" charset="0"/>
                    <a:cs typeface="Times New Roman Regular" panose="02020503050405090304" charset="0"/>
                  </a:rPr>
                  <a:t>20</a:t>
                </a:r>
                <a:endParaRPr lang="en-US" sz="1000" dirty="0">
                  <a:solidFill>
                    <a:schemeClr val="bg1">
                      <a:lumMod val="65000"/>
                    </a:schemeClr>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38" name="TextBox 105"/>
              <p:cNvSpPr txBox="1"/>
              <p:nvPr/>
            </p:nvSpPr>
            <p:spPr>
              <a:xfrm>
                <a:off x="9889526" y="5615841"/>
                <a:ext cx="332142" cy="224146"/>
              </a:xfrm>
              <a:prstGeom prst="rect">
                <a:avLst/>
              </a:prstGeom>
              <a:noFill/>
            </p:spPr>
            <p:txBody>
              <a:bodyPr wrap="square" rtlCol="0">
                <a:spAutoFit/>
              </a:bodyPr>
              <a:p>
                <a:r>
                  <a:rPr lang="en-US" sz="1000" dirty="0">
                    <a:solidFill>
                      <a:schemeClr val="bg1">
                        <a:lumMod val="65000"/>
                      </a:schemeClr>
                    </a:solidFill>
                    <a:latin typeface="Times New Roman Regular" panose="02020503050405090304" charset="0"/>
                    <a:ea typeface="Open Sans Light" panose="020B0306030504020204" pitchFamily="34" charset="0"/>
                    <a:cs typeface="Times New Roman Regular" panose="02020503050405090304" charset="0"/>
                  </a:rPr>
                  <a:t>25</a:t>
                </a:r>
                <a:endParaRPr lang="en-US" sz="1000" dirty="0">
                  <a:solidFill>
                    <a:schemeClr val="bg1">
                      <a:lumMod val="65000"/>
                    </a:schemeClr>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39" name="TextBox 106"/>
              <p:cNvSpPr txBox="1"/>
              <p:nvPr/>
            </p:nvSpPr>
            <p:spPr>
              <a:xfrm>
                <a:off x="10536109" y="5615841"/>
                <a:ext cx="332142" cy="224146"/>
              </a:xfrm>
              <a:prstGeom prst="rect">
                <a:avLst/>
              </a:prstGeom>
              <a:noFill/>
            </p:spPr>
            <p:txBody>
              <a:bodyPr wrap="square" rtlCol="0">
                <a:spAutoFit/>
              </a:bodyPr>
              <a:p>
                <a:r>
                  <a:rPr lang="en-US" sz="1000" dirty="0">
                    <a:solidFill>
                      <a:schemeClr val="bg1">
                        <a:lumMod val="65000"/>
                      </a:schemeClr>
                    </a:solidFill>
                    <a:latin typeface="Times New Roman Regular" panose="02020503050405090304" charset="0"/>
                    <a:ea typeface="Open Sans Light" panose="020B0306030504020204" pitchFamily="34" charset="0"/>
                    <a:cs typeface="Times New Roman Regular" panose="02020503050405090304" charset="0"/>
                  </a:rPr>
                  <a:t>30</a:t>
                </a:r>
                <a:endParaRPr lang="en-US" sz="1000" dirty="0">
                  <a:solidFill>
                    <a:schemeClr val="bg1">
                      <a:lumMod val="65000"/>
                    </a:schemeClr>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43" name="Oval 123"/>
              <p:cNvSpPr/>
              <p:nvPr/>
            </p:nvSpPr>
            <p:spPr>
              <a:xfrm>
                <a:off x="6922355" y="2975685"/>
                <a:ext cx="113455" cy="1134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id-ID" sz="1200" b="1" dirty="0">
                  <a:latin typeface="Times New Roman Regular" panose="02020503050405090304" charset="0"/>
                  <a:ea typeface="Open Sans Light" panose="020B0306030504020204" pitchFamily="34" charset="0"/>
                  <a:cs typeface="Times New Roman Regular" panose="02020503050405090304" charset="0"/>
                </a:endParaRPr>
              </a:p>
            </p:txBody>
          </p:sp>
          <p:grpSp>
            <p:nvGrpSpPr>
              <p:cNvPr id="46" name="Group 119"/>
              <p:cNvGrpSpPr/>
              <p:nvPr/>
            </p:nvGrpSpPr>
            <p:grpSpPr>
              <a:xfrm rot="0">
                <a:off x="6528506" y="2497977"/>
                <a:ext cx="901152" cy="358018"/>
                <a:chOff x="3927762" y="3505323"/>
                <a:chExt cx="1607574" cy="638673"/>
              </a:xfrm>
              <a:solidFill>
                <a:schemeClr val="bg1"/>
              </a:solidFill>
              <a:effectLst>
                <a:outerShdw blurRad="1270000" dist="482600" dir="5400000" sx="60000" sy="60000" algn="t" rotWithShape="0">
                  <a:prstClr val="black">
                    <a:alpha val="40000"/>
                  </a:prstClr>
                </a:outerShdw>
              </a:effectLst>
            </p:grpSpPr>
            <p:sp>
              <p:nvSpPr>
                <p:cNvPr id="47" name="Rectangle: Rounded Corners 121"/>
                <p:cNvSpPr/>
                <p:nvPr/>
              </p:nvSpPr>
              <p:spPr>
                <a:xfrm>
                  <a:off x="3927762" y="3505323"/>
                  <a:ext cx="1607574" cy="54558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id-ID" sz="1200" b="1" dirty="0">
                    <a:latin typeface="Times New Roman Regular" panose="02020503050405090304" charset="0"/>
                    <a:ea typeface="Open Sans Light" panose="020B0306030504020204" pitchFamily="34" charset="0"/>
                    <a:cs typeface="Times New Roman Regular" panose="02020503050405090304" charset="0"/>
                  </a:endParaRPr>
                </a:p>
              </p:txBody>
            </p:sp>
            <p:sp>
              <p:nvSpPr>
                <p:cNvPr id="48" name="Isosceles Triangle 122"/>
                <p:cNvSpPr/>
                <p:nvPr/>
              </p:nvSpPr>
              <p:spPr>
                <a:xfrm flipV="1">
                  <a:off x="4648364" y="4050905"/>
                  <a:ext cx="166371" cy="9309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id-ID" sz="1200" b="1" dirty="0">
                    <a:latin typeface="Times New Roman Regular" panose="02020503050405090304" charset="0"/>
                    <a:ea typeface="Open Sans Light" panose="020B0306030504020204" pitchFamily="34" charset="0"/>
                    <a:cs typeface="Times New Roman Regular" panose="02020503050405090304" charset="0"/>
                  </a:endParaRPr>
                </a:p>
              </p:txBody>
            </p:sp>
          </p:grpSp>
          <p:sp>
            <p:nvSpPr>
              <p:cNvPr id="50" name="Oval 117"/>
              <p:cNvSpPr/>
              <p:nvPr/>
            </p:nvSpPr>
            <p:spPr>
              <a:xfrm>
                <a:off x="10628203" y="3770673"/>
                <a:ext cx="113455" cy="1134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id-ID" sz="1200" b="1" dirty="0">
                  <a:latin typeface="Times New Roman Regular" panose="02020503050405090304" charset="0"/>
                  <a:ea typeface="Open Sans Light" panose="020B0306030504020204" pitchFamily="34" charset="0"/>
                  <a:cs typeface="Times New Roman Regular" panose="02020503050405090304" charset="0"/>
                </a:endParaRPr>
              </a:p>
            </p:txBody>
          </p:sp>
          <p:grpSp>
            <p:nvGrpSpPr>
              <p:cNvPr id="52" name="Group 113"/>
              <p:cNvGrpSpPr/>
              <p:nvPr/>
            </p:nvGrpSpPr>
            <p:grpSpPr>
              <a:xfrm rot="0">
                <a:off x="9422824" y="2657576"/>
                <a:ext cx="901152" cy="358018"/>
                <a:chOff x="3927762" y="3505323"/>
                <a:chExt cx="1607574" cy="638673"/>
              </a:xfrm>
              <a:solidFill>
                <a:schemeClr val="bg1"/>
              </a:solidFill>
              <a:effectLst>
                <a:outerShdw blurRad="1270000" dist="482600" dir="5400000" sx="60000" sy="60000" algn="t" rotWithShape="0">
                  <a:prstClr val="black">
                    <a:alpha val="40000"/>
                  </a:prstClr>
                </a:outerShdw>
              </a:effectLst>
            </p:grpSpPr>
            <p:sp>
              <p:nvSpPr>
                <p:cNvPr id="53" name="Rectangle: Rounded Corners 115"/>
                <p:cNvSpPr/>
                <p:nvPr/>
              </p:nvSpPr>
              <p:spPr>
                <a:xfrm>
                  <a:off x="3927762" y="3505323"/>
                  <a:ext cx="1607574" cy="54558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id-ID" sz="1200" b="1" dirty="0">
                    <a:latin typeface="Times New Roman Regular" panose="02020503050405090304" charset="0"/>
                    <a:ea typeface="Open Sans Light" panose="020B0306030504020204" pitchFamily="34" charset="0"/>
                    <a:cs typeface="Times New Roman Regular" panose="02020503050405090304" charset="0"/>
                  </a:endParaRPr>
                </a:p>
              </p:txBody>
            </p:sp>
            <p:sp>
              <p:nvSpPr>
                <p:cNvPr id="54" name="Isosceles Triangle 116"/>
                <p:cNvSpPr/>
                <p:nvPr/>
              </p:nvSpPr>
              <p:spPr>
                <a:xfrm flipV="1">
                  <a:off x="4648364" y="4050905"/>
                  <a:ext cx="166371" cy="93091"/>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id-ID" sz="1200" b="1" dirty="0">
                    <a:latin typeface="Times New Roman Regular" panose="02020503050405090304" charset="0"/>
                    <a:ea typeface="Open Sans Light" panose="020B0306030504020204" pitchFamily="34" charset="0"/>
                    <a:cs typeface="Times New Roman Regular" panose="02020503050405090304" charset="0"/>
                  </a:endParaRPr>
                </a:p>
              </p:txBody>
            </p:sp>
          </p:grpSp>
        </p:grpSp>
        <p:sp>
          <p:nvSpPr>
            <p:cNvPr id="56" name="Rectangle: Rounded Corners 133"/>
            <p:cNvSpPr/>
            <p:nvPr/>
          </p:nvSpPr>
          <p:spPr>
            <a:xfrm>
              <a:off x="12737" y="2113"/>
              <a:ext cx="2673" cy="507"/>
            </a:xfrm>
            <a:prstGeom prst="roundRect">
              <a:avLst>
                <a:gd name="adj" fmla="val 50000"/>
              </a:avLst>
            </a:prstGeom>
            <a:solidFill>
              <a:srgbClr val="AE192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r>
                <a:rPr lang="en-US" altLang="zh-CN" sz="1200">
                  <a:latin typeface="Times New Roman Regular" panose="02020503050405090304" charset="0"/>
                  <a:cs typeface="Times New Roman Regular" panose="02020503050405090304" charset="0"/>
                  <a:sym typeface="+mn-ea"/>
                </a:rPr>
                <a:t>log</a:t>
              </a:r>
              <a:r>
                <a:rPr lang="en-US" altLang="en-US" sz="1200">
                  <a:latin typeface="Times New Roman Regular" panose="02020503050405090304" charset="0"/>
                  <a:cs typeface="Times New Roman Regular" panose="02020503050405090304" charset="0"/>
                  <a:sym typeface="+mn-ea"/>
                </a:rPr>
                <a:t>₂</a:t>
              </a:r>
              <a:r>
                <a:rPr lang="en-US" altLang="zh-CN" sz="1200">
                  <a:latin typeface="Times New Roman Regular" panose="02020503050405090304" charset="0"/>
                  <a:cs typeface="Times New Roman Regular" panose="02020503050405090304" charset="0"/>
                  <a:sym typeface="+mn-ea"/>
                </a:rPr>
                <a:t>(TPM + 0.001)</a:t>
              </a:r>
              <a:endParaRPr lang="en-US" altLang="id-ID" sz="1200" dirty="0">
                <a:latin typeface="Times New Roman Regular" panose="02020503050405090304" charset="0"/>
                <a:ea typeface="Open Sans Light" panose="020B0306030504020204" pitchFamily="34" charset="0"/>
                <a:cs typeface="Times New Roman Regular" panose="02020503050405090304" charset="0"/>
              </a:endParaRPr>
            </a:p>
          </p:txBody>
        </p:sp>
        <p:sp>
          <p:nvSpPr>
            <p:cNvPr id="57" name="Rectangle: Rounded Corners 134"/>
            <p:cNvSpPr/>
            <p:nvPr/>
          </p:nvSpPr>
          <p:spPr>
            <a:xfrm>
              <a:off x="15739" y="2114"/>
              <a:ext cx="1965" cy="507"/>
            </a:xfrm>
            <a:prstGeom prst="roundRect">
              <a:avLst>
                <a:gd name="adj" fmla="val 50000"/>
              </a:avLst>
            </a:prstGeom>
            <a:solidFill>
              <a:schemeClr val="bg1"/>
            </a:solidFill>
            <a:ln>
              <a:noFill/>
            </a:ln>
            <a:effectLst>
              <a:outerShdw blurRad="152400" dist="3810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p>
              <a:pPr algn="ctr"/>
              <a:r>
                <a:rPr lang="en-US" altLang="zh-CN" sz="1200">
                  <a:solidFill>
                    <a:schemeClr val="tx1"/>
                  </a:solidFill>
                  <a:latin typeface="Times New Roman Regular" panose="02020503050405090304" charset="0"/>
                  <a:cs typeface="Times New Roman Regular" panose="02020503050405090304" charset="0"/>
                  <a:sym typeface="+mn-ea"/>
                </a:rPr>
                <a:t> β-</a:t>
              </a:r>
              <a:r>
                <a:rPr lang="en-US" altLang="zh-CN" sz="1400">
                  <a:solidFill>
                    <a:schemeClr val="tx1"/>
                  </a:solidFill>
                  <a:latin typeface="Times New Roman Regular" panose="02020503050405090304" charset="0"/>
                  <a:cs typeface="Times New Roman Regular" panose="02020503050405090304" charset="0"/>
                  <a:sym typeface="+mn-ea"/>
                </a:rPr>
                <a:t>values</a:t>
              </a:r>
              <a:endParaRPr lang="en-US" altLang="zh-CN" sz="1200" dirty="0">
                <a:solidFill>
                  <a:schemeClr val="tx1"/>
                </a:solidFill>
                <a:latin typeface="Times New Roman Regular" panose="02020503050405090304" charset="0"/>
                <a:ea typeface="Open Sans Light" panose="020B0306030504020204" pitchFamily="34" charset="0"/>
                <a:cs typeface="Times New Roman Regular" panose="02020503050405090304" charset="0"/>
                <a:sym typeface="+mn-ea"/>
              </a:endParaRPr>
            </a:p>
          </p:txBody>
        </p:sp>
        <p:grpSp>
          <p:nvGrpSpPr>
            <p:cNvPr id="58" name="Group 9"/>
            <p:cNvGrpSpPr/>
            <p:nvPr/>
          </p:nvGrpSpPr>
          <p:grpSpPr>
            <a:xfrm>
              <a:off x="5555" y="4705"/>
              <a:ext cx="3375" cy="1948"/>
              <a:chOff x="3527122" y="2987615"/>
              <a:chExt cx="2143125" cy="1236737"/>
            </a:xfrm>
          </p:grpSpPr>
          <p:sp>
            <p:nvSpPr>
              <p:cNvPr id="59" name="Rectangle 73"/>
              <p:cNvSpPr/>
              <p:nvPr/>
            </p:nvSpPr>
            <p:spPr>
              <a:xfrm>
                <a:off x="3527122" y="2987615"/>
                <a:ext cx="2143125" cy="1236737"/>
              </a:xfrm>
              <a:prstGeom prst="rect">
                <a:avLst/>
              </a:prstGeom>
              <a:solidFill>
                <a:schemeClr val="bg1">
                  <a:lumMod val="95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atin typeface="Times New Roman Regular" panose="02020503050405090304" charset="0"/>
                  <a:cs typeface="Times New Roman Regular" panose="02020503050405090304" charset="0"/>
                </a:endParaRPr>
              </a:p>
            </p:txBody>
          </p:sp>
          <p:sp>
            <p:nvSpPr>
              <p:cNvPr id="60" name="TextBox 75"/>
              <p:cNvSpPr txBox="1"/>
              <p:nvPr/>
            </p:nvSpPr>
            <p:spPr>
              <a:xfrm flipH="1">
                <a:off x="3946972" y="3089236"/>
                <a:ext cx="1579464" cy="306024"/>
              </a:xfrm>
              <a:prstGeom prst="rect">
                <a:avLst/>
              </a:prstGeom>
              <a:noFill/>
            </p:spPr>
            <p:txBody>
              <a:bodyPr wrap="none" rtlCol="0">
                <a:noAutofit/>
              </a:bodyPr>
              <a:p>
                <a:pPr algn="l">
                  <a:buClrTx/>
                  <a:buSzTx/>
                  <a:buFontTx/>
                </a:pPr>
                <a:r>
                  <a:rPr lang="en-US" sz="1400" b="1" dirty="0">
                    <a:solidFill>
                      <a:schemeClr val="bg2">
                        <a:lumMod val="25000"/>
                      </a:schemeClr>
                    </a:solidFill>
                    <a:latin typeface="Times New Roman Bold" panose="02020503050405090304" charset="0"/>
                    <a:ea typeface="Lato" panose="020F0502020204030203" pitchFamily="34" charset="0"/>
                    <a:cs typeface="Times New Roman Bold" panose="02020503050405090304" charset="0"/>
                  </a:rPr>
                  <a:t>Step 2</a:t>
                </a:r>
                <a:endParaRPr lang="en-US" sz="1400" b="1" dirty="0">
                  <a:solidFill>
                    <a:schemeClr val="bg2">
                      <a:lumMod val="25000"/>
                    </a:schemeClr>
                  </a:solidFill>
                  <a:latin typeface="Times New Roman Bold" panose="02020503050405090304" charset="0"/>
                  <a:ea typeface="Lato" panose="020F0502020204030203" pitchFamily="34" charset="0"/>
                  <a:cs typeface="Times New Roman Bold" panose="02020503050405090304" charset="0"/>
                </a:endParaRPr>
              </a:p>
            </p:txBody>
          </p:sp>
          <p:sp>
            <p:nvSpPr>
              <p:cNvPr id="63" name="TextBox 76"/>
              <p:cNvSpPr txBox="1"/>
              <p:nvPr/>
            </p:nvSpPr>
            <p:spPr>
              <a:xfrm flipH="1">
                <a:off x="3946972" y="3415583"/>
                <a:ext cx="1568496" cy="570237"/>
              </a:xfrm>
              <a:prstGeom prst="rect">
                <a:avLst/>
              </a:prstGeom>
              <a:noFill/>
            </p:spPr>
            <p:txBody>
              <a:bodyPr wrap="square" rtlCol="0">
                <a:noAutofit/>
              </a:bodyPr>
              <a:p>
                <a:pPr algn="l">
                  <a:buClrTx/>
                  <a:buSzTx/>
                  <a:buFontTx/>
                </a:pPr>
                <a:r>
                  <a:rPr lang="en-US" altLang="zh-CN" sz="1600" dirty="0">
                    <a:solidFill>
                      <a:schemeClr val="bg2">
                        <a:lumMod val="25000"/>
                      </a:schemeClr>
                    </a:solidFill>
                    <a:latin typeface="Times New Roman Regular" panose="02020503050405090304" charset="0"/>
                    <a:ea typeface="OPPOSans H" panose="00020600040101010101" charset="-122"/>
                    <a:cs typeface="Times New Roman Regular" panose="02020503050405090304" charset="0"/>
                  </a:rPr>
                  <a:t>Normalization and Scaling</a:t>
                </a:r>
                <a:endParaRPr lang="en-US" altLang="zh-CN" sz="1600" dirty="0">
                  <a:solidFill>
                    <a:schemeClr val="bg2">
                      <a:lumMod val="25000"/>
                    </a:schemeClr>
                  </a:solidFill>
                  <a:latin typeface="Times New Roman Regular" panose="02020503050405090304" charset="0"/>
                  <a:ea typeface="OPPOSans H" panose="00020600040101010101" charset="-122"/>
                  <a:cs typeface="Times New Roman Regular" panose="02020503050405090304" charset="0"/>
                </a:endParaRPr>
              </a:p>
            </p:txBody>
          </p:sp>
          <p:sp>
            <p:nvSpPr>
              <p:cNvPr id="64" name="Freeform 89"/>
              <p:cNvSpPr>
                <a:spLocks noEditPoints="1"/>
              </p:cNvSpPr>
              <p:nvPr/>
            </p:nvSpPr>
            <p:spPr bwMode="auto">
              <a:xfrm>
                <a:off x="3720853" y="3415708"/>
                <a:ext cx="164298" cy="164298"/>
              </a:xfrm>
              <a:custGeom>
                <a:avLst/>
                <a:gdLst>
                  <a:gd name="T0" fmla="*/ 233362 w 68"/>
                  <a:gd name="T1" fmla="*/ 10295 h 68"/>
                  <a:gd name="T2" fmla="*/ 199044 w 68"/>
                  <a:gd name="T3" fmla="*/ 209339 h 68"/>
                  <a:gd name="T4" fmla="*/ 195612 w 68"/>
                  <a:gd name="T5" fmla="*/ 216203 h 68"/>
                  <a:gd name="T6" fmla="*/ 192180 w 68"/>
                  <a:gd name="T7" fmla="*/ 216203 h 68"/>
                  <a:gd name="T8" fmla="*/ 188749 w 68"/>
                  <a:gd name="T9" fmla="*/ 216203 h 68"/>
                  <a:gd name="T10" fmla="*/ 120113 w 68"/>
                  <a:gd name="T11" fmla="*/ 188749 h 68"/>
                  <a:gd name="T12" fmla="*/ 78931 w 68"/>
                  <a:gd name="T13" fmla="*/ 229930 h 68"/>
                  <a:gd name="T14" fmla="*/ 75499 w 68"/>
                  <a:gd name="T15" fmla="*/ 233362 h 68"/>
                  <a:gd name="T16" fmla="*/ 72068 w 68"/>
                  <a:gd name="T17" fmla="*/ 233362 h 68"/>
                  <a:gd name="T18" fmla="*/ 65204 w 68"/>
                  <a:gd name="T19" fmla="*/ 223067 h 68"/>
                  <a:gd name="T20" fmla="*/ 65204 w 68"/>
                  <a:gd name="T21" fmla="*/ 164726 h 68"/>
                  <a:gd name="T22" fmla="*/ 3432 w 68"/>
                  <a:gd name="T23" fmla="*/ 140704 h 68"/>
                  <a:gd name="T24" fmla="*/ 0 w 68"/>
                  <a:gd name="T25" fmla="*/ 133840 h 68"/>
                  <a:gd name="T26" fmla="*/ 3432 w 68"/>
                  <a:gd name="T27" fmla="*/ 123545 h 68"/>
                  <a:gd name="T28" fmla="*/ 219635 w 68"/>
                  <a:gd name="T29" fmla="*/ 0 h 68"/>
                  <a:gd name="T30" fmla="*/ 229930 w 68"/>
                  <a:gd name="T31" fmla="*/ 0 h 68"/>
                  <a:gd name="T32" fmla="*/ 233362 w 68"/>
                  <a:gd name="T33" fmla="*/ 10295 h 68"/>
                  <a:gd name="T34" fmla="*/ 212771 w 68"/>
                  <a:gd name="T35" fmla="*/ 24023 h 68"/>
                  <a:gd name="T36" fmla="*/ 27454 w 68"/>
                  <a:gd name="T37" fmla="*/ 130408 h 68"/>
                  <a:gd name="T38" fmla="*/ 68636 w 68"/>
                  <a:gd name="T39" fmla="*/ 147567 h 68"/>
                  <a:gd name="T40" fmla="*/ 181885 w 68"/>
                  <a:gd name="T41" fmla="*/ 65204 h 68"/>
                  <a:gd name="T42" fmla="*/ 120113 w 68"/>
                  <a:gd name="T43" fmla="*/ 168158 h 68"/>
                  <a:gd name="T44" fmla="*/ 185317 w 68"/>
                  <a:gd name="T45" fmla="*/ 195612 h 68"/>
                  <a:gd name="T46" fmla="*/ 212771 w 68"/>
                  <a:gd name="T47" fmla="*/ 24023 h 6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8" h="68">
                    <a:moveTo>
                      <a:pt x="68" y="3"/>
                    </a:moveTo>
                    <a:cubicBezTo>
                      <a:pt x="58" y="61"/>
                      <a:pt x="58" y="61"/>
                      <a:pt x="58" y="61"/>
                    </a:cubicBezTo>
                    <a:cubicBezTo>
                      <a:pt x="58" y="62"/>
                      <a:pt x="57" y="62"/>
                      <a:pt x="57" y="63"/>
                    </a:cubicBezTo>
                    <a:cubicBezTo>
                      <a:pt x="56" y="63"/>
                      <a:pt x="56" y="63"/>
                      <a:pt x="56" y="63"/>
                    </a:cubicBezTo>
                    <a:cubicBezTo>
                      <a:pt x="55" y="63"/>
                      <a:pt x="55" y="63"/>
                      <a:pt x="55" y="63"/>
                    </a:cubicBezTo>
                    <a:cubicBezTo>
                      <a:pt x="35" y="55"/>
                      <a:pt x="35" y="55"/>
                      <a:pt x="35" y="55"/>
                    </a:cubicBezTo>
                    <a:cubicBezTo>
                      <a:pt x="23" y="67"/>
                      <a:pt x="23" y="67"/>
                      <a:pt x="23" y="67"/>
                    </a:cubicBezTo>
                    <a:cubicBezTo>
                      <a:pt x="23" y="67"/>
                      <a:pt x="22" y="68"/>
                      <a:pt x="22" y="68"/>
                    </a:cubicBezTo>
                    <a:cubicBezTo>
                      <a:pt x="21" y="68"/>
                      <a:pt x="21" y="68"/>
                      <a:pt x="21" y="68"/>
                    </a:cubicBezTo>
                    <a:cubicBezTo>
                      <a:pt x="20" y="67"/>
                      <a:pt x="19" y="66"/>
                      <a:pt x="19" y="65"/>
                    </a:cubicBezTo>
                    <a:cubicBezTo>
                      <a:pt x="19" y="48"/>
                      <a:pt x="19" y="48"/>
                      <a:pt x="19" y="48"/>
                    </a:cubicBezTo>
                    <a:cubicBezTo>
                      <a:pt x="1" y="41"/>
                      <a:pt x="1" y="41"/>
                      <a:pt x="1" y="41"/>
                    </a:cubicBezTo>
                    <a:cubicBezTo>
                      <a:pt x="0" y="40"/>
                      <a:pt x="0" y="40"/>
                      <a:pt x="0" y="39"/>
                    </a:cubicBezTo>
                    <a:cubicBezTo>
                      <a:pt x="0" y="38"/>
                      <a:pt x="0" y="37"/>
                      <a:pt x="1" y="36"/>
                    </a:cubicBezTo>
                    <a:cubicBezTo>
                      <a:pt x="64" y="0"/>
                      <a:pt x="64" y="0"/>
                      <a:pt x="64" y="0"/>
                    </a:cubicBezTo>
                    <a:cubicBezTo>
                      <a:pt x="65" y="0"/>
                      <a:pt x="66" y="0"/>
                      <a:pt x="67" y="0"/>
                    </a:cubicBezTo>
                    <a:cubicBezTo>
                      <a:pt x="68" y="1"/>
                      <a:pt x="68" y="2"/>
                      <a:pt x="68" y="3"/>
                    </a:cubicBezTo>
                    <a:close/>
                    <a:moveTo>
                      <a:pt x="62" y="7"/>
                    </a:moveTo>
                    <a:cubicBezTo>
                      <a:pt x="8" y="38"/>
                      <a:pt x="8" y="38"/>
                      <a:pt x="8" y="38"/>
                    </a:cubicBezTo>
                    <a:cubicBezTo>
                      <a:pt x="20" y="43"/>
                      <a:pt x="20" y="43"/>
                      <a:pt x="20" y="43"/>
                    </a:cubicBezTo>
                    <a:cubicBezTo>
                      <a:pt x="53" y="19"/>
                      <a:pt x="53" y="19"/>
                      <a:pt x="53" y="19"/>
                    </a:cubicBezTo>
                    <a:cubicBezTo>
                      <a:pt x="35" y="49"/>
                      <a:pt x="35" y="49"/>
                      <a:pt x="35" y="49"/>
                    </a:cubicBezTo>
                    <a:cubicBezTo>
                      <a:pt x="54" y="57"/>
                      <a:pt x="54" y="57"/>
                      <a:pt x="54" y="57"/>
                    </a:cubicBezTo>
                    <a:lnTo>
                      <a:pt x="62" y="7"/>
                    </a:lnTo>
                    <a:close/>
                  </a:path>
                </a:pathLst>
              </a:custGeom>
              <a:solidFill>
                <a:srgbClr val="AE192C"/>
              </a:solidFill>
              <a:ln>
                <a:noFill/>
              </a:ln>
            </p:spPr>
            <p:txBody>
              <a:bodyPr/>
              <a:p>
                <a:endParaRPr lang="en-US" dirty="0">
                  <a:latin typeface="Times New Roman Regular" panose="02020503050405090304" charset="0"/>
                  <a:cs typeface="Times New Roman Regular" panose="02020503050405090304" charset="0"/>
                </a:endParaRPr>
              </a:p>
            </p:txBody>
          </p:sp>
        </p:grpSp>
        <p:grpSp>
          <p:nvGrpSpPr>
            <p:cNvPr id="65" name="Group 8"/>
            <p:cNvGrpSpPr/>
            <p:nvPr/>
          </p:nvGrpSpPr>
          <p:grpSpPr>
            <a:xfrm>
              <a:off x="5555" y="6896"/>
              <a:ext cx="3375" cy="2182"/>
              <a:chOff x="3527122" y="4379104"/>
              <a:chExt cx="2143124" cy="1385526"/>
            </a:xfrm>
          </p:grpSpPr>
          <p:sp>
            <p:nvSpPr>
              <p:cNvPr id="66" name="Rectangle 81"/>
              <p:cNvSpPr/>
              <p:nvPr/>
            </p:nvSpPr>
            <p:spPr>
              <a:xfrm>
                <a:off x="3527122" y="4379104"/>
                <a:ext cx="2143124" cy="1385526"/>
              </a:xfrm>
              <a:prstGeom prst="rect">
                <a:avLst/>
              </a:prstGeom>
              <a:solidFill>
                <a:schemeClr val="bg1">
                  <a:lumMod val="95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atin typeface="Times New Roman Regular" panose="02020503050405090304" charset="0"/>
                  <a:cs typeface="Times New Roman Regular" panose="02020503050405090304" charset="0"/>
                </a:endParaRPr>
              </a:p>
            </p:txBody>
          </p:sp>
          <p:sp>
            <p:nvSpPr>
              <p:cNvPr id="68" name="TextBox 83"/>
              <p:cNvSpPr txBox="1"/>
              <p:nvPr/>
            </p:nvSpPr>
            <p:spPr>
              <a:xfrm flipH="1">
                <a:off x="3946972" y="4447625"/>
                <a:ext cx="1579464" cy="383836"/>
              </a:xfrm>
              <a:prstGeom prst="rect">
                <a:avLst/>
              </a:prstGeom>
              <a:noFill/>
            </p:spPr>
            <p:txBody>
              <a:bodyPr wrap="none" rtlCol="0">
                <a:noAutofit/>
              </a:bodyPr>
              <a:p>
                <a:pPr algn="l">
                  <a:buClrTx/>
                  <a:buSzTx/>
                  <a:buFontTx/>
                </a:pPr>
                <a:r>
                  <a:rPr lang="en-US" sz="1400" b="1" dirty="0">
                    <a:solidFill>
                      <a:schemeClr val="bg2">
                        <a:lumMod val="25000"/>
                      </a:schemeClr>
                    </a:solidFill>
                    <a:latin typeface="Times New Roman Bold" panose="02020503050405090304" charset="0"/>
                    <a:ea typeface="Lato" panose="020F0502020204030203" pitchFamily="34" charset="0"/>
                    <a:cs typeface="Times New Roman Bold" panose="02020503050405090304" charset="0"/>
                    <a:sym typeface="+mn-ea"/>
                  </a:rPr>
                  <a:t>Step 4</a:t>
                </a:r>
                <a:endParaRPr lang="en-US" sz="1400" b="1" dirty="0">
                  <a:solidFill>
                    <a:schemeClr val="bg2">
                      <a:lumMod val="25000"/>
                    </a:schemeClr>
                  </a:solidFill>
                  <a:latin typeface="Times New Roman Bold" panose="02020503050405090304" charset="0"/>
                  <a:ea typeface="Lato" panose="020F0502020204030203" pitchFamily="34" charset="0"/>
                  <a:cs typeface="Times New Roman Bold" panose="02020503050405090304" charset="0"/>
                  <a:sym typeface="+mn-ea"/>
                </a:endParaRPr>
              </a:p>
            </p:txBody>
          </p:sp>
          <p:sp>
            <p:nvSpPr>
              <p:cNvPr id="69" name="TextBox 84"/>
              <p:cNvSpPr txBox="1"/>
              <p:nvPr/>
            </p:nvSpPr>
            <p:spPr>
              <a:xfrm flipH="1">
                <a:off x="3948191" y="4801266"/>
                <a:ext cx="1524013" cy="836193"/>
              </a:xfrm>
              <a:prstGeom prst="rect">
                <a:avLst/>
              </a:prstGeom>
              <a:noFill/>
            </p:spPr>
            <p:txBody>
              <a:bodyPr wrap="square" rtlCol="0">
                <a:noAutofit/>
              </a:bodyPr>
              <a:p>
                <a:pPr algn="l">
                  <a:buClrTx/>
                  <a:buSzTx/>
                  <a:buFontTx/>
                </a:pPr>
                <a:r>
                  <a:rPr lang="en-US" altLang="zh-CN" sz="1600" dirty="0">
                    <a:solidFill>
                      <a:schemeClr val="bg2">
                        <a:lumMod val="25000"/>
                      </a:schemeClr>
                    </a:solidFill>
                    <a:latin typeface="Times New Roman Regular" panose="02020503050405090304" charset="0"/>
                    <a:ea typeface="OPPOSans H" panose="00020600040101010101" charset="-122"/>
                    <a:cs typeface="Times New Roman Regular" panose="02020503050405090304" charset="0"/>
                  </a:rPr>
                  <a:t>MIR100HG Expression Stratification</a:t>
                </a:r>
                <a:endParaRPr lang="en-US" altLang="zh-CN" sz="1600" dirty="0">
                  <a:solidFill>
                    <a:schemeClr val="bg2">
                      <a:lumMod val="25000"/>
                    </a:schemeClr>
                  </a:solidFill>
                  <a:latin typeface="Times New Roman Regular" panose="02020503050405090304" charset="0"/>
                  <a:ea typeface="OPPOSans H" panose="00020600040101010101" charset="-122"/>
                  <a:cs typeface="Times New Roman Regular" panose="02020503050405090304" charset="0"/>
                </a:endParaRPr>
              </a:p>
            </p:txBody>
          </p:sp>
          <p:sp>
            <p:nvSpPr>
              <p:cNvPr id="70" name="Freeform 181"/>
              <p:cNvSpPr/>
              <p:nvPr/>
            </p:nvSpPr>
            <p:spPr bwMode="auto">
              <a:xfrm>
                <a:off x="3751070" y="4801726"/>
                <a:ext cx="103865" cy="195746"/>
              </a:xfrm>
              <a:custGeom>
                <a:avLst/>
                <a:gdLst>
                  <a:gd name="T0" fmla="*/ 75671 w 36"/>
                  <a:gd name="T1" fmla="*/ 205908 h 68"/>
                  <a:gd name="T2" fmla="*/ 75671 w 36"/>
                  <a:gd name="T3" fmla="*/ 229930 h 68"/>
                  <a:gd name="T4" fmla="*/ 72231 w 36"/>
                  <a:gd name="T5" fmla="*/ 233362 h 68"/>
                  <a:gd name="T6" fmla="*/ 55033 w 36"/>
                  <a:gd name="T7" fmla="*/ 233362 h 68"/>
                  <a:gd name="T8" fmla="*/ 51594 w 36"/>
                  <a:gd name="T9" fmla="*/ 229930 h 68"/>
                  <a:gd name="T10" fmla="*/ 51594 w 36"/>
                  <a:gd name="T11" fmla="*/ 205908 h 68"/>
                  <a:gd name="T12" fmla="*/ 3440 w 36"/>
                  <a:gd name="T13" fmla="*/ 181885 h 68"/>
                  <a:gd name="T14" fmla="*/ 3440 w 36"/>
                  <a:gd name="T15" fmla="*/ 178453 h 68"/>
                  <a:gd name="T16" fmla="*/ 17198 w 36"/>
                  <a:gd name="T17" fmla="*/ 157863 h 68"/>
                  <a:gd name="T18" fmla="*/ 20638 w 36"/>
                  <a:gd name="T19" fmla="*/ 157863 h 68"/>
                  <a:gd name="T20" fmla="*/ 20638 w 36"/>
                  <a:gd name="T21" fmla="*/ 157863 h 68"/>
                  <a:gd name="T22" fmla="*/ 65352 w 36"/>
                  <a:gd name="T23" fmla="*/ 175022 h 68"/>
                  <a:gd name="T24" fmla="*/ 89429 w 36"/>
                  <a:gd name="T25" fmla="*/ 154431 h 68"/>
                  <a:gd name="T26" fmla="*/ 58473 w 36"/>
                  <a:gd name="T27" fmla="*/ 130408 h 68"/>
                  <a:gd name="T28" fmla="*/ 3440 w 36"/>
                  <a:gd name="T29" fmla="*/ 75499 h 68"/>
                  <a:gd name="T30" fmla="*/ 51594 w 36"/>
                  <a:gd name="T31" fmla="*/ 27454 h 68"/>
                  <a:gd name="T32" fmla="*/ 51594 w 36"/>
                  <a:gd name="T33" fmla="*/ 3432 h 68"/>
                  <a:gd name="T34" fmla="*/ 55033 w 36"/>
                  <a:gd name="T35" fmla="*/ 0 h 68"/>
                  <a:gd name="T36" fmla="*/ 72231 w 36"/>
                  <a:gd name="T37" fmla="*/ 0 h 68"/>
                  <a:gd name="T38" fmla="*/ 75671 w 36"/>
                  <a:gd name="T39" fmla="*/ 3432 h 68"/>
                  <a:gd name="T40" fmla="*/ 75671 w 36"/>
                  <a:gd name="T41" fmla="*/ 27454 h 68"/>
                  <a:gd name="T42" fmla="*/ 116946 w 36"/>
                  <a:gd name="T43" fmla="*/ 44613 h 68"/>
                  <a:gd name="T44" fmla="*/ 116946 w 36"/>
                  <a:gd name="T45" fmla="*/ 48045 h 68"/>
                  <a:gd name="T46" fmla="*/ 106627 w 36"/>
                  <a:gd name="T47" fmla="*/ 68636 h 68"/>
                  <a:gd name="T48" fmla="*/ 103188 w 36"/>
                  <a:gd name="T49" fmla="*/ 68636 h 68"/>
                  <a:gd name="T50" fmla="*/ 99748 w 36"/>
                  <a:gd name="T51" fmla="*/ 68636 h 68"/>
                  <a:gd name="T52" fmla="*/ 65352 w 36"/>
                  <a:gd name="T53" fmla="*/ 54909 h 68"/>
                  <a:gd name="T54" fmla="*/ 37835 w 36"/>
                  <a:gd name="T55" fmla="*/ 75499 h 68"/>
                  <a:gd name="T56" fmla="*/ 72231 w 36"/>
                  <a:gd name="T57" fmla="*/ 102954 h 68"/>
                  <a:gd name="T58" fmla="*/ 123825 w 36"/>
                  <a:gd name="T59" fmla="*/ 154431 h 68"/>
                  <a:gd name="T60" fmla="*/ 75671 w 36"/>
                  <a:gd name="T61" fmla="*/ 205908 h 6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36" h="68">
                    <a:moveTo>
                      <a:pt x="22" y="60"/>
                    </a:moveTo>
                    <a:cubicBezTo>
                      <a:pt x="22" y="67"/>
                      <a:pt x="22" y="67"/>
                      <a:pt x="22" y="67"/>
                    </a:cubicBezTo>
                    <a:cubicBezTo>
                      <a:pt x="22" y="67"/>
                      <a:pt x="22" y="68"/>
                      <a:pt x="21" y="68"/>
                    </a:cubicBezTo>
                    <a:cubicBezTo>
                      <a:pt x="16" y="68"/>
                      <a:pt x="16" y="68"/>
                      <a:pt x="16" y="68"/>
                    </a:cubicBezTo>
                    <a:cubicBezTo>
                      <a:pt x="15" y="68"/>
                      <a:pt x="15" y="67"/>
                      <a:pt x="15" y="67"/>
                    </a:cubicBezTo>
                    <a:cubicBezTo>
                      <a:pt x="15" y="60"/>
                      <a:pt x="15" y="60"/>
                      <a:pt x="15" y="60"/>
                    </a:cubicBezTo>
                    <a:cubicBezTo>
                      <a:pt x="6" y="59"/>
                      <a:pt x="1" y="53"/>
                      <a:pt x="1" y="53"/>
                    </a:cubicBezTo>
                    <a:cubicBezTo>
                      <a:pt x="0" y="53"/>
                      <a:pt x="0" y="52"/>
                      <a:pt x="1" y="52"/>
                    </a:cubicBezTo>
                    <a:cubicBezTo>
                      <a:pt x="5" y="46"/>
                      <a:pt x="5" y="46"/>
                      <a:pt x="5" y="46"/>
                    </a:cubicBezTo>
                    <a:cubicBezTo>
                      <a:pt x="5" y="46"/>
                      <a:pt x="5" y="46"/>
                      <a:pt x="6" y="46"/>
                    </a:cubicBezTo>
                    <a:cubicBezTo>
                      <a:pt x="6" y="46"/>
                      <a:pt x="6" y="46"/>
                      <a:pt x="6" y="46"/>
                    </a:cubicBezTo>
                    <a:cubicBezTo>
                      <a:pt x="7" y="46"/>
                      <a:pt x="12" y="51"/>
                      <a:pt x="19" y="51"/>
                    </a:cubicBezTo>
                    <a:cubicBezTo>
                      <a:pt x="22" y="51"/>
                      <a:pt x="26" y="49"/>
                      <a:pt x="26" y="45"/>
                    </a:cubicBezTo>
                    <a:cubicBezTo>
                      <a:pt x="26" y="41"/>
                      <a:pt x="22" y="40"/>
                      <a:pt x="17" y="38"/>
                    </a:cubicBezTo>
                    <a:cubicBezTo>
                      <a:pt x="10" y="35"/>
                      <a:pt x="1" y="32"/>
                      <a:pt x="1" y="22"/>
                    </a:cubicBezTo>
                    <a:cubicBezTo>
                      <a:pt x="1" y="15"/>
                      <a:pt x="7" y="9"/>
                      <a:pt x="15" y="8"/>
                    </a:cubicBezTo>
                    <a:cubicBezTo>
                      <a:pt x="15" y="1"/>
                      <a:pt x="15" y="1"/>
                      <a:pt x="15" y="1"/>
                    </a:cubicBezTo>
                    <a:cubicBezTo>
                      <a:pt x="15" y="0"/>
                      <a:pt x="15" y="0"/>
                      <a:pt x="16" y="0"/>
                    </a:cubicBezTo>
                    <a:cubicBezTo>
                      <a:pt x="21" y="0"/>
                      <a:pt x="21" y="0"/>
                      <a:pt x="21" y="0"/>
                    </a:cubicBezTo>
                    <a:cubicBezTo>
                      <a:pt x="22" y="0"/>
                      <a:pt x="22" y="0"/>
                      <a:pt x="22" y="1"/>
                    </a:cubicBezTo>
                    <a:cubicBezTo>
                      <a:pt x="22" y="8"/>
                      <a:pt x="22" y="8"/>
                      <a:pt x="22" y="8"/>
                    </a:cubicBezTo>
                    <a:cubicBezTo>
                      <a:pt x="30" y="8"/>
                      <a:pt x="34" y="13"/>
                      <a:pt x="34" y="13"/>
                    </a:cubicBezTo>
                    <a:cubicBezTo>
                      <a:pt x="35" y="13"/>
                      <a:pt x="35" y="14"/>
                      <a:pt x="34" y="14"/>
                    </a:cubicBezTo>
                    <a:cubicBezTo>
                      <a:pt x="31" y="20"/>
                      <a:pt x="31" y="20"/>
                      <a:pt x="31" y="20"/>
                    </a:cubicBezTo>
                    <a:cubicBezTo>
                      <a:pt x="31" y="20"/>
                      <a:pt x="31" y="20"/>
                      <a:pt x="30" y="20"/>
                    </a:cubicBezTo>
                    <a:cubicBezTo>
                      <a:pt x="30" y="20"/>
                      <a:pt x="30" y="20"/>
                      <a:pt x="29" y="20"/>
                    </a:cubicBezTo>
                    <a:cubicBezTo>
                      <a:pt x="29" y="20"/>
                      <a:pt x="25" y="16"/>
                      <a:pt x="19" y="16"/>
                    </a:cubicBezTo>
                    <a:cubicBezTo>
                      <a:pt x="14" y="16"/>
                      <a:pt x="11" y="18"/>
                      <a:pt x="11" y="22"/>
                    </a:cubicBezTo>
                    <a:cubicBezTo>
                      <a:pt x="11" y="26"/>
                      <a:pt x="16" y="28"/>
                      <a:pt x="21" y="30"/>
                    </a:cubicBezTo>
                    <a:cubicBezTo>
                      <a:pt x="28" y="32"/>
                      <a:pt x="36" y="36"/>
                      <a:pt x="36" y="45"/>
                    </a:cubicBezTo>
                    <a:cubicBezTo>
                      <a:pt x="36" y="52"/>
                      <a:pt x="30" y="59"/>
                      <a:pt x="22" y="60"/>
                    </a:cubicBezTo>
                    <a:close/>
                  </a:path>
                </a:pathLst>
              </a:custGeom>
              <a:solidFill>
                <a:srgbClr val="AE192C"/>
              </a:solidFill>
              <a:ln>
                <a:noFill/>
              </a:ln>
            </p:spPr>
            <p:txBody>
              <a:bodyPr/>
              <a:p>
                <a:endParaRPr lang="en-US" dirty="0">
                  <a:latin typeface="Times New Roman Regular" panose="02020503050405090304" charset="0"/>
                  <a:cs typeface="Times New Roman Regular" panose="02020503050405090304" charset="0"/>
                </a:endParaRPr>
              </a:p>
            </p:txBody>
          </p:sp>
        </p:grpSp>
        <p:grpSp>
          <p:nvGrpSpPr>
            <p:cNvPr id="75" name="Group 10"/>
            <p:cNvGrpSpPr/>
            <p:nvPr/>
          </p:nvGrpSpPr>
          <p:grpSpPr>
            <a:xfrm>
              <a:off x="1957" y="6896"/>
              <a:ext cx="3375" cy="2182"/>
              <a:chOff x="1242485" y="4379104"/>
              <a:chExt cx="2143124" cy="1385526"/>
            </a:xfrm>
          </p:grpSpPr>
          <p:sp>
            <p:nvSpPr>
              <p:cNvPr id="79" name="Rectangle 77"/>
              <p:cNvSpPr/>
              <p:nvPr/>
            </p:nvSpPr>
            <p:spPr>
              <a:xfrm>
                <a:off x="1242485" y="4379104"/>
                <a:ext cx="2143124" cy="1385526"/>
              </a:xfrm>
              <a:prstGeom prst="rect">
                <a:avLst/>
              </a:prstGeom>
              <a:solidFill>
                <a:schemeClr val="bg1">
                  <a:lumMod val="95000"/>
                </a:schemeClr>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atin typeface="Times New Roman Regular" panose="02020503050405090304" charset="0"/>
                  <a:cs typeface="Times New Roman Regular" panose="02020503050405090304" charset="0"/>
                </a:endParaRPr>
              </a:p>
            </p:txBody>
          </p:sp>
          <p:sp>
            <p:nvSpPr>
              <p:cNvPr id="83" name="TextBox 79"/>
              <p:cNvSpPr txBox="1"/>
              <p:nvPr/>
            </p:nvSpPr>
            <p:spPr>
              <a:xfrm flipH="1">
                <a:off x="1662335" y="4447625"/>
                <a:ext cx="1579464" cy="328090"/>
              </a:xfrm>
              <a:prstGeom prst="rect">
                <a:avLst/>
              </a:prstGeom>
              <a:noFill/>
            </p:spPr>
            <p:txBody>
              <a:bodyPr wrap="none" rtlCol="0">
                <a:noAutofit/>
              </a:bodyPr>
              <a:p>
                <a:pPr algn="l">
                  <a:buClrTx/>
                  <a:buSzTx/>
                  <a:buFontTx/>
                </a:pPr>
                <a:r>
                  <a:rPr lang="en-US" sz="1400" b="1" dirty="0">
                    <a:solidFill>
                      <a:schemeClr val="bg2">
                        <a:lumMod val="25000"/>
                      </a:schemeClr>
                    </a:solidFill>
                    <a:latin typeface="Times New Roman Bold" panose="02020503050405090304" charset="0"/>
                    <a:ea typeface="Lato" panose="020F0502020204030203" pitchFamily="34" charset="0"/>
                    <a:cs typeface="Times New Roman Bold" panose="02020503050405090304" charset="0"/>
                    <a:sym typeface="+mn-ea"/>
                  </a:rPr>
                  <a:t>Step 3</a:t>
                </a:r>
                <a:endParaRPr lang="en-US" sz="1400" b="1" dirty="0">
                  <a:solidFill>
                    <a:schemeClr val="bg2">
                      <a:lumMod val="25000"/>
                    </a:schemeClr>
                  </a:solidFill>
                  <a:latin typeface="Times New Roman Bold" panose="02020503050405090304" charset="0"/>
                  <a:ea typeface="Lato" panose="020F0502020204030203" pitchFamily="34" charset="0"/>
                  <a:cs typeface="Times New Roman Bold" panose="02020503050405090304" charset="0"/>
                  <a:sym typeface="+mn-ea"/>
                </a:endParaRPr>
              </a:p>
            </p:txBody>
          </p:sp>
          <p:sp>
            <p:nvSpPr>
              <p:cNvPr id="87" name="TextBox 80"/>
              <p:cNvSpPr txBox="1"/>
              <p:nvPr/>
            </p:nvSpPr>
            <p:spPr>
              <a:xfrm flipH="1">
                <a:off x="1662944" y="4800685"/>
                <a:ext cx="1568496" cy="836193"/>
              </a:xfrm>
              <a:prstGeom prst="rect">
                <a:avLst/>
              </a:prstGeom>
              <a:noFill/>
            </p:spPr>
            <p:txBody>
              <a:bodyPr wrap="square" rtlCol="0">
                <a:noAutofit/>
              </a:bodyPr>
              <a:p>
                <a:pPr algn="l">
                  <a:buClrTx/>
                  <a:buSzTx/>
                  <a:buFontTx/>
                </a:pPr>
                <a:r>
                  <a:rPr lang="en-US" altLang="zh-CN" sz="1600" dirty="0">
                    <a:solidFill>
                      <a:schemeClr val="bg2">
                        <a:lumMod val="25000"/>
                      </a:schemeClr>
                    </a:solidFill>
                    <a:latin typeface="Times New Roman Regular" panose="02020503050405090304" charset="0"/>
                    <a:ea typeface="OPPOSans H" panose="00020600040101010101" charset="-122"/>
                    <a:cs typeface="Times New Roman Regular" panose="02020503050405090304" charset="0"/>
                  </a:rPr>
                  <a:t>Missing Value Handling</a:t>
                </a:r>
                <a:endParaRPr lang="en-US" altLang="zh-CN" sz="1600" dirty="0">
                  <a:solidFill>
                    <a:schemeClr val="bg2">
                      <a:lumMod val="25000"/>
                    </a:schemeClr>
                  </a:solidFill>
                  <a:latin typeface="Times New Roman Regular" panose="02020503050405090304" charset="0"/>
                  <a:ea typeface="OPPOSans H" panose="00020600040101010101" charset="-122"/>
                  <a:cs typeface="Times New Roman Regular" panose="02020503050405090304" charset="0"/>
                </a:endParaRPr>
              </a:p>
            </p:txBody>
          </p:sp>
          <p:sp>
            <p:nvSpPr>
              <p:cNvPr id="88" name="Freeform 109"/>
              <p:cNvSpPr>
                <a:spLocks noChangeArrowheads="1"/>
              </p:cNvSpPr>
              <p:nvPr/>
            </p:nvSpPr>
            <p:spPr bwMode="auto">
              <a:xfrm>
                <a:off x="1393966" y="4831427"/>
                <a:ext cx="203291" cy="141295"/>
              </a:xfrm>
              <a:custGeom>
                <a:avLst/>
                <a:gdLst>
                  <a:gd name="T0" fmla="*/ 199517 w 497"/>
                  <a:gd name="T1" fmla="*/ 0 h 347"/>
                  <a:gd name="T2" fmla="*/ 0 w 497"/>
                  <a:gd name="T3" fmla="*/ 20175 h 347"/>
                  <a:gd name="T4" fmla="*/ 23870 w 497"/>
                  <a:gd name="T5" fmla="*/ 155127 h 347"/>
                  <a:gd name="T6" fmla="*/ 223387 w 497"/>
                  <a:gd name="T7" fmla="*/ 130916 h 347"/>
                  <a:gd name="T8" fmla="*/ 199517 w 497"/>
                  <a:gd name="T9" fmla="*/ 0 h 347"/>
                  <a:gd name="T10" fmla="*/ 199517 w 497"/>
                  <a:gd name="T11" fmla="*/ 130916 h 347"/>
                  <a:gd name="T12" fmla="*/ 23870 w 497"/>
                  <a:gd name="T13" fmla="*/ 63665 h 347"/>
                  <a:gd name="T14" fmla="*/ 199517 w 497"/>
                  <a:gd name="T15" fmla="*/ 130916 h 347"/>
                  <a:gd name="T16" fmla="*/ 199517 w 497"/>
                  <a:gd name="T17" fmla="*/ 31832 h 347"/>
                  <a:gd name="T18" fmla="*/ 23870 w 497"/>
                  <a:gd name="T19" fmla="*/ 20175 h 347"/>
                  <a:gd name="T20" fmla="*/ 199517 w 497"/>
                  <a:gd name="T21" fmla="*/ 31832 h 347"/>
                  <a:gd name="T22" fmla="*/ 43686 w 497"/>
                  <a:gd name="T23" fmla="*/ 87427 h 347"/>
                  <a:gd name="T24" fmla="*/ 51793 w 497"/>
                  <a:gd name="T25" fmla="*/ 95497 h 347"/>
                  <a:gd name="T26" fmla="*/ 43686 w 497"/>
                  <a:gd name="T27" fmla="*/ 87427 h 347"/>
                  <a:gd name="T28" fmla="*/ 83770 w 497"/>
                  <a:gd name="T29" fmla="*/ 103567 h 347"/>
                  <a:gd name="T30" fmla="*/ 99533 w 497"/>
                  <a:gd name="T31" fmla="*/ 107154 h 347"/>
                  <a:gd name="T32" fmla="*/ 103587 w 497"/>
                  <a:gd name="T33" fmla="*/ 103567 h 347"/>
                  <a:gd name="T34" fmla="*/ 111693 w 497"/>
                  <a:gd name="T35" fmla="*/ 95497 h 347"/>
                  <a:gd name="T36" fmla="*/ 99533 w 497"/>
                  <a:gd name="T37" fmla="*/ 87427 h 347"/>
                  <a:gd name="T38" fmla="*/ 91426 w 497"/>
                  <a:gd name="T39" fmla="*/ 95497 h 347"/>
                  <a:gd name="T40" fmla="*/ 83770 w 497"/>
                  <a:gd name="T41" fmla="*/ 103567 h 347"/>
                  <a:gd name="T42" fmla="*/ 111693 w 497"/>
                  <a:gd name="T43" fmla="*/ 107154 h 347"/>
                  <a:gd name="T44" fmla="*/ 103587 w 497"/>
                  <a:gd name="T45" fmla="*/ 103567 h 347"/>
                  <a:gd name="T46" fmla="*/ 111693 w 497"/>
                  <a:gd name="T47" fmla="*/ 107154 h 347"/>
                  <a:gd name="T48" fmla="*/ 79717 w 497"/>
                  <a:gd name="T49" fmla="*/ 107154 h 347"/>
                  <a:gd name="T50" fmla="*/ 63953 w 497"/>
                  <a:gd name="T51" fmla="*/ 103567 h 347"/>
                  <a:gd name="T52" fmla="*/ 79717 w 497"/>
                  <a:gd name="T53" fmla="*/ 107154 h 347"/>
                  <a:gd name="T54" fmla="*/ 83770 w 497"/>
                  <a:gd name="T55" fmla="*/ 95497 h 347"/>
                  <a:gd name="T56" fmla="*/ 91426 w 497"/>
                  <a:gd name="T57" fmla="*/ 87427 h 347"/>
                  <a:gd name="T58" fmla="*/ 79717 w 497"/>
                  <a:gd name="T59" fmla="*/ 103567 h 347"/>
                  <a:gd name="T60" fmla="*/ 83770 w 497"/>
                  <a:gd name="T61" fmla="*/ 95497 h 347"/>
                  <a:gd name="T62" fmla="*/ 59900 w 497"/>
                  <a:gd name="T63" fmla="*/ 103567 h 347"/>
                  <a:gd name="T64" fmla="*/ 63953 w 497"/>
                  <a:gd name="T65" fmla="*/ 95497 h 347"/>
                  <a:gd name="T66" fmla="*/ 71610 w 497"/>
                  <a:gd name="T67" fmla="*/ 87427 h 347"/>
                  <a:gd name="T68" fmla="*/ 59900 w 497"/>
                  <a:gd name="T69" fmla="*/ 95497 h 347"/>
                  <a:gd name="T70" fmla="*/ 51793 w 497"/>
                  <a:gd name="T71" fmla="*/ 103567 h 347"/>
                  <a:gd name="T72" fmla="*/ 43686 w 497"/>
                  <a:gd name="T73" fmla="*/ 107154 h 347"/>
                  <a:gd name="T74" fmla="*/ 59900 w 497"/>
                  <a:gd name="T75" fmla="*/ 103567 h 34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97" h="347">
                    <a:moveTo>
                      <a:pt x="443" y="0"/>
                    </a:moveTo>
                    <a:lnTo>
                      <a:pt x="443" y="0"/>
                    </a:lnTo>
                    <a:cubicBezTo>
                      <a:pt x="53" y="0"/>
                      <a:pt x="53" y="0"/>
                      <a:pt x="53" y="0"/>
                    </a:cubicBezTo>
                    <a:cubicBezTo>
                      <a:pt x="27" y="0"/>
                      <a:pt x="0" y="18"/>
                      <a:pt x="0" y="45"/>
                    </a:cubicBezTo>
                    <a:cubicBezTo>
                      <a:pt x="0" y="292"/>
                      <a:pt x="0" y="292"/>
                      <a:pt x="0" y="292"/>
                    </a:cubicBezTo>
                    <a:cubicBezTo>
                      <a:pt x="0" y="320"/>
                      <a:pt x="27" y="346"/>
                      <a:pt x="53" y="346"/>
                    </a:cubicBezTo>
                    <a:cubicBezTo>
                      <a:pt x="443" y="346"/>
                      <a:pt x="443" y="346"/>
                      <a:pt x="443" y="346"/>
                    </a:cubicBezTo>
                    <a:cubicBezTo>
                      <a:pt x="478" y="346"/>
                      <a:pt x="496" y="320"/>
                      <a:pt x="496" y="292"/>
                    </a:cubicBezTo>
                    <a:cubicBezTo>
                      <a:pt x="496" y="45"/>
                      <a:pt x="496" y="45"/>
                      <a:pt x="496" y="45"/>
                    </a:cubicBezTo>
                    <a:cubicBezTo>
                      <a:pt x="496" y="18"/>
                      <a:pt x="478" y="0"/>
                      <a:pt x="443" y="0"/>
                    </a:cubicBezTo>
                    <a:close/>
                    <a:moveTo>
                      <a:pt x="443" y="292"/>
                    </a:moveTo>
                    <a:lnTo>
                      <a:pt x="443" y="292"/>
                    </a:lnTo>
                    <a:cubicBezTo>
                      <a:pt x="53" y="292"/>
                      <a:pt x="53" y="292"/>
                      <a:pt x="53" y="292"/>
                    </a:cubicBezTo>
                    <a:cubicBezTo>
                      <a:pt x="53" y="142"/>
                      <a:pt x="53" y="142"/>
                      <a:pt x="53" y="142"/>
                    </a:cubicBezTo>
                    <a:cubicBezTo>
                      <a:pt x="443" y="142"/>
                      <a:pt x="443" y="142"/>
                      <a:pt x="443" y="142"/>
                    </a:cubicBezTo>
                    <a:lnTo>
                      <a:pt x="443" y="292"/>
                    </a:lnTo>
                    <a:close/>
                    <a:moveTo>
                      <a:pt x="443" y="71"/>
                    </a:moveTo>
                    <a:lnTo>
                      <a:pt x="443" y="71"/>
                    </a:lnTo>
                    <a:cubicBezTo>
                      <a:pt x="53" y="71"/>
                      <a:pt x="53" y="71"/>
                      <a:pt x="53" y="71"/>
                    </a:cubicBezTo>
                    <a:cubicBezTo>
                      <a:pt x="53" y="45"/>
                      <a:pt x="53" y="45"/>
                      <a:pt x="53" y="45"/>
                    </a:cubicBezTo>
                    <a:cubicBezTo>
                      <a:pt x="443" y="45"/>
                      <a:pt x="443" y="45"/>
                      <a:pt x="443" y="45"/>
                    </a:cubicBezTo>
                    <a:lnTo>
                      <a:pt x="443" y="71"/>
                    </a:lnTo>
                    <a:close/>
                    <a:moveTo>
                      <a:pt x="97" y="195"/>
                    </a:moveTo>
                    <a:lnTo>
                      <a:pt x="97" y="195"/>
                    </a:lnTo>
                    <a:cubicBezTo>
                      <a:pt x="97" y="213"/>
                      <a:pt x="97" y="213"/>
                      <a:pt x="97" y="213"/>
                    </a:cubicBezTo>
                    <a:cubicBezTo>
                      <a:pt x="115" y="213"/>
                      <a:pt x="115" y="213"/>
                      <a:pt x="115" y="213"/>
                    </a:cubicBezTo>
                    <a:cubicBezTo>
                      <a:pt x="115" y="195"/>
                      <a:pt x="115" y="195"/>
                      <a:pt x="115" y="195"/>
                    </a:cubicBezTo>
                    <a:lnTo>
                      <a:pt x="97" y="195"/>
                    </a:lnTo>
                    <a:close/>
                    <a:moveTo>
                      <a:pt x="186" y="231"/>
                    </a:moveTo>
                    <a:lnTo>
                      <a:pt x="186" y="231"/>
                    </a:lnTo>
                    <a:cubicBezTo>
                      <a:pt x="186" y="239"/>
                      <a:pt x="186" y="239"/>
                      <a:pt x="186" y="239"/>
                    </a:cubicBezTo>
                    <a:cubicBezTo>
                      <a:pt x="221" y="239"/>
                      <a:pt x="221" y="239"/>
                      <a:pt x="221" y="239"/>
                    </a:cubicBezTo>
                    <a:cubicBezTo>
                      <a:pt x="221" y="231"/>
                      <a:pt x="221" y="231"/>
                      <a:pt x="221" y="231"/>
                    </a:cubicBezTo>
                    <a:cubicBezTo>
                      <a:pt x="230" y="231"/>
                      <a:pt x="230" y="231"/>
                      <a:pt x="230" y="231"/>
                    </a:cubicBezTo>
                    <a:cubicBezTo>
                      <a:pt x="230" y="213"/>
                      <a:pt x="230" y="213"/>
                      <a:pt x="230" y="213"/>
                    </a:cubicBezTo>
                    <a:cubicBezTo>
                      <a:pt x="248" y="213"/>
                      <a:pt x="248" y="213"/>
                      <a:pt x="248" y="213"/>
                    </a:cubicBezTo>
                    <a:cubicBezTo>
                      <a:pt x="248" y="195"/>
                      <a:pt x="248" y="195"/>
                      <a:pt x="248" y="195"/>
                    </a:cubicBezTo>
                    <a:cubicBezTo>
                      <a:pt x="221" y="195"/>
                      <a:pt x="221" y="195"/>
                      <a:pt x="221" y="195"/>
                    </a:cubicBezTo>
                    <a:cubicBezTo>
                      <a:pt x="221" y="213"/>
                      <a:pt x="221" y="213"/>
                      <a:pt x="221" y="213"/>
                    </a:cubicBezTo>
                    <a:cubicBezTo>
                      <a:pt x="203" y="213"/>
                      <a:pt x="203" y="213"/>
                      <a:pt x="203" y="213"/>
                    </a:cubicBezTo>
                    <a:cubicBezTo>
                      <a:pt x="203" y="231"/>
                      <a:pt x="203" y="231"/>
                      <a:pt x="203" y="231"/>
                    </a:cubicBezTo>
                    <a:lnTo>
                      <a:pt x="186" y="231"/>
                    </a:lnTo>
                    <a:close/>
                    <a:moveTo>
                      <a:pt x="248" y="239"/>
                    </a:moveTo>
                    <a:lnTo>
                      <a:pt x="248" y="239"/>
                    </a:lnTo>
                    <a:cubicBezTo>
                      <a:pt x="248" y="231"/>
                      <a:pt x="248" y="231"/>
                      <a:pt x="248" y="231"/>
                    </a:cubicBezTo>
                    <a:cubicBezTo>
                      <a:pt x="230" y="231"/>
                      <a:pt x="230" y="231"/>
                      <a:pt x="230" y="231"/>
                    </a:cubicBezTo>
                    <a:cubicBezTo>
                      <a:pt x="230" y="239"/>
                      <a:pt x="230" y="239"/>
                      <a:pt x="230" y="239"/>
                    </a:cubicBezTo>
                    <a:lnTo>
                      <a:pt x="248" y="239"/>
                    </a:lnTo>
                    <a:close/>
                    <a:moveTo>
                      <a:pt x="177" y="239"/>
                    </a:moveTo>
                    <a:lnTo>
                      <a:pt x="177" y="239"/>
                    </a:lnTo>
                    <a:cubicBezTo>
                      <a:pt x="177" y="231"/>
                      <a:pt x="177" y="231"/>
                      <a:pt x="177" y="231"/>
                    </a:cubicBezTo>
                    <a:cubicBezTo>
                      <a:pt x="142" y="231"/>
                      <a:pt x="142" y="231"/>
                      <a:pt x="142" y="231"/>
                    </a:cubicBezTo>
                    <a:cubicBezTo>
                      <a:pt x="142" y="239"/>
                      <a:pt x="142" y="239"/>
                      <a:pt x="142" y="239"/>
                    </a:cubicBezTo>
                    <a:lnTo>
                      <a:pt x="177" y="239"/>
                    </a:lnTo>
                    <a:close/>
                    <a:moveTo>
                      <a:pt x="186" y="213"/>
                    </a:moveTo>
                    <a:lnTo>
                      <a:pt x="186" y="213"/>
                    </a:lnTo>
                    <a:cubicBezTo>
                      <a:pt x="203" y="213"/>
                      <a:pt x="203" y="213"/>
                      <a:pt x="203" y="213"/>
                    </a:cubicBezTo>
                    <a:cubicBezTo>
                      <a:pt x="203" y="195"/>
                      <a:pt x="203" y="195"/>
                      <a:pt x="203" y="195"/>
                    </a:cubicBezTo>
                    <a:cubicBezTo>
                      <a:pt x="177" y="195"/>
                      <a:pt x="177" y="195"/>
                      <a:pt x="177" y="195"/>
                    </a:cubicBezTo>
                    <a:cubicBezTo>
                      <a:pt x="177" y="231"/>
                      <a:pt x="177" y="231"/>
                      <a:pt x="177" y="231"/>
                    </a:cubicBezTo>
                    <a:cubicBezTo>
                      <a:pt x="186" y="231"/>
                      <a:pt x="186" y="231"/>
                      <a:pt x="186" y="231"/>
                    </a:cubicBezTo>
                    <a:lnTo>
                      <a:pt x="186" y="213"/>
                    </a:lnTo>
                    <a:close/>
                    <a:moveTo>
                      <a:pt x="133" y="231"/>
                    </a:moveTo>
                    <a:lnTo>
                      <a:pt x="133" y="231"/>
                    </a:lnTo>
                    <a:cubicBezTo>
                      <a:pt x="142" y="231"/>
                      <a:pt x="142" y="231"/>
                      <a:pt x="142" y="231"/>
                    </a:cubicBezTo>
                    <a:cubicBezTo>
                      <a:pt x="142" y="213"/>
                      <a:pt x="142" y="213"/>
                      <a:pt x="142" y="213"/>
                    </a:cubicBezTo>
                    <a:cubicBezTo>
                      <a:pt x="159" y="213"/>
                      <a:pt x="159" y="213"/>
                      <a:pt x="159" y="213"/>
                    </a:cubicBezTo>
                    <a:cubicBezTo>
                      <a:pt x="159" y="195"/>
                      <a:pt x="159" y="195"/>
                      <a:pt x="159" y="195"/>
                    </a:cubicBezTo>
                    <a:cubicBezTo>
                      <a:pt x="133" y="195"/>
                      <a:pt x="133" y="195"/>
                      <a:pt x="133" y="195"/>
                    </a:cubicBezTo>
                    <a:cubicBezTo>
                      <a:pt x="133" y="213"/>
                      <a:pt x="133" y="213"/>
                      <a:pt x="133" y="213"/>
                    </a:cubicBezTo>
                    <a:cubicBezTo>
                      <a:pt x="115" y="213"/>
                      <a:pt x="115" y="213"/>
                      <a:pt x="115" y="213"/>
                    </a:cubicBezTo>
                    <a:cubicBezTo>
                      <a:pt x="115" y="231"/>
                      <a:pt x="115" y="231"/>
                      <a:pt x="115" y="231"/>
                    </a:cubicBezTo>
                    <a:cubicBezTo>
                      <a:pt x="97" y="231"/>
                      <a:pt x="97" y="231"/>
                      <a:pt x="97" y="231"/>
                    </a:cubicBezTo>
                    <a:cubicBezTo>
                      <a:pt x="97" y="239"/>
                      <a:pt x="97" y="239"/>
                      <a:pt x="97" y="239"/>
                    </a:cubicBezTo>
                    <a:cubicBezTo>
                      <a:pt x="133" y="239"/>
                      <a:pt x="133" y="239"/>
                      <a:pt x="133" y="239"/>
                    </a:cubicBezTo>
                    <a:lnTo>
                      <a:pt x="133" y="231"/>
                    </a:lnTo>
                    <a:close/>
                  </a:path>
                </a:pathLst>
              </a:custGeom>
              <a:solidFill>
                <a:srgbClr val="AE192C"/>
              </a:solidFill>
              <a:ln>
                <a:noFill/>
              </a:ln>
              <a:effectLst/>
            </p:spPr>
            <p:txBody>
              <a:bodyPr wrap="none" lIns="34290" tIns="17145" rIns="34290" bIns="17145" anchor="ctr"/>
              <a:p>
                <a:endParaRPr lang="en-US" dirty="0">
                  <a:latin typeface="Times New Roman Regular" panose="02020503050405090304" charset="0"/>
                  <a:cs typeface="Times New Roman Regular" panose="02020503050405090304" charset="0"/>
                </a:endParaRPr>
              </a:p>
            </p:txBody>
          </p:sp>
        </p:grpSp>
        <p:grpSp>
          <p:nvGrpSpPr>
            <p:cNvPr id="89" name="Group 11"/>
            <p:cNvGrpSpPr/>
            <p:nvPr/>
          </p:nvGrpSpPr>
          <p:grpSpPr>
            <a:xfrm>
              <a:off x="1957" y="4705"/>
              <a:ext cx="3375" cy="1948"/>
              <a:chOff x="1242485" y="2987615"/>
              <a:chExt cx="2143125" cy="1236990"/>
            </a:xfrm>
          </p:grpSpPr>
          <p:sp>
            <p:nvSpPr>
              <p:cNvPr id="90" name="Rectangle 66"/>
              <p:cNvSpPr/>
              <p:nvPr/>
            </p:nvSpPr>
            <p:spPr>
              <a:xfrm>
                <a:off x="1242485" y="2987615"/>
                <a:ext cx="2143125" cy="1236737"/>
              </a:xfrm>
              <a:prstGeom prst="rect">
                <a:avLst/>
              </a:prstGeom>
              <a:solidFill>
                <a:srgbClr val="AE192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atin typeface="Times New Roman Regular" panose="02020503050405090304" charset="0"/>
                  <a:cs typeface="Times New Roman Regular" panose="02020503050405090304" charset="0"/>
                </a:endParaRPr>
              </a:p>
            </p:txBody>
          </p:sp>
          <p:grpSp>
            <p:nvGrpSpPr>
              <p:cNvPr id="94" name="Group 72"/>
              <p:cNvGrpSpPr/>
              <p:nvPr/>
            </p:nvGrpSpPr>
            <p:grpSpPr>
              <a:xfrm>
                <a:off x="1662406" y="3089356"/>
                <a:ext cx="1579464" cy="1135249"/>
                <a:chOff x="1883596" y="2885675"/>
                <a:chExt cx="1579464" cy="1135249"/>
              </a:xfrm>
            </p:grpSpPr>
            <p:sp>
              <p:nvSpPr>
                <p:cNvPr id="95" name="TextBox 70"/>
                <p:cNvSpPr txBox="1"/>
                <p:nvPr/>
              </p:nvSpPr>
              <p:spPr>
                <a:xfrm flipH="1">
                  <a:off x="1883596" y="2885675"/>
                  <a:ext cx="1579464" cy="306024"/>
                </a:xfrm>
                <a:prstGeom prst="rect">
                  <a:avLst/>
                </a:prstGeom>
                <a:noFill/>
              </p:spPr>
              <p:txBody>
                <a:bodyPr wrap="none" rtlCol="0">
                  <a:noAutofit/>
                </a:bodyPr>
                <a:p>
                  <a:pPr algn="l"/>
                  <a:r>
                    <a:rPr lang="en-US" sz="1400" b="1" dirty="0">
                      <a:solidFill>
                        <a:schemeClr val="bg1"/>
                      </a:solidFill>
                      <a:latin typeface="Times New Roman Bold" panose="02020503050405090304" charset="0"/>
                      <a:ea typeface="Lato" panose="020F0502020204030203" pitchFamily="34" charset="0"/>
                      <a:cs typeface="Times New Roman Bold" panose="02020503050405090304" charset="0"/>
                    </a:rPr>
                    <a:t>Step 1</a:t>
                  </a:r>
                  <a:endParaRPr lang="en-US" sz="1400" b="1" dirty="0">
                    <a:solidFill>
                      <a:schemeClr val="bg1"/>
                    </a:solidFill>
                    <a:latin typeface="Times New Roman Bold" panose="02020503050405090304" charset="0"/>
                    <a:ea typeface="Lato" panose="020F0502020204030203" pitchFamily="34" charset="0"/>
                    <a:cs typeface="Times New Roman Bold" panose="02020503050405090304" charset="0"/>
                  </a:endParaRPr>
                </a:p>
              </p:txBody>
            </p:sp>
            <p:sp>
              <p:nvSpPr>
                <p:cNvPr id="97" name="TextBox 71"/>
                <p:cNvSpPr txBox="1"/>
                <p:nvPr/>
              </p:nvSpPr>
              <p:spPr>
                <a:xfrm flipH="1">
                  <a:off x="1883596" y="3185311"/>
                  <a:ext cx="1568496" cy="835613"/>
                </a:xfrm>
                <a:prstGeom prst="rect">
                  <a:avLst/>
                </a:prstGeom>
                <a:noFill/>
              </p:spPr>
              <p:txBody>
                <a:bodyPr wrap="square" rtlCol="0">
                  <a:noAutofit/>
                </a:bodyPr>
                <a:p>
                  <a:r>
                    <a:rPr lang="en-US" altLang="zh-CN" sz="1600" dirty="0">
                      <a:solidFill>
                        <a:schemeClr val="bg1"/>
                      </a:solidFill>
                      <a:latin typeface="Times New Roman Regular" panose="02020503050405090304" charset="0"/>
                      <a:ea typeface="OPPOSans H" panose="00020600040101010101" charset="-122"/>
                      <a:cs typeface="Times New Roman Regular" panose="02020503050405090304" charset="0"/>
                    </a:rPr>
                    <a:t>Standardisation and Sample Matching</a:t>
                  </a:r>
                  <a:endParaRPr lang="en-US" altLang="zh-CN" sz="1600" dirty="0">
                    <a:solidFill>
                      <a:schemeClr val="bg1"/>
                    </a:solidFill>
                    <a:latin typeface="Times New Roman Regular" panose="02020503050405090304" charset="0"/>
                    <a:ea typeface="OPPOSans H" panose="00020600040101010101" charset="-122"/>
                    <a:cs typeface="Times New Roman Regular" panose="02020503050405090304" charset="0"/>
                  </a:endParaRPr>
                </a:p>
              </p:txBody>
            </p:sp>
          </p:grpSp>
          <p:sp>
            <p:nvSpPr>
              <p:cNvPr id="98" name="Freeform 167"/>
              <p:cNvSpPr>
                <a:spLocks noChangeArrowheads="1"/>
              </p:cNvSpPr>
              <p:nvPr/>
            </p:nvSpPr>
            <p:spPr bwMode="auto">
              <a:xfrm>
                <a:off x="1410546" y="3464432"/>
                <a:ext cx="170131" cy="171573"/>
              </a:xfrm>
              <a:custGeom>
                <a:avLst/>
                <a:gdLst>
                  <a:gd name="T0" fmla="*/ 79322 w 418"/>
                  <a:gd name="T1" fmla="*/ 0 h 417"/>
                  <a:gd name="T2" fmla="*/ 79322 w 418"/>
                  <a:gd name="T3" fmla="*/ 0 h 417"/>
                  <a:gd name="T4" fmla="*/ 0 w 418"/>
                  <a:gd name="T5" fmla="*/ 79733 h 417"/>
                  <a:gd name="T6" fmla="*/ 79322 w 418"/>
                  <a:gd name="T7" fmla="*/ 79733 h 417"/>
                  <a:gd name="T8" fmla="*/ 79322 w 418"/>
                  <a:gd name="T9" fmla="*/ 0 h 417"/>
                  <a:gd name="T10" fmla="*/ 103074 w 418"/>
                  <a:gd name="T11" fmla="*/ 0 h 417"/>
                  <a:gd name="T12" fmla="*/ 103074 w 418"/>
                  <a:gd name="T13" fmla="*/ 0 h 417"/>
                  <a:gd name="T14" fmla="*/ 103074 w 418"/>
                  <a:gd name="T15" fmla="*/ 91965 h 417"/>
                  <a:gd name="T16" fmla="*/ 91422 w 418"/>
                  <a:gd name="T17" fmla="*/ 103744 h 417"/>
                  <a:gd name="T18" fmla="*/ 0 w 418"/>
                  <a:gd name="T19" fmla="*/ 103744 h 417"/>
                  <a:gd name="T20" fmla="*/ 91422 w 418"/>
                  <a:gd name="T21" fmla="*/ 188460 h 417"/>
                  <a:gd name="T22" fmla="*/ 186877 w 418"/>
                  <a:gd name="T23" fmla="*/ 91965 h 417"/>
                  <a:gd name="T24" fmla="*/ 103074 w 418"/>
                  <a:gd name="T25" fmla="*/ 0 h 4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18" h="417">
                    <a:moveTo>
                      <a:pt x="177" y="0"/>
                    </a:moveTo>
                    <a:lnTo>
                      <a:pt x="177" y="0"/>
                    </a:lnTo>
                    <a:cubicBezTo>
                      <a:pt x="80" y="9"/>
                      <a:pt x="9" y="88"/>
                      <a:pt x="0" y="176"/>
                    </a:cubicBezTo>
                    <a:cubicBezTo>
                      <a:pt x="177" y="176"/>
                      <a:pt x="177" y="176"/>
                      <a:pt x="177" y="176"/>
                    </a:cubicBezTo>
                    <a:lnTo>
                      <a:pt x="177" y="0"/>
                    </a:lnTo>
                    <a:close/>
                    <a:moveTo>
                      <a:pt x="230" y="0"/>
                    </a:moveTo>
                    <a:lnTo>
                      <a:pt x="230" y="0"/>
                    </a:lnTo>
                    <a:cubicBezTo>
                      <a:pt x="230" y="203"/>
                      <a:pt x="230" y="203"/>
                      <a:pt x="230" y="203"/>
                    </a:cubicBezTo>
                    <a:cubicBezTo>
                      <a:pt x="230" y="221"/>
                      <a:pt x="222" y="229"/>
                      <a:pt x="204" y="229"/>
                    </a:cubicBezTo>
                    <a:cubicBezTo>
                      <a:pt x="0" y="229"/>
                      <a:pt x="0" y="229"/>
                      <a:pt x="0" y="229"/>
                    </a:cubicBezTo>
                    <a:cubicBezTo>
                      <a:pt x="9" y="336"/>
                      <a:pt x="98" y="416"/>
                      <a:pt x="204" y="416"/>
                    </a:cubicBezTo>
                    <a:cubicBezTo>
                      <a:pt x="319" y="416"/>
                      <a:pt x="417" y="319"/>
                      <a:pt x="417" y="203"/>
                    </a:cubicBezTo>
                    <a:cubicBezTo>
                      <a:pt x="417" y="97"/>
                      <a:pt x="337" y="9"/>
                      <a:pt x="230" y="0"/>
                    </a:cubicBezTo>
                    <a:close/>
                  </a:path>
                </a:pathLst>
              </a:custGeom>
              <a:solidFill>
                <a:schemeClr val="bg1"/>
              </a:solidFill>
              <a:ln>
                <a:noFill/>
              </a:ln>
              <a:effectLst/>
            </p:spPr>
            <p:txBody>
              <a:bodyPr wrap="none" lIns="34290" tIns="17145" rIns="34290" bIns="17145" anchor="ctr"/>
              <a:p>
                <a:endParaRPr lang="en-US" dirty="0">
                  <a:latin typeface="Times New Roman Regular" panose="02020503050405090304" charset="0"/>
                  <a:cs typeface="Times New Roman Regular" panose="02020503050405090304" charset="0"/>
                </a:endParaRPr>
              </a:p>
            </p:txBody>
          </p:sp>
        </p:grpSp>
        <p:sp>
          <p:nvSpPr>
            <p:cNvPr id="112" name="TextBox 190"/>
            <p:cNvSpPr txBox="1"/>
            <p:nvPr/>
          </p:nvSpPr>
          <p:spPr>
            <a:xfrm>
              <a:off x="8727" y="1627"/>
              <a:ext cx="3588" cy="442"/>
            </a:xfrm>
            <a:prstGeom prst="rect">
              <a:avLst/>
            </a:prstGeom>
            <a:noFill/>
          </p:spPr>
          <p:txBody>
            <a:bodyPr wrap="square" rtlCol="0">
              <a:spAutoFit/>
            </a:bodyPr>
            <a:p>
              <a:r>
                <a:rPr lang="en-US" altLang="zh-CN" sz="1400" dirty="0">
                  <a:solidFill>
                    <a:srgbClr val="AE192C"/>
                  </a:solidFill>
                  <a:latin typeface="Times New Roman Regular" panose="02020503050405090304" charset="0"/>
                  <a:ea typeface="OPPOSans H" panose="00020600040101010101" charset="-122"/>
                  <a:cs typeface="Times New Roman Regular" panose="02020503050405090304" charset="0"/>
                </a:rPr>
                <a:t>Missing value 30%</a:t>
              </a:r>
              <a:endParaRPr lang="en-US" altLang="zh-CN" sz="1400" dirty="0">
                <a:solidFill>
                  <a:srgbClr val="AE192C"/>
                </a:solidFill>
                <a:latin typeface="Times New Roman Regular" panose="02020503050405090304" charset="0"/>
                <a:ea typeface="OPPOSans H" panose="00020600040101010101" charset="-122"/>
                <a:cs typeface="Times New Roman Regular" panose="02020503050405090304" charset="0"/>
              </a:endParaRPr>
            </a:p>
          </p:txBody>
        </p:sp>
        <p:sp>
          <p:nvSpPr>
            <p:cNvPr id="119" name="TextBox 191"/>
            <p:cNvSpPr txBox="1"/>
            <p:nvPr/>
          </p:nvSpPr>
          <p:spPr>
            <a:xfrm>
              <a:off x="8727" y="2006"/>
              <a:ext cx="3588" cy="1087"/>
            </a:xfrm>
            <a:prstGeom prst="rect">
              <a:avLst/>
            </a:prstGeom>
            <a:noFill/>
          </p:spPr>
          <p:txBody>
            <a:bodyPr wrap="square" rtlCol="0">
              <a:spAutoFit/>
            </a:bodyPr>
            <a:p>
              <a:pPr algn="l">
                <a:lnSpc>
                  <a:spcPct val="120000"/>
                </a:lnSpc>
                <a:buClrTx/>
                <a:buSzTx/>
                <a:buFontTx/>
              </a:pPr>
              <a:r>
                <a:rPr lang="en-US" altLang="zh-CN" sz="1200" dirty="0">
                  <a:solidFill>
                    <a:schemeClr val="tx1">
                      <a:lumMod val="65000"/>
                      <a:lumOff val="35000"/>
                    </a:schemeClr>
                  </a:solidFill>
                  <a:latin typeface="Times New Roman Regular" panose="02020503050405090304" charset="0"/>
                  <a:ea typeface="微软雅黑 Light" panose="020B0502040204020203" charset="-122"/>
                  <a:cs typeface="Times New Roman Regular" panose="02020503050405090304" charset="0"/>
                </a:rPr>
                <a:t>Samples with 80% missing and 30% missing expression values overlap by up to 90%</a:t>
              </a:r>
              <a:endParaRPr lang="en-US" altLang="zh-CN" sz="1200" dirty="0">
                <a:solidFill>
                  <a:schemeClr val="tx1">
                    <a:lumMod val="65000"/>
                    <a:lumOff val="35000"/>
                  </a:schemeClr>
                </a:solidFill>
                <a:latin typeface="Times New Roman Regular" panose="02020503050405090304" charset="0"/>
                <a:ea typeface="微软雅黑 Light" panose="020B0502040204020203" charset="-122"/>
                <a:cs typeface="Times New Roman Regular" panose="02020503050405090304" charset="0"/>
              </a:endParaRPr>
            </a:p>
          </p:txBody>
        </p:sp>
        <p:sp>
          <p:nvSpPr>
            <p:cNvPr id="133" name="Oval 117"/>
            <p:cNvSpPr/>
            <p:nvPr>
              <p:custDataLst>
                <p:tags r:id="rId4"/>
              </p:custDataLst>
            </p:nvPr>
          </p:nvSpPr>
          <p:spPr>
            <a:xfrm>
              <a:off x="13802" y="6519"/>
              <a:ext cx="179" cy="17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id-ID" sz="1200" b="1" dirty="0">
                <a:latin typeface="Times New Roman Regular" panose="02020503050405090304" charset="0"/>
                <a:ea typeface="Open Sans Light" panose="020B0306030504020204" pitchFamily="34" charset="0"/>
                <a:cs typeface="Times New Roman Regular" panose="02020503050405090304" charset="0"/>
              </a:endParaRPr>
            </a:p>
          </p:txBody>
        </p:sp>
      </p:grpSp>
      <p:pic>
        <p:nvPicPr>
          <p:cNvPr id="146" name="图片 145" descr="image"/>
          <p:cNvPicPr>
            <a:picLocks noChangeAspect="1"/>
          </p:cNvPicPr>
          <p:nvPr/>
        </p:nvPicPr>
        <p:blipFill>
          <a:blip r:embed="rId5"/>
          <a:stretch>
            <a:fillRect/>
          </a:stretch>
        </p:blipFill>
        <p:spPr>
          <a:xfrm>
            <a:off x="6699250" y="2550795"/>
            <a:ext cx="4551680" cy="3523615"/>
          </a:xfrm>
          <a:prstGeom prst="rect">
            <a:avLst/>
          </a:prstGeom>
        </p:spPr>
      </p:pic>
      <p:sp>
        <p:nvSpPr>
          <p:cNvPr id="148" name="Oval 189"/>
          <p:cNvSpPr/>
          <p:nvPr/>
        </p:nvSpPr>
        <p:spPr>
          <a:xfrm>
            <a:off x="851535" y="1068070"/>
            <a:ext cx="759460" cy="7969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r>
              <a:rPr lang="en-US" sz="1400" dirty="0">
                <a:solidFill>
                  <a:schemeClr val="tx1">
                    <a:lumMod val="75000"/>
                    <a:lumOff val="25000"/>
                  </a:schemeClr>
                </a:solidFill>
                <a:latin typeface="Times New Roman Regular" panose="02020503050405090304" charset="0"/>
                <a:cs typeface="Times New Roman Regular" panose="02020503050405090304" charset="0"/>
              </a:rPr>
              <a:t>80%</a:t>
            </a:r>
            <a:endParaRPr lang="en-US" sz="1400" dirty="0">
              <a:solidFill>
                <a:schemeClr val="tx1">
                  <a:lumMod val="75000"/>
                  <a:lumOff val="25000"/>
                </a:schemeClr>
              </a:solidFill>
              <a:latin typeface="Times New Roman Regular" panose="02020503050405090304" charset="0"/>
              <a:cs typeface="Times New Roman Regular" panose="02020503050405090304" charset="0"/>
            </a:endParaRPr>
          </a:p>
        </p:txBody>
      </p:sp>
      <p:grpSp>
        <p:nvGrpSpPr>
          <p:cNvPr id="149" name="Group 4"/>
          <p:cNvGrpSpPr/>
          <p:nvPr/>
        </p:nvGrpSpPr>
        <p:grpSpPr>
          <a:xfrm rot="0">
            <a:off x="4413885" y="709295"/>
            <a:ext cx="1180465" cy="1514475"/>
            <a:chOff x="4464157" y="710073"/>
            <a:chExt cx="1132573" cy="1385103"/>
          </a:xfrm>
        </p:grpSpPr>
        <p:graphicFrame>
          <p:nvGraphicFramePr>
            <p:cNvPr id="187" name="Chart 186"/>
            <p:cNvGraphicFramePr/>
            <p:nvPr/>
          </p:nvGraphicFramePr>
          <p:xfrm>
            <a:off x="4464157" y="710073"/>
            <a:ext cx="1132573" cy="1385103"/>
          </p:xfrm>
          <a:graphic>
            <a:graphicData uri="http://schemas.openxmlformats.org/drawingml/2006/chart">
              <c:chart xmlns:c="http://schemas.openxmlformats.org/drawingml/2006/chart" xmlns:r="http://schemas.openxmlformats.org/officeDocument/2006/relationships" r:id="rId2"/>
            </a:graphicData>
          </a:graphic>
        </p:graphicFrame>
        <p:sp>
          <p:nvSpPr>
            <p:cNvPr id="188" name="Oval 187"/>
            <p:cNvSpPr/>
            <p:nvPr/>
          </p:nvSpPr>
          <p:spPr>
            <a:xfrm>
              <a:off x="4665827" y="1038008"/>
              <a:ext cx="729234" cy="729234"/>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sz="1400" dirty="0">
                  <a:solidFill>
                    <a:schemeClr val="tx1">
                      <a:lumMod val="75000"/>
                      <a:lumOff val="25000"/>
                    </a:schemeClr>
                  </a:solidFill>
                  <a:latin typeface="Times New Roman Regular" panose="02020503050405090304" charset="0"/>
                  <a:cs typeface="Times New Roman Regular" panose="02020503050405090304" charset="0"/>
                  <a:sym typeface="+mn-ea"/>
                </a:rPr>
                <a:t>30%</a:t>
              </a:r>
              <a:endParaRPr lang="en-US" sz="1400" dirty="0">
                <a:solidFill>
                  <a:schemeClr val="tx1">
                    <a:lumMod val="75000"/>
                    <a:lumOff val="25000"/>
                  </a:schemeClr>
                </a:solidFill>
                <a:latin typeface="Times New Roman Regular" panose="02020503050405090304" charset="0"/>
                <a:cs typeface="Times New Roman Regular" panose="02020503050405090304" charset="0"/>
                <a:sym typeface="+mn-ea"/>
              </a:endParaRPr>
            </a:p>
          </p:txBody>
        </p:sp>
      </p:grpSp>
      <p:cxnSp>
        <p:nvCxnSpPr>
          <p:cNvPr id="152" name="直接连接符 151"/>
          <p:cNvCxnSpPr/>
          <p:nvPr userDrawn="1"/>
        </p:nvCxnSpPr>
        <p:spPr>
          <a:xfrm>
            <a:off x="300990" y="6567805"/>
            <a:ext cx="11612880" cy="0"/>
          </a:xfrm>
          <a:prstGeom prst="line">
            <a:avLst/>
          </a:prstGeom>
          <a:ln>
            <a:solidFill>
              <a:srgbClr val="EEB6B0"/>
            </a:solidFill>
          </a:ln>
        </p:spPr>
        <p:style>
          <a:lnRef idx="1">
            <a:schemeClr val="accent1"/>
          </a:lnRef>
          <a:fillRef idx="0">
            <a:schemeClr val="accent1"/>
          </a:fillRef>
          <a:effectRef idx="0">
            <a:schemeClr val="accent1"/>
          </a:effectRef>
          <a:fontRef idx="minor">
            <a:schemeClr val="tx1"/>
          </a:fontRef>
        </p:style>
      </p:cxnSp>
      <p:sp>
        <p:nvSpPr>
          <p:cNvPr id="153" name="文本框 152"/>
          <p:cNvSpPr txBox="1"/>
          <p:nvPr userDrawn="1"/>
        </p:nvSpPr>
        <p:spPr>
          <a:xfrm>
            <a:off x="266700" y="6604000"/>
            <a:ext cx="10967720" cy="327660"/>
          </a:xfrm>
          <a:prstGeom prst="rect">
            <a:avLst/>
          </a:prstGeom>
          <a:noFill/>
        </p:spPr>
        <p:txBody>
          <a:bodyPr wrap="none" rtlCol="0">
            <a:noAutofit/>
          </a:bodyPr>
          <a:p>
            <a:pPr algn="l"/>
            <a:r>
              <a:rPr lang="en-US" altLang="zh-CN" sz="600" spc="300"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rPr>
              <a:t>Project Workflow Overview</a:t>
            </a:r>
            <a:endParaRPr lang="en-US" altLang="zh-CN" sz="600" spc="300"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endParaRPr>
          </a:p>
          <a:p>
            <a:pPr algn="l"/>
            <a:endParaRPr lang="en-US" altLang="zh-CN" sz="600" spc="300"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01058" y="259550"/>
            <a:ext cx="11613108" cy="495853"/>
            <a:chOff x="301058" y="259550"/>
            <a:chExt cx="11613108" cy="495853"/>
          </a:xfrm>
        </p:grpSpPr>
        <p:sp>
          <p:nvSpPr>
            <p:cNvPr id="10" name="矩形: 圆角 8"/>
            <p:cNvSpPr/>
            <p:nvPr userDrawn="1"/>
          </p:nvSpPr>
          <p:spPr>
            <a:xfrm flipV="1">
              <a:off x="2170802" y="709684"/>
              <a:ext cx="9743364" cy="45719"/>
            </a:xfrm>
            <a:prstGeom prst="roundRect">
              <a:avLst/>
            </a:prstGeom>
            <a:solidFill>
              <a:srgbClr val="8C0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Times New Roman Regular" panose="02020503050405090304" charset="0"/>
                <a:cs typeface="Times New Roman Regular" panose="02020503050405090304" charset="0"/>
              </a:endParaRPr>
            </a:p>
          </p:txBody>
        </p:sp>
        <p:sp>
          <p:nvSpPr>
            <p:cNvPr id="13" name="矩形: 圆角 12"/>
            <p:cNvSpPr/>
            <p:nvPr userDrawn="1"/>
          </p:nvSpPr>
          <p:spPr>
            <a:xfrm flipV="1">
              <a:off x="301058" y="709682"/>
              <a:ext cx="1801505" cy="45719"/>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61" name="矩形: 对角圆角 60"/>
            <p:cNvSpPr/>
            <p:nvPr userDrawn="1"/>
          </p:nvSpPr>
          <p:spPr>
            <a:xfrm>
              <a:off x="301058" y="259550"/>
              <a:ext cx="1801505" cy="359073"/>
            </a:xfrm>
            <a:prstGeom prst="round2DiagRect">
              <a:avLst>
                <a:gd name="adj1" fmla="val 33096"/>
                <a:gd name="adj2" fmla="val 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Times New Roman Regular" panose="02020503050405090304" charset="0"/>
                  <a:cs typeface="Times New Roman Regular" panose="02020503050405090304" charset="0"/>
                </a:rPr>
                <a:t>Group </a:t>
              </a:r>
              <a:r>
                <a:rPr lang="en-US" altLang="zh-CN">
                  <a:latin typeface="Times New Roman Regular" panose="02020503050405090304" charset="0"/>
                  <a:cs typeface="Times New Roman Regular" panose="02020503050405090304" charset="0"/>
                </a:rPr>
                <a:t>M-28</a:t>
              </a:r>
              <a:endParaRPr lang="en-US" altLang="zh-CN">
                <a:latin typeface="Times New Roman Regular" panose="02020503050405090304" charset="0"/>
                <a:cs typeface="Times New Roman Regular" panose="02020503050405090304" charset="0"/>
              </a:endParaRPr>
            </a:p>
          </p:txBody>
        </p:sp>
        <p:sp>
          <p:nvSpPr>
            <p:cNvPr id="62" name="Venn diagram"/>
            <p:cNvSpPr txBox="1"/>
            <p:nvPr userDrawn="1"/>
          </p:nvSpPr>
          <p:spPr>
            <a:xfrm>
              <a:off x="2292091" y="259551"/>
              <a:ext cx="4118542" cy="35814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rPr>
                <a:t>2.4 Data Pre-processing</a:t>
              </a:r>
              <a:endPar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endParaRPr>
            </a:p>
          </p:txBody>
        </p:sp>
      </p:grpSp>
      <p:pic>
        <p:nvPicPr>
          <p:cNvPr id="86" name="图片 85" descr="1fb514cb1a5e54e89daecde6a77344a3"/>
          <p:cNvPicPr>
            <a:picLocks noChangeAspect="1"/>
          </p:cNvPicPr>
          <p:nvPr/>
        </p:nvPicPr>
        <p:blipFill>
          <a:blip r:embed="rId1"/>
          <a:stretch>
            <a:fillRect/>
          </a:stretch>
        </p:blipFill>
        <p:spPr>
          <a:xfrm>
            <a:off x="10278745" y="144780"/>
            <a:ext cx="1635125" cy="473710"/>
          </a:xfrm>
          <a:prstGeom prst="rect">
            <a:avLst/>
          </a:prstGeom>
        </p:spPr>
      </p:pic>
      <p:grpSp>
        <p:nvGrpSpPr>
          <p:cNvPr id="28" name="组合 27"/>
          <p:cNvGrpSpPr/>
          <p:nvPr/>
        </p:nvGrpSpPr>
        <p:grpSpPr>
          <a:xfrm>
            <a:off x="597535" y="1161415"/>
            <a:ext cx="11042015" cy="4899660"/>
            <a:chOff x="563" y="1713"/>
            <a:chExt cx="17389" cy="7716"/>
          </a:xfrm>
        </p:grpSpPr>
        <p:sp>
          <p:nvSpPr>
            <p:cNvPr id="44" name="Oval 43"/>
            <p:cNvSpPr/>
            <p:nvPr/>
          </p:nvSpPr>
          <p:spPr>
            <a:xfrm rot="15019129">
              <a:off x="10030" y="4535"/>
              <a:ext cx="380" cy="319"/>
            </a:xfrm>
            <a:prstGeom prst="ellipse">
              <a:avLst/>
            </a:prstGeom>
            <a:solidFill>
              <a:schemeClr val="accent2"/>
            </a:solidFill>
            <a:ln>
              <a:solidFill>
                <a:schemeClr val="accent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d-ID" sz="1400">
                <a:solidFill>
                  <a:srgbClr val="FFFFFF"/>
                </a:solidFill>
                <a:latin typeface="Times New Roman Regular" panose="02020503050405090304" charset="0"/>
                <a:cs typeface="Times New Roman Regular" panose="02020503050405090304" charset="0"/>
              </a:endParaRPr>
            </a:p>
          </p:txBody>
        </p:sp>
        <p:sp>
          <p:nvSpPr>
            <p:cNvPr id="45" name="Oval 44"/>
            <p:cNvSpPr/>
            <p:nvPr/>
          </p:nvSpPr>
          <p:spPr>
            <a:xfrm rot="15019129">
              <a:off x="12364" y="3259"/>
              <a:ext cx="380" cy="334"/>
            </a:xfrm>
            <a:prstGeom prst="ellipse">
              <a:avLst/>
            </a:prstGeom>
            <a:solidFill>
              <a:schemeClr val="accent2"/>
            </a:solidFill>
            <a:ln>
              <a:solidFill>
                <a:schemeClr val="accent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d-ID" sz="1400">
                <a:solidFill>
                  <a:srgbClr val="FFFFFF"/>
                </a:solidFill>
                <a:latin typeface="Times New Roman Regular" panose="02020503050405090304" charset="0"/>
                <a:cs typeface="Times New Roman Regular" panose="02020503050405090304" charset="0"/>
              </a:endParaRPr>
            </a:p>
          </p:txBody>
        </p:sp>
        <p:sp>
          <p:nvSpPr>
            <p:cNvPr id="52" name="Oval 51"/>
            <p:cNvSpPr/>
            <p:nvPr/>
          </p:nvSpPr>
          <p:spPr>
            <a:xfrm rot="15019129">
              <a:off x="12245" y="5544"/>
              <a:ext cx="380" cy="334"/>
            </a:xfrm>
            <a:prstGeom prst="ellipse">
              <a:avLst/>
            </a:prstGeom>
            <a:solidFill>
              <a:schemeClr val="accent2"/>
            </a:solidFill>
            <a:ln>
              <a:solidFill>
                <a:schemeClr val="accent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d-ID" sz="1400">
                <a:solidFill>
                  <a:srgbClr val="FFFFFF"/>
                </a:solidFill>
                <a:latin typeface="Times New Roman Regular" panose="02020503050405090304" charset="0"/>
                <a:cs typeface="Times New Roman Regular" panose="02020503050405090304" charset="0"/>
              </a:endParaRPr>
            </a:p>
          </p:txBody>
        </p:sp>
        <p:sp>
          <p:nvSpPr>
            <p:cNvPr id="22" name="Rectangle: Rounded Corners 21"/>
            <p:cNvSpPr/>
            <p:nvPr/>
          </p:nvSpPr>
          <p:spPr>
            <a:xfrm>
              <a:off x="5792" y="7849"/>
              <a:ext cx="5751" cy="1548"/>
            </a:xfrm>
            <a:prstGeom prst="roundRect">
              <a:avLst>
                <a:gd name="adj" fmla="val 4393"/>
              </a:avLst>
            </a:prstGeom>
            <a:solidFill>
              <a:srgbClr val="AE192C"/>
            </a:solidFill>
          </p:spPr>
          <p:style>
            <a:lnRef idx="0">
              <a:srgbClr val="FFFFFF"/>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defTabSz="914400">
                <a:lnSpc>
                  <a:spcPct val="130000"/>
                </a:lnSpc>
              </a:pPr>
              <a:r>
                <a:rPr lang="en-US" altLang="zh-CN" sz="1400" b="1" dirty="0">
                  <a:solidFill>
                    <a:srgbClr val="FFFFFF"/>
                  </a:solidFill>
                  <a:latin typeface="Times New Roman Regular" panose="02020503050405090304" charset="0"/>
                  <a:ea typeface="Yuanti SC" panose="02010600040101010101" pitchFamily="2" charset="-122"/>
                  <a:cs typeface="Times New Roman Regular" panose="02020503050405090304" charset="0"/>
                  <a:sym typeface="+mn-ea"/>
                </a:rPr>
                <a:t> Differential Analysis</a:t>
              </a:r>
              <a:endParaRPr lang="en-US" altLang="zh-CN" sz="1400" b="1" dirty="0">
                <a:solidFill>
                  <a:srgbClr val="FFFFFF"/>
                </a:solidFill>
                <a:latin typeface="Times New Roman Regular" panose="02020503050405090304" charset="0"/>
                <a:ea typeface="Yuanti SC" panose="02010600040101010101" pitchFamily="2" charset="-122"/>
                <a:cs typeface="Times New Roman Regular" panose="02020503050405090304" charset="0"/>
                <a:sym typeface="+mn-ea"/>
              </a:endParaRPr>
            </a:p>
            <a:p>
              <a:pPr algn="ctr" defTabSz="914400">
                <a:lnSpc>
                  <a:spcPct val="130000"/>
                </a:lnSpc>
              </a:pPr>
              <a:r>
                <a:rPr lang="en-US" altLang="zh-CN" sz="1400" b="1" dirty="0">
                  <a:solidFill>
                    <a:srgbClr val="FFFFFF"/>
                  </a:solidFill>
                  <a:latin typeface="Times New Roman Regular" panose="02020503050405090304" charset="0"/>
                  <a:ea typeface="Yuanti SC" panose="02010600040101010101" pitchFamily="2" charset="-122"/>
                  <a:cs typeface="Times New Roman Regular" panose="02020503050405090304" charset="0"/>
                  <a:sym typeface="+mn-ea"/>
                </a:rPr>
                <a:t> </a:t>
              </a:r>
              <a:r>
                <a:rPr lang="en-US" altLang="zh-CN" sz="1400" b="1" dirty="0">
                  <a:solidFill>
                    <a:srgbClr val="FFFFFF"/>
                  </a:solidFill>
                  <a:latin typeface="Times New Roman Regular" panose="02020503050405090304" charset="0"/>
                  <a:ea typeface="Yuanti SC" panose="02010600040101010101" pitchFamily="2" charset="-122"/>
                  <a:cs typeface="Times New Roman Regular" panose="02020503050405090304" charset="0"/>
                  <a:sym typeface="+mn-ea"/>
                </a:rPr>
                <a:t>(High vs Low MIR100HG)</a:t>
              </a:r>
              <a:endParaRPr lang="en-US" altLang="zh-CN" sz="1400" b="1" dirty="0">
                <a:solidFill>
                  <a:srgbClr val="FFFFFF"/>
                </a:solidFill>
                <a:latin typeface="Times New Roman Regular" panose="02020503050405090304" charset="0"/>
                <a:ea typeface="Yuanti SC" panose="02010600040101010101" pitchFamily="2" charset="-122"/>
                <a:cs typeface="Times New Roman Regular" panose="02020503050405090304" charset="0"/>
                <a:sym typeface="+mn-ea"/>
              </a:endParaRPr>
            </a:p>
          </p:txBody>
        </p:sp>
        <p:sp>
          <p:nvSpPr>
            <p:cNvPr id="7" name="Rectangle: Rounded Corners 6"/>
            <p:cNvSpPr/>
            <p:nvPr/>
          </p:nvSpPr>
          <p:spPr>
            <a:xfrm>
              <a:off x="574" y="7881"/>
              <a:ext cx="4578" cy="1548"/>
            </a:xfrm>
            <a:prstGeom prst="roundRect">
              <a:avLst>
                <a:gd name="adj" fmla="val 4393"/>
              </a:avLst>
            </a:prstGeom>
            <a:solidFill>
              <a:srgbClr val="AE192C"/>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a:lnSpc>
                  <a:spcPct val="130000"/>
                </a:lnSpc>
              </a:pPr>
              <a:r>
                <a:rPr lang="en-US" altLang="zh-CN" sz="1600" b="1" dirty="0">
                  <a:solidFill>
                    <a:srgbClr val="FFFFFF"/>
                  </a:solidFill>
                  <a:latin typeface="Times New Roman Regular" panose="02020503050405090304" charset="0"/>
                  <a:ea typeface="Yuanti SC" panose="02010600040101010101" pitchFamily="2" charset="-122"/>
                  <a:cs typeface="Times New Roman Regular" panose="02020503050405090304" charset="0"/>
                  <a:sym typeface="+mn-ea"/>
                </a:rPr>
                <a:t>TF–Target Mapping</a:t>
              </a:r>
              <a:endParaRPr lang="en-US" altLang="zh-CN" sz="1600" b="1" dirty="0">
                <a:solidFill>
                  <a:srgbClr val="FFFFFF"/>
                </a:solidFill>
                <a:latin typeface="Times New Roman Regular" panose="02020503050405090304" charset="0"/>
                <a:ea typeface="Yuanti SC" panose="02010600040101010101" pitchFamily="2" charset="-122"/>
                <a:cs typeface="Times New Roman Regular" panose="02020503050405090304" charset="0"/>
                <a:sym typeface="+mn-ea"/>
              </a:endParaRPr>
            </a:p>
          </p:txBody>
        </p:sp>
        <p:sp>
          <p:nvSpPr>
            <p:cNvPr id="66" name="Rectangle: Rounded Corners 21"/>
            <p:cNvSpPr/>
            <p:nvPr/>
          </p:nvSpPr>
          <p:spPr>
            <a:xfrm>
              <a:off x="5746" y="1730"/>
              <a:ext cx="5618" cy="4894"/>
            </a:xfrm>
            <a:prstGeom prst="roundRect">
              <a:avLst>
                <a:gd name="adj" fmla="val 4393"/>
              </a:avLst>
            </a:prstGeom>
            <a:solidFill>
              <a:schemeClr val="bg1"/>
            </a:solidFill>
            <a:ln>
              <a:noFill/>
            </a:ln>
            <a:effectLst>
              <a:outerShdw blurRad="685800" dist="3302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d-ID" sz="1400">
                <a:solidFill>
                  <a:srgbClr val="FFFFFF"/>
                </a:solidFill>
                <a:latin typeface="Times New Roman Regular" panose="02020503050405090304" charset="0"/>
                <a:cs typeface="Times New Roman Regular" panose="02020503050405090304" charset="0"/>
              </a:endParaRPr>
            </a:p>
          </p:txBody>
        </p:sp>
        <p:grpSp>
          <p:nvGrpSpPr>
            <p:cNvPr id="67" name="Group 22"/>
            <p:cNvGrpSpPr/>
            <p:nvPr/>
          </p:nvGrpSpPr>
          <p:grpSpPr>
            <a:xfrm rot="0">
              <a:off x="6100" y="2142"/>
              <a:ext cx="5044" cy="4066"/>
              <a:chOff x="-541455" y="4332574"/>
              <a:chExt cx="2326869" cy="585588"/>
            </a:xfrm>
          </p:grpSpPr>
          <p:sp>
            <p:nvSpPr>
              <p:cNvPr id="70" name="Rectangle 23"/>
              <p:cNvSpPr/>
              <p:nvPr/>
            </p:nvSpPr>
            <p:spPr>
              <a:xfrm>
                <a:off x="-541455" y="4518217"/>
                <a:ext cx="2326869" cy="399945"/>
              </a:xfrm>
              <a:prstGeom prst="rect">
                <a:avLst/>
              </a:prstGeom>
            </p:spPr>
            <p:txBody>
              <a:bodyPr wrap="square">
                <a:noAutofit/>
              </a:bodyPr>
              <a:lstStyle/>
              <a:p>
                <a:pPr marL="171450" indent="-171450" algn="l" defTabSz="914400">
                  <a:lnSpc>
                    <a:spcPct val="150000"/>
                  </a:lnSpc>
                  <a:buClrTx/>
                  <a:buSzTx/>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sym typeface="+mn-ea"/>
                  </a:rPr>
                  <a:t>Expression (DEG): Mann–Whitney U test Significant genes:  p &lt; 0.05, |log₂FC| &gt; 1</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a:p>
                <a:pPr marL="171450" indent="-171450" algn="l" defTabSz="914400">
                  <a:lnSpc>
                    <a:spcPct val="150000"/>
                  </a:lnSpc>
                  <a:buClrTx/>
                  <a:buSzTx/>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sym typeface="+mn-ea"/>
                  </a:rPr>
                  <a:t>Methylation (DMA): Mann–Whitney U test on β-values</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a:p>
                <a:pPr marL="171450" indent="-171450" algn="l" defTabSz="914400">
                  <a:lnSpc>
                    <a:spcPct val="150000"/>
                  </a:lnSpc>
                  <a:buClrTx/>
                  <a:buSzTx/>
                  <a:buFont typeface="Arial" panose="020B0604020202090204" pitchFamily="34" charset="0"/>
                  <a:buChar char="•"/>
                </a:pP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p:txBody>
          </p:sp>
          <p:sp>
            <p:nvSpPr>
              <p:cNvPr id="71" name="Rectangle 24"/>
              <p:cNvSpPr/>
              <p:nvPr/>
            </p:nvSpPr>
            <p:spPr>
              <a:xfrm>
                <a:off x="-541455" y="4332574"/>
                <a:ext cx="2281090" cy="185572"/>
              </a:xfrm>
              <a:prstGeom prst="rect">
                <a:avLst/>
              </a:prstGeom>
            </p:spPr>
            <p:txBody>
              <a:bodyPr wrap="square">
                <a:noAutofit/>
              </a:bodyPr>
              <a:lstStyle/>
              <a:p>
                <a:pPr algn="l" defTabSz="914400">
                  <a:lnSpc>
                    <a:spcPct val="130000"/>
                  </a:lnSpc>
                  <a:buClrTx/>
                  <a:buSzTx/>
                  <a:buFontTx/>
                </a:pPr>
                <a:r>
                  <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rPr>
                  <a:t>Analyzed promoter </a:t>
                </a:r>
                <a:r>
                  <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rPr>
                  <a:t>and </a:t>
                </a:r>
                <a:endPar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endParaRPr>
              </a:p>
              <a:p>
                <a:pPr algn="l" defTabSz="914400">
                  <a:lnSpc>
                    <a:spcPct val="130000"/>
                  </a:lnSpc>
                  <a:buClrTx/>
                  <a:buSzTx/>
                  <a:buFontTx/>
                </a:pPr>
                <a:r>
                  <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rPr>
                  <a:t>gene body regions</a:t>
                </a:r>
                <a:endPar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endParaRPr>
              </a:p>
            </p:txBody>
          </p:sp>
        </p:grpSp>
        <p:sp>
          <p:nvSpPr>
            <p:cNvPr id="74" name="Rectangle: Rounded Corners 6"/>
            <p:cNvSpPr/>
            <p:nvPr/>
          </p:nvSpPr>
          <p:spPr>
            <a:xfrm>
              <a:off x="563" y="1762"/>
              <a:ext cx="4583" cy="4894"/>
            </a:xfrm>
            <a:prstGeom prst="roundRect">
              <a:avLst>
                <a:gd name="adj" fmla="val 4393"/>
              </a:avLst>
            </a:prstGeom>
            <a:solidFill>
              <a:schemeClr val="bg1"/>
            </a:solidFill>
            <a:ln>
              <a:noFill/>
            </a:ln>
            <a:effectLst>
              <a:outerShdw blurRad="685800" dist="3302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d-ID" sz="1400">
                <a:solidFill>
                  <a:srgbClr val="FFFFFF"/>
                </a:solidFill>
                <a:latin typeface="Times New Roman Regular" panose="02020503050405090304" charset="0"/>
                <a:cs typeface="Times New Roman Regular" panose="02020503050405090304" charset="0"/>
              </a:endParaRPr>
            </a:p>
          </p:txBody>
        </p:sp>
        <p:grpSp>
          <p:nvGrpSpPr>
            <p:cNvPr id="78" name="Group 20"/>
            <p:cNvGrpSpPr/>
            <p:nvPr/>
          </p:nvGrpSpPr>
          <p:grpSpPr>
            <a:xfrm rot="0">
              <a:off x="895" y="2318"/>
              <a:ext cx="4050" cy="3595"/>
              <a:chOff x="1248756" y="4339578"/>
              <a:chExt cx="2324271" cy="517738"/>
            </a:xfrm>
          </p:grpSpPr>
          <p:sp>
            <p:nvSpPr>
              <p:cNvPr id="79" name="Rectangle 18"/>
              <p:cNvSpPr/>
              <p:nvPr/>
            </p:nvSpPr>
            <p:spPr>
              <a:xfrm>
                <a:off x="1248756" y="4472345"/>
                <a:ext cx="2324271" cy="384971"/>
              </a:xfrm>
              <a:prstGeom prst="rect">
                <a:avLst/>
              </a:prstGeom>
            </p:spPr>
            <p:txBody>
              <a:bodyPr wrap="square">
                <a:noAutofit/>
              </a:bodyPr>
              <a:lstStyle/>
              <a:p>
                <a:pPr marL="171450" indent="-171450" algn="l" defTabSz="914400">
                  <a:lnSpc>
                    <a:spcPct val="150000"/>
                  </a:lnSpc>
                  <a:buClrTx/>
                  <a:buSzTx/>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TF–target pairs from ENCODE (via Harmonizome)</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a:p>
                <a:pPr marL="171450" indent="-171450" algn="l" defTabSz="914400">
                  <a:lnSpc>
                    <a:spcPct val="150000"/>
                  </a:lnSpc>
                  <a:buClrTx/>
                  <a:buSzTx/>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DEGs/DMGs to TF target lists</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a:p>
                <a:pPr marL="171450" indent="-171450" algn="l" defTabSz="914400">
                  <a:lnSpc>
                    <a:spcPct val="150000"/>
                  </a:lnSpc>
                  <a:buClrTx/>
                  <a:buSzTx/>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Identified enriched TFs likely involved in MIR100HG regulation</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p:txBody>
          </p:sp>
          <p:sp>
            <p:nvSpPr>
              <p:cNvPr id="80" name="Rectangle 19"/>
              <p:cNvSpPr/>
              <p:nvPr/>
            </p:nvSpPr>
            <p:spPr>
              <a:xfrm>
                <a:off x="1329034" y="4339578"/>
                <a:ext cx="2173478" cy="101108"/>
              </a:xfrm>
              <a:prstGeom prst="rect">
                <a:avLst/>
              </a:prstGeom>
            </p:spPr>
            <p:txBody>
              <a:bodyPr wrap="square">
                <a:noAutofit/>
              </a:bodyPr>
              <a:lstStyle/>
              <a:p>
                <a:pPr defTabSz="914400">
                  <a:lnSpc>
                    <a:spcPct val="130000"/>
                  </a:lnSpc>
                </a:pPr>
                <a:r>
                  <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rPr>
                  <a:t>Mapped significant</a:t>
                </a:r>
                <a:endPar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endParaRPr>
              </a:p>
            </p:txBody>
          </p:sp>
        </p:grpSp>
        <p:sp>
          <p:nvSpPr>
            <p:cNvPr id="81" name="下箭头 80"/>
            <p:cNvSpPr/>
            <p:nvPr/>
          </p:nvSpPr>
          <p:spPr>
            <a:xfrm>
              <a:off x="2726" y="7032"/>
              <a:ext cx="423" cy="667"/>
            </a:xfrm>
            <a:prstGeom prst="downArrow">
              <a:avLst/>
            </a:prstGeom>
            <a:solidFill>
              <a:srgbClr val="AE192C"/>
            </a:solidFill>
            <a:ln>
              <a:solidFill>
                <a:srgbClr val="AE192C"/>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endParaRPr lang="zh-CN" altLang="en-US" sz="1350">
                <a:solidFill>
                  <a:srgbClr val="FFFFFF"/>
                </a:solidFill>
                <a:latin typeface="Times New Roman Regular" panose="02020503050405090304" charset="0"/>
                <a:ea typeface="等线" panose="02010600030101010101" charset="-122"/>
                <a:cs typeface="Times New Roman Regular" panose="02020503050405090304" charset="0"/>
              </a:endParaRPr>
            </a:p>
          </p:txBody>
        </p:sp>
        <p:sp>
          <p:nvSpPr>
            <p:cNvPr id="4" name="Rectangle: Rounded Corners 6"/>
            <p:cNvSpPr/>
            <p:nvPr/>
          </p:nvSpPr>
          <p:spPr>
            <a:xfrm>
              <a:off x="12325" y="7832"/>
              <a:ext cx="5507" cy="1548"/>
            </a:xfrm>
            <a:prstGeom prst="roundRect">
              <a:avLst>
                <a:gd name="adj" fmla="val 4393"/>
              </a:avLst>
            </a:prstGeom>
            <a:solidFill>
              <a:srgbClr val="AE192C"/>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a:r>
                <a:rPr lang="en-US" altLang="zh-CN" sz="1600" b="1" dirty="0">
                  <a:solidFill>
                    <a:srgbClr val="FFFFFF"/>
                  </a:solidFill>
                  <a:latin typeface="Times New Roman Regular" panose="02020503050405090304" charset="0"/>
                  <a:ea typeface="Yuanti SC" panose="02010600040101010101" pitchFamily="2" charset="-122"/>
                  <a:cs typeface="Times New Roman Regular" panose="02020503050405090304" charset="0"/>
                </a:rPr>
                <a:t>Modeling Approach</a:t>
              </a:r>
              <a:endParaRPr lang="en-US" altLang="zh-CN" sz="1600" b="1" dirty="0">
                <a:solidFill>
                  <a:srgbClr val="FFFFFF"/>
                </a:solidFill>
                <a:latin typeface="Times New Roman Regular" panose="02020503050405090304" charset="0"/>
                <a:ea typeface="Yuanti SC" panose="02010600040101010101" pitchFamily="2" charset="-122"/>
                <a:cs typeface="Times New Roman Regular" panose="02020503050405090304" charset="0"/>
              </a:endParaRPr>
            </a:p>
          </p:txBody>
        </p:sp>
        <p:sp>
          <p:nvSpPr>
            <p:cNvPr id="5" name="Rectangle: Rounded Corners 6"/>
            <p:cNvSpPr/>
            <p:nvPr/>
          </p:nvSpPr>
          <p:spPr>
            <a:xfrm>
              <a:off x="12024" y="1713"/>
              <a:ext cx="5929" cy="4894"/>
            </a:xfrm>
            <a:prstGeom prst="roundRect">
              <a:avLst>
                <a:gd name="adj" fmla="val 4393"/>
              </a:avLst>
            </a:prstGeom>
            <a:solidFill>
              <a:schemeClr val="bg1"/>
            </a:solidFill>
            <a:ln>
              <a:noFill/>
            </a:ln>
            <a:effectLst>
              <a:outerShdw blurRad="685800" dist="3302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d-ID" sz="1400">
                <a:solidFill>
                  <a:srgbClr val="FFFFFF"/>
                </a:solidFill>
                <a:latin typeface="Times New Roman Regular" panose="02020503050405090304" charset="0"/>
                <a:cs typeface="Times New Roman Regular" panose="02020503050405090304" charset="0"/>
              </a:endParaRPr>
            </a:p>
          </p:txBody>
        </p:sp>
        <p:grpSp>
          <p:nvGrpSpPr>
            <p:cNvPr id="6" name="Group 20"/>
            <p:cNvGrpSpPr/>
            <p:nvPr/>
          </p:nvGrpSpPr>
          <p:grpSpPr>
            <a:xfrm rot="0">
              <a:off x="12474" y="2147"/>
              <a:ext cx="5322" cy="4128"/>
              <a:chOff x="1328770" y="4324544"/>
              <a:chExt cx="2982694" cy="594451"/>
            </a:xfrm>
          </p:grpSpPr>
          <p:sp>
            <p:nvSpPr>
              <p:cNvPr id="8" name="Rectangle 18"/>
              <p:cNvSpPr/>
              <p:nvPr/>
            </p:nvSpPr>
            <p:spPr>
              <a:xfrm>
                <a:off x="1328770" y="4482085"/>
                <a:ext cx="2819604" cy="436910"/>
              </a:xfrm>
              <a:prstGeom prst="rect">
                <a:avLst/>
              </a:prstGeom>
            </p:spPr>
            <p:txBody>
              <a:bodyPr wrap="square">
                <a:noAutofit/>
              </a:bodyPr>
              <a:lstStyle/>
              <a:p>
                <a:pPr marL="171450" indent="-171450" defTabSz="914400">
                  <a:lnSpc>
                    <a:spcPct val="150000"/>
                  </a:lnSpc>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Features: Combined DEGs + DMGs features</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a:p>
                <a:pPr marL="171450" indent="-171450" defTabSz="914400">
                  <a:lnSpc>
                    <a:spcPct val="150000"/>
                  </a:lnSpc>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Evaluation: 80/20 train-test split</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a:p>
                <a:pPr marL="171450" indent="-171450" defTabSz="914400">
                  <a:lnSpc>
                    <a:spcPct val="150000"/>
                  </a:lnSpc>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Metrics: ROC–AUC, F1-Score, Feature Importance Feature stability via cross-validation</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p:txBody>
          </p:sp>
          <p:sp>
            <p:nvSpPr>
              <p:cNvPr id="9" name="Rectangle 19"/>
              <p:cNvSpPr/>
              <p:nvPr/>
            </p:nvSpPr>
            <p:spPr>
              <a:xfrm>
                <a:off x="1328770" y="4324544"/>
                <a:ext cx="2982694" cy="165749"/>
              </a:xfrm>
              <a:prstGeom prst="rect">
                <a:avLst/>
              </a:prstGeom>
            </p:spPr>
            <p:txBody>
              <a:bodyPr wrap="square">
                <a:spAutoFit/>
              </a:bodyPr>
              <a:lstStyle/>
              <a:p>
                <a:pPr algn="l" defTabSz="914400">
                  <a:lnSpc>
                    <a:spcPct val="130000"/>
                  </a:lnSpc>
                  <a:buClrTx/>
                  <a:buSzTx/>
                  <a:buFontTx/>
                </a:pPr>
                <a:r>
                  <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rPr>
                  <a:t>Random Forest XGBoost </a:t>
                </a:r>
                <a:endPar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endParaRPr>
              </a:p>
              <a:p>
                <a:pPr algn="l" defTabSz="914400">
                  <a:lnSpc>
                    <a:spcPct val="130000"/>
                  </a:lnSpc>
                  <a:buClrTx/>
                  <a:buSzTx/>
                  <a:buFontTx/>
                </a:pPr>
                <a:r>
                  <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rPr>
                  <a:t>Logistic Regression </a:t>
                </a:r>
                <a:endPar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endParaRPr>
              </a:p>
            </p:txBody>
          </p:sp>
        </p:grpSp>
        <p:sp>
          <p:nvSpPr>
            <p:cNvPr id="15" name="下箭头 14"/>
            <p:cNvSpPr/>
            <p:nvPr/>
          </p:nvSpPr>
          <p:spPr>
            <a:xfrm>
              <a:off x="8540" y="6939"/>
              <a:ext cx="414" cy="667"/>
            </a:xfrm>
            <a:prstGeom prst="downArrow">
              <a:avLst/>
            </a:prstGeom>
            <a:solidFill>
              <a:srgbClr val="AE192C"/>
            </a:solidFill>
            <a:ln>
              <a:solidFill>
                <a:srgbClr val="AE192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defTabSz="914400"/>
              <a:endParaRPr lang="zh-CN" altLang="en-US" sz="1350">
                <a:solidFill>
                  <a:srgbClr val="FFFFFF"/>
                </a:solidFill>
                <a:latin typeface="Times New Roman Regular" panose="02020503050405090304" charset="0"/>
                <a:ea typeface="等线" panose="02010600030101010101" charset="-122"/>
                <a:cs typeface="Times New Roman Regular" panose="02020503050405090304" charset="0"/>
              </a:endParaRPr>
            </a:p>
          </p:txBody>
        </p:sp>
        <p:sp>
          <p:nvSpPr>
            <p:cNvPr id="16" name="下箭头 15"/>
            <p:cNvSpPr/>
            <p:nvPr/>
          </p:nvSpPr>
          <p:spPr>
            <a:xfrm>
              <a:off x="15020" y="7032"/>
              <a:ext cx="414" cy="667"/>
            </a:xfrm>
            <a:prstGeom prst="downArrow">
              <a:avLst/>
            </a:prstGeom>
            <a:solidFill>
              <a:srgbClr val="AE192C"/>
            </a:solidFill>
            <a:ln>
              <a:solidFill>
                <a:srgbClr val="AE192C"/>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endParaRPr lang="zh-CN" altLang="en-US" sz="1350">
                <a:solidFill>
                  <a:srgbClr val="FFFFFF"/>
                </a:solidFill>
                <a:latin typeface="Times New Roman Regular" panose="02020503050405090304" charset="0"/>
                <a:ea typeface="等线" panose="02010600030101010101" charset="-122"/>
                <a:cs typeface="Times New Roman Regular" panose="02020503050405090304" charset="0"/>
              </a:endParaRPr>
            </a:p>
          </p:txBody>
        </p:sp>
      </p:grpSp>
      <p:cxnSp>
        <p:nvCxnSpPr>
          <p:cNvPr id="20" name="直接连接符 19"/>
          <p:cNvCxnSpPr/>
          <p:nvPr userDrawn="1"/>
        </p:nvCxnSpPr>
        <p:spPr>
          <a:xfrm>
            <a:off x="300990" y="6567805"/>
            <a:ext cx="11612880" cy="0"/>
          </a:xfrm>
          <a:prstGeom prst="line">
            <a:avLst/>
          </a:prstGeom>
          <a:ln>
            <a:solidFill>
              <a:srgbClr val="EEB6B0"/>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userDrawn="1"/>
        </p:nvSpPr>
        <p:spPr>
          <a:xfrm>
            <a:off x="266700" y="6604000"/>
            <a:ext cx="10967720" cy="327660"/>
          </a:xfrm>
          <a:prstGeom prst="rect">
            <a:avLst/>
          </a:prstGeom>
          <a:noFill/>
        </p:spPr>
        <p:txBody>
          <a:bodyPr wrap="none" rtlCol="0">
            <a:noAutofit/>
          </a:bodyPr>
          <a:p>
            <a:pPr algn="l"/>
            <a:r>
              <a:rPr lang="en-US" altLang="zh-CN" sz="600" spc="300" dirty="0">
                <a:solidFill>
                  <a:srgbClr val="AE192C"/>
                </a:solidFill>
                <a:latin typeface="Montserrat" panose="00000500000000000000" pitchFamily="2" charset="0"/>
                <a:ea typeface="HarmonyOS Sans SC Light" panose="00000400000000000000" pitchFamily="2" charset="-122"/>
              </a:rPr>
              <a:t>Project Workflow Overview</a:t>
            </a:r>
            <a:endParaRPr lang="en-US" altLang="zh-CN" sz="600" spc="300" dirty="0">
              <a:solidFill>
                <a:srgbClr val="AE192C"/>
              </a:solidFill>
              <a:latin typeface="Montserrat" panose="00000500000000000000" pitchFamily="2" charset="0"/>
              <a:ea typeface="HarmonyOS Sans SC Light" panose="00000400000000000000" pitchFamily="2" charset="-122"/>
            </a:endParaRPr>
          </a:p>
          <a:p>
            <a:pPr algn="l"/>
            <a:endParaRPr lang="en-US" altLang="zh-CN" sz="600" spc="300" dirty="0">
              <a:solidFill>
                <a:srgbClr val="AE192C"/>
              </a:solidFill>
              <a:latin typeface="Montserrat" panose="00000500000000000000" pitchFamily="2" charset="0"/>
              <a:ea typeface="HarmonyOS Sans SC Light" panose="00000400000000000000" pitchFamily="2" charset="-122"/>
            </a:endParaRPr>
          </a:p>
        </p:txBody>
      </p:sp>
      <p:sp>
        <p:nvSpPr>
          <p:cNvPr id="38" name="矩形 37" descr="e7d195523061f1c0f0ec610a92cff745ee13794c7b8d98f8E73673273C9E8BE17CC3D63B9B1D6426C348A354AD505654C28F453CD7C8F90EADD06C08281DAED7140E5AAAED5880ECE414DFB6A93B82BE163F12A16A2F7E5CA866BD8D1BE2DF3D0FFB12D23FAF5821CB9F1F392B7320627FA8E703253ECABD4FC5D80B64DCF9CDC1037D297C7DC636"/>
          <p:cNvSpPr/>
          <p:nvPr/>
        </p:nvSpPr>
        <p:spPr>
          <a:xfrm>
            <a:off x="3" y="0"/>
            <a:ext cx="164956" cy="6858000"/>
          </a:xfrm>
          <a:prstGeom prst="rect">
            <a:avLst/>
          </a:prstGeom>
          <a:solidFill>
            <a:srgbClr val="F0E1DB">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914400">
              <a:defRPr/>
            </a:pPr>
            <a:endParaRPr lang="zh-CN" altLang="en-US" sz="1350">
              <a:solidFill>
                <a:prstClr val="white"/>
              </a:solidFill>
              <a:latin typeface="Calibri" panose="020F0502020204030204"/>
              <a:ea typeface="宋体" pitchFamily="2"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p:cNvSpPr/>
          <p:nvPr/>
        </p:nvSpPr>
        <p:spPr>
          <a:xfrm>
            <a:off x="3" y="0"/>
            <a:ext cx="164956" cy="6858000"/>
          </a:xfrm>
          <a:prstGeom prst="rect">
            <a:avLst/>
          </a:prstGeom>
          <a:solidFill>
            <a:srgbClr val="F0E1DB">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1350">
              <a:solidFill>
                <a:prstClr val="white"/>
              </a:solidFill>
              <a:latin typeface="Calibri" panose="020F0502020204030204"/>
              <a:ea typeface="宋体" pitchFamily="2" charset="-122"/>
            </a:endParaRPr>
          </a:p>
        </p:txBody>
      </p:sp>
      <p:sp>
        <p:nvSpPr>
          <p:cNvPr id="42" name="文本框 41"/>
          <p:cNvSpPr txBox="1"/>
          <p:nvPr/>
        </p:nvSpPr>
        <p:spPr>
          <a:xfrm>
            <a:off x="657860" y="5677535"/>
            <a:ext cx="11092180" cy="658495"/>
          </a:xfrm>
          <a:prstGeom prst="rect">
            <a:avLst/>
          </a:prstGeom>
          <a:noFill/>
        </p:spPr>
        <p:txBody>
          <a:bodyPr wrap="square" rtlCol="0">
            <a:noAutofit/>
          </a:bodyPr>
          <a:lstStyle/>
          <a:p>
            <a:pPr indent="0" defTabSz="914400">
              <a:buFont typeface="Arial" panose="020B0604020202090204" pitchFamily="34" charset="0"/>
              <a:buNone/>
            </a:pPr>
            <a:r>
              <a:rPr lang="en-US" altLang="zh-CN" sz="1400">
                <a:solidFill>
                  <a:srgbClr val="AE1A2C"/>
                </a:solidFill>
                <a:latin typeface="Times New Roman Regular" panose="02020503050405090304" charset="0"/>
                <a:ea typeface="MiSans Heavy" panose="00000A00000000000000" pitchFamily="2" charset="-122"/>
                <a:cs typeface="Times New Roman Regular" panose="02020503050405090304" charset="0"/>
              </a:rPr>
              <a:t>Random Forest strikes a good balance between performance and interpretability, supports feature importance-based interpretation of results, and is suitable for subsequent key variable tracking and biomechanistic analyses.</a:t>
            </a:r>
            <a:endParaRPr lang="en-US" altLang="zh-CN" sz="1400">
              <a:solidFill>
                <a:srgbClr val="AE1A2C"/>
              </a:solidFill>
              <a:latin typeface="Times New Roman Regular" panose="02020503050405090304" charset="0"/>
              <a:ea typeface="MiSans Heavy" panose="00000A00000000000000" pitchFamily="2" charset="-122"/>
              <a:cs typeface="Times New Roman Regular" panose="02020503050405090304" charset="0"/>
            </a:endParaRPr>
          </a:p>
        </p:txBody>
      </p:sp>
      <p:sp>
        <p:nvSpPr>
          <p:cNvPr id="4" name="标题 3"/>
          <p:cNvSpPr txBox="1"/>
          <p:nvPr/>
        </p:nvSpPr>
        <p:spPr>
          <a:xfrm>
            <a:off x="579755" y="847725"/>
            <a:ext cx="6174105" cy="1621790"/>
          </a:xfrm>
          <a:prstGeom prst="rect">
            <a:avLst/>
          </a:prstGeom>
        </p:spPr>
        <p:txBody>
          <a:bodyPr>
            <a:normAutofit fontScale="9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914400">
              <a:lnSpc>
                <a:spcPct val="150000"/>
              </a:lnSpc>
            </a:pPr>
            <a:r>
              <a:rPr lang="en-US" altLang="zh-CN" sz="3600" b="1">
                <a:solidFill>
                  <a:srgbClr val="B71A2B"/>
                </a:solidFill>
                <a:latin typeface="Times New Roman Bold" panose="02020503050405090304" charset="0"/>
                <a:ea typeface="等线 Light" panose="02010600030101010101" pitchFamily="2" charset="-122"/>
                <a:cs typeface="Times New Roman Bold" panose="02020503050405090304" charset="0"/>
              </a:rPr>
              <a:t>Final choice: Random Forest</a:t>
            </a:r>
            <a:endParaRPr lang="en-US" altLang="zh-CN" sz="3600" b="1">
              <a:solidFill>
                <a:srgbClr val="B71A2B"/>
              </a:solidFill>
              <a:latin typeface="Times New Roman Bold" panose="02020503050405090304" charset="0"/>
              <a:ea typeface="等线 Light" panose="02010600030101010101" pitchFamily="2" charset="-122"/>
              <a:cs typeface="Times New Roman Bold" panose="02020503050405090304" charset="0"/>
            </a:endParaRPr>
          </a:p>
          <a:p>
            <a:pPr defTabSz="914400">
              <a:lnSpc>
                <a:spcPct val="150000"/>
              </a:lnSpc>
            </a:pPr>
            <a:endParaRPr lang="en-US" altLang="zh-CN" sz="1600">
              <a:solidFill>
                <a:schemeClr val="tx1">
                  <a:lumMod val="75000"/>
                  <a:lumOff val="25000"/>
                </a:schemeClr>
              </a:solidFill>
              <a:latin typeface="Times New Roman Regular" panose="02020503050405090304" charset="0"/>
              <a:ea typeface="等线 Light" panose="02010600030101010101" pitchFamily="2" charset="-122"/>
              <a:cs typeface="Times New Roman Regular" panose="02020503050405090304" charset="0"/>
            </a:endParaRPr>
          </a:p>
          <a:p>
            <a:pPr defTabSz="914400">
              <a:lnSpc>
                <a:spcPct val="150000"/>
              </a:lnSpc>
            </a:pPr>
            <a:r>
              <a:rPr lang="en-US" altLang="zh-CN" sz="1600">
                <a:solidFill>
                  <a:schemeClr val="tx1">
                    <a:lumMod val="75000"/>
                    <a:lumOff val="25000"/>
                  </a:schemeClr>
                </a:solidFill>
                <a:latin typeface="Times New Roman Regular" panose="02020503050405090304" charset="0"/>
                <a:ea typeface="等线 Light" panose="02010600030101010101" pitchFamily="2" charset="-122"/>
                <a:cs typeface="Times New Roman Regular" panose="02020503050405090304" charset="0"/>
              </a:rPr>
              <a:t>Used for pan-cancer modeling and feature attribution analysis.</a:t>
            </a:r>
            <a:endParaRPr lang="en-US" altLang="zh-CN" sz="1600" b="1">
              <a:solidFill>
                <a:schemeClr val="tx1">
                  <a:lumMod val="75000"/>
                  <a:lumOff val="25000"/>
                </a:schemeClr>
              </a:solidFill>
              <a:latin typeface="Times New Roman Regular" panose="02020503050405090304" charset="0"/>
              <a:ea typeface="等线 Light" panose="02010600030101010101" pitchFamily="2" charset="-122"/>
              <a:cs typeface="Times New Roman Regular" panose="02020503050405090304" charset="0"/>
            </a:endParaRPr>
          </a:p>
        </p:txBody>
      </p:sp>
      <p:sp>
        <p:nvSpPr>
          <p:cNvPr id="6" name="文本框 5"/>
          <p:cNvSpPr txBox="1"/>
          <p:nvPr/>
        </p:nvSpPr>
        <p:spPr>
          <a:xfrm>
            <a:off x="658495" y="2469515"/>
            <a:ext cx="4500245" cy="2948305"/>
          </a:xfrm>
          <a:prstGeom prst="rect">
            <a:avLst/>
          </a:prstGeom>
          <a:noFill/>
        </p:spPr>
        <p:txBody>
          <a:bodyPr wrap="square" rtlCol="0">
            <a:noAutofit/>
          </a:bodyPr>
          <a:lstStyle/>
          <a:p>
            <a:pPr marL="285750" indent="-285750" defTabSz="914400">
              <a:lnSpc>
                <a:spcPct val="150000"/>
              </a:lnSpc>
              <a:buFont typeface="Arial" panose="020B0604020202090204" pitchFamily="34" charset="0"/>
              <a:buChar char="•"/>
            </a:pPr>
            <a:r>
              <a:rPr lang="en-US" altLang="zh-CN" sz="1350">
                <a:solidFill>
                  <a:srgbClr val="FFFFFF">
                    <a:lumMod val="50000"/>
                  </a:srgbClr>
                </a:solidFill>
                <a:latin typeface="微软雅黑 Light" panose="020B0502040204020203" charset="-122"/>
                <a:ea typeface="微软雅黑 Light" panose="020B0502040204020203" charset="-122"/>
              </a:rPr>
              <a:t>Logistic Regression: Highest AUC and F1, but limited modeling capacity for non-linear interactions.</a:t>
            </a:r>
            <a:endParaRPr lang="en-US" altLang="zh-CN" sz="1350">
              <a:solidFill>
                <a:srgbClr val="FFFFFF">
                  <a:lumMod val="50000"/>
                </a:srgbClr>
              </a:solidFill>
              <a:latin typeface="微软雅黑 Light" panose="020B0502040204020203" charset="-122"/>
              <a:ea typeface="微软雅黑 Light" panose="020B0502040204020203" charset="-122"/>
            </a:endParaRPr>
          </a:p>
          <a:p>
            <a:pPr marL="285750" indent="-285750" defTabSz="914400">
              <a:lnSpc>
                <a:spcPct val="150000"/>
              </a:lnSpc>
              <a:buFont typeface="Arial" panose="020B0604020202090204" pitchFamily="34" charset="0"/>
              <a:buChar char="•"/>
            </a:pPr>
            <a:r>
              <a:rPr lang="en-US" altLang="zh-CN" sz="1350">
                <a:solidFill>
                  <a:srgbClr val="FFFFFF">
                    <a:lumMod val="50000"/>
                  </a:srgbClr>
                </a:solidFill>
                <a:latin typeface="微软雅黑 Light" panose="020B0502040204020203" charset="-122"/>
                <a:ea typeface="微软雅黑 Light" panose="020B0502040204020203" charset="-122"/>
              </a:rPr>
              <a:t>XGBoost: Strong flexibility and generalizability in complex feature space, slightly lower performance.</a:t>
            </a:r>
            <a:endParaRPr lang="en-US" altLang="zh-CN" sz="1350">
              <a:solidFill>
                <a:srgbClr val="FFFFFF">
                  <a:lumMod val="50000"/>
                </a:srgbClr>
              </a:solidFill>
              <a:latin typeface="微软雅黑 Light" panose="020B0502040204020203" charset="-122"/>
              <a:ea typeface="微软雅黑 Light" panose="020B0502040204020203" charset="-122"/>
            </a:endParaRPr>
          </a:p>
          <a:p>
            <a:pPr marL="285750" indent="-285750" defTabSz="914400">
              <a:lnSpc>
                <a:spcPct val="150000"/>
              </a:lnSpc>
              <a:buFont typeface="Arial" panose="020B0604020202090204" pitchFamily="34" charset="0"/>
              <a:buChar char="•"/>
            </a:pPr>
            <a:r>
              <a:rPr lang="en-US" altLang="zh-CN" sz="1350">
                <a:solidFill>
                  <a:srgbClr val="FFFFFF">
                    <a:lumMod val="50000"/>
                  </a:srgbClr>
                </a:solidFill>
                <a:latin typeface="微软雅黑 Light" panose="020B0502040204020203" charset="-122"/>
                <a:ea typeface="微软雅黑 Light" panose="020B0502040204020203" charset="-122"/>
              </a:rPr>
              <a:t>Random Forest: Balanced performance and interpretability; robust feature importance supports downstream biological inference.</a:t>
            </a:r>
            <a:endParaRPr lang="en-US" altLang="zh-CN" sz="1350">
              <a:solidFill>
                <a:srgbClr val="FFFFFF">
                  <a:lumMod val="50000"/>
                </a:srgbClr>
              </a:solidFill>
              <a:latin typeface="微软雅黑 Light" panose="020B0502040204020203" charset="-122"/>
              <a:ea typeface="微软雅黑 Light" panose="020B0502040204020203" charset="-122"/>
            </a:endParaRPr>
          </a:p>
        </p:txBody>
      </p:sp>
      <p:grpSp>
        <p:nvGrpSpPr>
          <p:cNvPr id="3" name="组合 2"/>
          <p:cNvGrpSpPr/>
          <p:nvPr/>
        </p:nvGrpSpPr>
        <p:grpSpPr>
          <a:xfrm>
            <a:off x="301058" y="259550"/>
            <a:ext cx="11613108" cy="495853"/>
            <a:chOff x="301058" y="259550"/>
            <a:chExt cx="11613108" cy="495853"/>
          </a:xfrm>
        </p:grpSpPr>
        <p:sp>
          <p:nvSpPr>
            <p:cNvPr id="5" name="矩形: 圆角 8"/>
            <p:cNvSpPr/>
            <p:nvPr userDrawn="1"/>
          </p:nvSpPr>
          <p:spPr>
            <a:xfrm flipV="1">
              <a:off x="2170802" y="709684"/>
              <a:ext cx="9743364" cy="45719"/>
            </a:xfrm>
            <a:prstGeom prst="roundRect">
              <a:avLst/>
            </a:prstGeom>
            <a:solidFill>
              <a:srgbClr val="8C0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Times New Roman Regular" panose="02020503050405090304" charset="0"/>
                <a:cs typeface="Times New Roman Regular" panose="02020503050405090304" charset="0"/>
              </a:endParaRPr>
            </a:p>
          </p:txBody>
        </p:sp>
        <p:sp>
          <p:nvSpPr>
            <p:cNvPr id="13" name="矩形: 圆角 12"/>
            <p:cNvSpPr/>
            <p:nvPr userDrawn="1"/>
          </p:nvSpPr>
          <p:spPr>
            <a:xfrm flipV="1">
              <a:off x="301058" y="709682"/>
              <a:ext cx="1801505" cy="45719"/>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61" name="矩形: 对角圆角 60"/>
            <p:cNvSpPr/>
            <p:nvPr userDrawn="1"/>
          </p:nvSpPr>
          <p:spPr>
            <a:xfrm>
              <a:off x="301058" y="259550"/>
              <a:ext cx="1801505" cy="359073"/>
            </a:xfrm>
            <a:prstGeom prst="round2DiagRect">
              <a:avLst>
                <a:gd name="adj1" fmla="val 33096"/>
                <a:gd name="adj2" fmla="val 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Times New Roman Regular" panose="02020503050405090304" charset="0"/>
                  <a:cs typeface="Times New Roman Regular" panose="02020503050405090304" charset="0"/>
                </a:rPr>
                <a:t>Group </a:t>
              </a:r>
              <a:r>
                <a:rPr lang="en-US" altLang="zh-CN">
                  <a:latin typeface="Times New Roman Regular" panose="02020503050405090304" charset="0"/>
                  <a:cs typeface="Times New Roman Regular" panose="02020503050405090304" charset="0"/>
                </a:rPr>
                <a:t>M-28</a:t>
              </a:r>
              <a:endParaRPr lang="en-US" altLang="zh-CN">
                <a:latin typeface="Times New Roman Regular" panose="02020503050405090304" charset="0"/>
                <a:cs typeface="Times New Roman Regular" panose="02020503050405090304" charset="0"/>
              </a:endParaRPr>
            </a:p>
          </p:txBody>
        </p:sp>
        <p:sp>
          <p:nvSpPr>
            <p:cNvPr id="62" name="Venn diagram"/>
            <p:cNvSpPr txBox="1"/>
            <p:nvPr userDrawn="1"/>
          </p:nvSpPr>
          <p:spPr>
            <a:xfrm>
              <a:off x="2291783" y="259550"/>
              <a:ext cx="5944870" cy="35814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rPr>
                <a:t>2.5 Model Comparison and Final Selection</a:t>
              </a:r>
              <a:endPar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endParaRPr>
            </a:p>
          </p:txBody>
        </p:sp>
      </p:grpSp>
      <p:pic>
        <p:nvPicPr>
          <p:cNvPr id="86" name="图片 85" descr="1fb514cb1a5e54e89daecde6a77344a3"/>
          <p:cNvPicPr>
            <a:picLocks noChangeAspect="1"/>
          </p:cNvPicPr>
          <p:nvPr/>
        </p:nvPicPr>
        <p:blipFill>
          <a:blip r:embed="rId1"/>
          <a:stretch>
            <a:fillRect/>
          </a:stretch>
        </p:blipFill>
        <p:spPr>
          <a:xfrm>
            <a:off x="10278745" y="144780"/>
            <a:ext cx="1635125" cy="473710"/>
          </a:xfrm>
          <a:prstGeom prst="rect">
            <a:avLst/>
          </a:prstGeom>
        </p:spPr>
      </p:pic>
      <p:cxnSp>
        <p:nvCxnSpPr>
          <p:cNvPr id="8" name="直接连接符 7"/>
          <p:cNvCxnSpPr/>
          <p:nvPr userDrawn="1"/>
        </p:nvCxnSpPr>
        <p:spPr>
          <a:xfrm>
            <a:off x="300990" y="6567805"/>
            <a:ext cx="11612880" cy="0"/>
          </a:xfrm>
          <a:prstGeom prst="line">
            <a:avLst/>
          </a:prstGeom>
          <a:ln>
            <a:solidFill>
              <a:srgbClr val="EEB6B0"/>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userDrawn="1"/>
        </p:nvSpPr>
        <p:spPr>
          <a:xfrm>
            <a:off x="266700" y="6604000"/>
            <a:ext cx="10967720" cy="327660"/>
          </a:xfrm>
          <a:prstGeom prst="rect">
            <a:avLst/>
          </a:prstGeom>
          <a:noFill/>
        </p:spPr>
        <p:txBody>
          <a:bodyPr wrap="none" rtlCol="0">
            <a:noAutofit/>
          </a:bodyPr>
          <a:p>
            <a:pPr algn="l"/>
            <a:r>
              <a:rPr lang="en-US" altLang="zh-CN" sz="600" spc="300" dirty="0">
                <a:solidFill>
                  <a:srgbClr val="AE192C"/>
                </a:solidFill>
                <a:latin typeface="Montserrat" panose="00000500000000000000" pitchFamily="2" charset="0"/>
                <a:ea typeface="HarmonyOS Sans SC Light" panose="00000400000000000000" pitchFamily="2" charset="-122"/>
              </a:rPr>
              <a:t>Project Workflow Overview</a:t>
            </a:r>
            <a:endParaRPr lang="en-US" altLang="zh-CN" sz="600" spc="300" dirty="0">
              <a:solidFill>
                <a:srgbClr val="AE192C"/>
              </a:solidFill>
              <a:latin typeface="Montserrat" panose="00000500000000000000" pitchFamily="2" charset="0"/>
              <a:ea typeface="HarmonyOS Sans SC Light" panose="00000400000000000000" pitchFamily="2" charset="-122"/>
            </a:endParaRPr>
          </a:p>
          <a:p>
            <a:pPr algn="l"/>
            <a:endParaRPr lang="en-US" altLang="zh-CN" sz="600" spc="300" dirty="0">
              <a:solidFill>
                <a:srgbClr val="AE192C"/>
              </a:solidFill>
              <a:latin typeface="Montserrat" panose="00000500000000000000" pitchFamily="2" charset="0"/>
              <a:ea typeface="HarmonyOS Sans SC Light" panose="00000400000000000000" pitchFamily="2" charset="-122"/>
            </a:endParaRPr>
          </a:p>
        </p:txBody>
      </p:sp>
      <p:graphicFrame>
        <p:nvGraphicFramePr>
          <p:cNvPr id="26" name="表格 25"/>
          <p:cNvGraphicFramePr/>
          <p:nvPr>
            <p:custDataLst>
              <p:tags r:id="rId2"/>
            </p:custDataLst>
          </p:nvPr>
        </p:nvGraphicFramePr>
        <p:xfrm>
          <a:off x="5402580" y="2051050"/>
          <a:ext cx="6347460" cy="3367405"/>
        </p:xfrm>
        <a:graphic>
          <a:graphicData uri="http://schemas.openxmlformats.org/drawingml/2006/table">
            <a:tbl>
              <a:tblPr firstRow="1" bandRow="1">
                <a:tableStyleId>{5C22544A-7EE6-4342-B048-85BDC9FD1C3A}</a:tableStyleId>
              </a:tblPr>
              <a:tblGrid>
                <a:gridCol w="906780"/>
                <a:gridCol w="906780"/>
                <a:gridCol w="906780"/>
                <a:gridCol w="906780"/>
                <a:gridCol w="906780"/>
                <a:gridCol w="906780"/>
                <a:gridCol w="906780"/>
              </a:tblGrid>
              <a:tr h="407670">
                <a:tc>
                  <a:txBody>
                    <a:bodyPr/>
                    <a:p>
                      <a:pPr algn="ctr" fontAlgn="ctr"/>
                      <a:r>
                        <a:rPr lang="en-US" altLang="zh-CN" sz="1100" b="0" i="0">
                          <a:solidFill>
                            <a:schemeClr val="bg1"/>
                          </a:solidFill>
                          <a:latin typeface="Times New Roman" panose="02020503050405090304" charset="0"/>
                          <a:ea typeface="宋体"/>
                          <a:cs typeface="Times New Roman" panose="02020503050405090304" charset="0"/>
                        </a:rPr>
                        <a:t>Model</a:t>
                      </a:r>
                      <a:endParaRPr lang="en-US" altLang="zh-CN" sz="1100" b="0" i="0">
                        <a:solidFill>
                          <a:schemeClr val="bg1"/>
                        </a:solidFill>
                        <a:latin typeface="Times New Roman" panose="02020503050405090304" charset="0"/>
                        <a:ea typeface="宋体"/>
                        <a:cs typeface="Times New Roman" panose="02020503050405090304" charset="0"/>
                      </a:endParaRPr>
                    </a:p>
                  </a:txBody>
                  <a:tcPr marL="13017" marR="13017" marT="13017" marB="0" anchor="ctr" anchorCtr="0">
                    <a:solidFill>
                      <a:srgbClr val="AE192C"/>
                    </a:solidFill>
                  </a:tcPr>
                </a:tc>
                <a:tc>
                  <a:txBody>
                    <a:bodyPr/>
                    <a:p>
                      <a:pPr algn="ctr" fontAlgn="ctr"/>
                      <a:r>
                        <a:rPr lang="en-US" altLang="zh-CN" sz="1100" b="0" i="0">
                          <a:solidFill>
                            <a:schemeClr val="bg1"/>
                          </a:solidFill>
                          <a:latin typeface="Times New Roman" panose="02020503050405090304" charset="0"/>
                          <a:ea typeface="宋体"/>
                          <a:cs typeface="Times New Roman" panose="02020503050405090304" charset="0"/>
                        </a:rPr>
                        <a:t>Accuracy</a:t>
                      </a:r>
                      <a:endParaRPr lang="en-US" altLang="zh-CN" sz="1100" b="0" i="0">
                        <a:solidFill>
                          <a:schemeClr val="bg1"/>
                        </a:solidFill>
                        <a:latin typeface="Times New Roman" panose="02020503050405090304" charset="0"/>
                        <a:ea typeface="宋体"/>
                        <a:cs typeface="Times New Roman" panose="02020503050405090304" charset="0"/>
                      </a:endParaRPr>
                    </a:p>
                  </a:txBody>
                  <a:tcPr marL="13017" marR="13017" marT="13017" marB="0" anchor="ctr" anchorCtr="0">
                    <a:solidFill>
                      <a:srgbClr val="AE192C"/>
                    </a:solidFill>
                  </a:tcPr>
                </a:tc>
                <a:tc>
                  <a:txBody>
                    <a:bodyPr/>
                    <a:p>
                      <a:pPr algn="ctr" fontAlgn="ctr"/>
                      <a:r>
                        <a:rPr lang="en-US" altLang="zh-CN" sz="1100" b="0" i="0">
                          <a:solidFill>
                            <a:schemeClr val="bg1"/>
                          </a:solidFill>
                          <a:latin typeface="Times New Roman" panose="02020503050405090304" charset="0"/>
                          <a:ea typeface="宋体"/>
                          <a:cs typeface="Times New Roman" panose="02020503050405090304" charset="0"/>
                        </a:rPr>
                        <a:t>Precision</a:t>
                      </a:r>
                      <a:endParaRPr lang="en-US" altLang="zh-CN" sz="1100" b="0" i="0">
                        <a:solidFill>
                          <a:schemeClr val="bg1"/>
                        </a:solidFill>
                        <a:latin typeface="Times New Roman" panose="02020503050405090304" charset="0"/>
                        <a:ea typeface="宋体"/>
                        <a:cs typeface="Times New Roman" panose="02020503050405090304" charset="0"/>
                      </a:endParaRPr>
                    </a:p>
                  </a:txBody>
                  <a:tcPr marL="13017" marR="13017" marT="13017" marB="0" anchor="ctr" anchorCtr="0">
                    <a:solidFill>
                      <a:srgbClr val="AE192C"/>
                    </a:solidFill>
                  </a:tcPr>
                </a:tc>
                <a:tc>
                  <a:txBody>
                    <a:bodyPr/>
                    <a:p>
                      <a:pPr algn="ctr" fontAlgn="ctr"/>
                      <a:r>
                        <a:rPr lang="en-US" altLang="zh-CN" sz="1100" b="0" i="0">
                          <a:solidFill>
                            <a:schemeClr val="bg1"/>
                          </a:solidFill>
                          <a:latin typeface="Times New Roman" panose="02020503050405090304" charset="0"/>
                          <a:ea typeface="宋体"/>
                          <a:cs typeface="Times New Roman" panose="02020503050405090304" charset="0"/>
                        </a:rPr>
                        <a:t>Recall</a:t>
                      </a:r>
                      <a:endParaRPr lang="en-US" altLang="zh-CN" sz="1100" b="0" i="0">
                        <a:solidFill>
                          <a:schemeClr val="bg1"/>
                        </a:solidFill>
                        <a:latin typeface="Times New Roman" panose="02020503050405090304" charset="0"/>
                        <a:ea typeface="宋体"/>
                        <a:cs typeface="Times New Roman" panose="02020503050405090304" charset="0"/>
                      </a:endParaRPr>
                    </a:p>
                  </a:txBody>
                  <a:tcPr marL="13017" marR="13017" marT="13017" marB="0" anchor="ctr" anchorCtr="0">
                    <a:solidFill>
                      <a:srgbClr val="AE192C"/>
                    </a:solidFill>
                  </a:tcPr>
                </a:tc>
                <a:tc>
                  <a:txBody>
                    <a:bodyPr/>
                    <a:p>
                      <a:pPr algn="ctr" fontAlgn="ctr"/>
                      <a:r>
                        <a:rPr lang="en-US" altLang="zh-CN" sz="1100" b="0" i="0">
                          <a:solidFill>
                            <a:schemeClr val="bg1"/>
                          </a:solidFill>
                          <a:latin typeface="Times New Roman" panose="02020503050405090304" charset="0"/>
                          <a:ea typeface="宋体"/>
                          <a:cs typeface="Times New Roman" panose="02020503050405090304" charset="0"/>
                        </a:rPr>
                        <a:t>F1 Score</a:t>
                      </a:r>
                      <a:endParaRPr lang="en-US" altLang="zh-CN" sz="1100" b="0" i="0">
                        <a:solidFill>
                          <a:schemeClr val="bg1"/>
                        </a:solidFill>
                        <a:latin typeface="Times New Roman" panose="02020503050405090304" charset="0"/>
                        <a:ea typeface="宋体"/>
                        <a:cs typeface="Times New Roman" panose="02020503050405090304" charset="0"/>
                      </a:endParaRPr>
                    </a:p>
                  </a:txBody>
                  <a:tcPr marL="13017" marR="13017" marT="13017" marB="0" anchor="ctr" anchorCtr="0">
                    <a:solidFill>
                      <a:srgbClr val="AE192C"/>
                    </a:solidFill>
                  </a:tcPr>
                </a:tc>
                <a:tc>
                  <a:txBody>
                    <a:bodyPr/>
                    <a:p>
                      <a:pPr algn="ctr" fontAlgn="ctr"/>
                      <a:r>
                        <a:rPr lang="en-US" altLang="zh-CN" sz="1100" b="0" i="0">
                          <a:solidFill>
                            <a:schemeClr val="bg1"/>
                          </a:solidFill>
                          <a:latin typeface="Times New Roman" panose="02020503050405090304" charset="0"/>
                          <a:ea typeface="宋体"/>
                          <a:cs typeface="Times New Roman" panose="02020503050405090304" charset="0"/>
                        </a:rPr>
                        <a:t>AUC</a:t>
                      </a:r>
                      <a:endParaRPr lang="en-US" altLang="zh-CN" sz="1100" b="0" i="0">
                        <a:solidFill>
                          <a:schemeClr val="bg1"/>
                        </a:solidFill>
                        <a:latin typeface="Times New Roman" panose="02020503050405090304" charset="0"/>
                        <a:ea typeface="宋体"/>
                        <a:cs typeface="Times New Roman" panose="02020503050405090304" charset="0"/>
                      </a:endParaRPr>
                    </a:p>
                  </a:txBody>
                  <a:tcPr marL="13017" marR="13017" marT="13017" marB="0" anchor="ctr" anchorCtr="0">
                    <a:solidFill>
                      <a:srgbClr val="AE192C"/>
                    </a:solidFill>
                  </a:tcPr>
                </a:tc>
                <a:tc>
                  <a:txBody>
                    <a:bodyPr/>
                    <a:p>
                      <a:pPr algn="ctr" fontAlgn="ctr"/>
                      <a:r>
                        <a:rPr lang="en-US" altLang="zh-CN" sz="1100" b="0" i="0">
                          <a:solidFill>
                            <a:schemeClr val="bg1"/>
                          </a:solidFill>
                          <a:latin typeface="Times New Roman" panose="02020503050405090304" charset="0"/>
                          <a:ea typeface="宋体"/>
                          <a:cs typeface="Times New Roman" panose="02020503050405090304" charset="0"/>
                        </a:rPr>
                        <a:t>Feature Set</a:t>
                      </a:r>
                      <a:endParaRPr lang="en-US" altLang="zh-CN" sz="1100" b="0" i="0">
                        <a:solidFill>
                          <a:schemeClr val="bg1"/>
                        </a:solidFill>
                        <a:latin typeface="Times New Roman" panose="02020503050405090304" charset="0"/>
                        <a:ea typeface="宋体"/>
                        <a:cs typeface="Times New Roman" panose="02020503050405090304" charset="0"/>
                      </a:endParaRPr>
                    </a:p>
                  </a:txBody>
                  <a:tcPr marL="13017" marR="13017" marT="13017" marB="0" anchor="ctr" anchorCtr="0">
                    <a:solidFill>
                      <a:srgbClr val="AE192C"/>
                    </a:solidFill>
                  </a:tcPr>
                </a:tc>
              </a:tr>
              <a:tr h="406400">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XGBoost</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0.8929</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0.8899</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0.8984</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0.8924</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0.961</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Selected</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r>
              <a:tr h="537845">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Logistic Regression</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0.9131</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0.9003</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0.9315</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0.9148</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0.9759</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Selected</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r>
              <a:tr h="535305">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Random Forest</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0.8889</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0.8904</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0.8911</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0.8888</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0.9707</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Selected</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r>
              <a:tr h="407670">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XGBoost</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0.8828</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0.8891</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0.8782</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0.8814</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0.9612</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Original</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r>
              <a:tr h="537210">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Logistic Regression</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0.8949</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0.889</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0.9033</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0.8957</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0.9744</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Original</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lumMod val="85000"/>
                      </a:schemeClr>
                    </a:solidFill>
                  </a:tcPr>
                </a:tc>
              </a:tr>
              <a:tr h="535305">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Random Forest</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0.897</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0.9044</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0.891</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0.896</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0.9707</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c>
                  <a:txBody>
                    <a:bodyPr/>
                    <a:p>
                      <a:pPr algn="ctr" fontAlgn="ctr"/>
                      <a:r>
                        <a:rPr lang="en-US" altLang="zh-CN" sz="1100" b="0" i="0">
                          <a:solidFill>
                            <a:schemeClr val="tx1">
                              <a:lumMod val="65000"/>
                              <a:lumOff val="35000"/>
                            </a:schemeClr>
                          </a:solidFill>
                          <a:latin typeface="Times New Roman" panose="02020503050405090304" charset="0"/>
                          <a:ea typeface="宋体"/>
                          <a:cs typeface="Times New Roman" panose="02020503050405090304" charset="0"/>
                        </a:rPr>
                        <a:t>Original</a:t>
                      </a:r>
                      <a:endParaRPr lang="en-US" altLang="zh-CN" sz="1100" b="0" i="0">
                        <a:solidFill>
                          <a:schemeClr val="tx1">
                            <a:lumMod val="65000"/>
                            <a:lumOff val="35000"/>
                          </a:schemeClr>
                        </a:solidFill>
                        <a:latin typeface="Times New Roman" panose="02020503050405090304" charset="0"/>
                        <a:ea typeface="宋体"/>
                        <a:cs typeface="Times New Roman" panose="02020503050405090304" charset="0"/>
                      </a:endParaRPr>
                    </a:p>
                  </a:txBody>
                  <a:tcPr marL="13017" marR="13017" marT="13017" marB="0" anchor="ctr" anchorCtr="0">
                    <a:solidFill>
                      <a:schemeClr val="bg1"/>
                    </a:solidFill>
                  </a:tcPr>
                </a:tc>
              </a:tr>
            </a:tbl>
          </a:graphicData>
        </a:graphic>
      </p:graphicFrame>
      <p:grpSp>
        <p:nvGrpSpPr>
          <p:cNvPr id="10" name="组合 9"/>
          <p:cNvGrpSpPr/>
          <p:nvPr/>
        </p:nvGrpSpPr>
        <p:grpSpPr>
          <a:xfrm>
            <a:off x="6976745" y="1226820"/>
            <a:ext cx="4500245" cy="353060"/>
            <a:chOff x="12898" y="2205"/>
            <a:chExt cx="5176" cy="556"/>
          </a:xfrm>
        </p:grpSpPr>
        <p:sp>
          <p:nvSpPr>
            <p:cNvPr id="56" name="Rectangle: Rounded Corners 133"/>
            <p:cNvSpPr/>
            <p:nvPr/>
          </p:nvSpPr>
          <p:spPr>
            <a:xfrm>
              <a:off x="12898" y="2205"/>
              <a:ext cx="2785" cy="554"/>
            </a:xfrm>
            <a:prstGeom prst="roundRect">
              <a:avLst>
                <a:gd name="adj" fmla="val 50000"/>
              </a:avLst>
            </a:prstGeom>
            <a:solidFill>
              <a:srgbClr val="AE192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algn="ctr"/>
              <a:r>
                <a:rPr lang="en-US" altLang="zh-CN" sz="1200" dirty="0">
                  <a:latin typeface="Times New Roman Regular" panose="02020503050405090304" charset="0"/>
                  <a:ea typeface="Open Sans Light" panose="020B0306030504020204" pitchFamily="34" charset="0"/>
                  <a:cs typeface="Times New Roman Regular" panose="02020503050405090304" charset="0"/>
                </a:rPr>
                <a:t>Methylation data </a:t>
              </a:r>
              <a:endParaRPr lang="en-US" altLang="zh-CN" sz="1200" dirty="0">
                <a:latin typeface="Times New Roman Regular" panose="02020503050405090304" charset="0"/>
                <a:ea typeface="Open Sans Light" panose="020B0306030504020204" pitchFamily="34" charset="0"/>
                <a:cs typeface="Times New Roman Regular" panose="02020503050405090304" charset="0"/>
              </a:endParaRPr>
            </a:p>
          </p:txBody>
        </p:sp>
        <p:sp>
          <p:nvSpPr>
            <p:cNvPr id="57" name="Rectangle: Rounded Corners 134"/>
            <p:cNvSpPr/>
            <p:nvPr/>
          </p:nvSpPr>
          <p:spPr>
            <a:xfrm>
              <a:off x="16026" y="2207"/>
              <a:ext cx="2048" cy="554"/>
            </a:xfrm>
            <a:prstGeom prst="roundRect">
              <a:avLst>
                <a:gd name="adj" fmla="val 50000"/>
              </a:avLst>
            </a:prstGeom>
            <a:solidFill>
              <a:schemeClr val="bg1"/>
            </a:solidFill>
            <a:ln>
              <a:noFill/>
            </a:ln>
            <a:effectLst>
              <a:outerShdw blurRad="152400" dist="3810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p>
              <a:pPr algn="ctr"/>
              <a:r>
                <a:rPr lang="en-US" altLang="zh-CN" sz="1200" dirty="0">
                  <a:solidFill>
                    <a:schemeClr val="tx1"/>
                  </a:solidFill>
                  <a:latin typeface="Times New Roman Regular" panose="02020503050405090304" charset="0"/>
                  <a:ea typeface="Open Sans Light" panose="020B0306030504020204" pitchFamily="34" charset="0"/>
                  <a:cs typeface="Times New Roman Regular" panose="02020503050405090304" charset="0"/>
                  <a:sym typeface="+mn-ea"/>
                </a:rPr>
                <a:t>Gene expression data</a:t>
              </a:r>
              <a:endParaRPr lang="en-US" altLang="zh-CN" sz="1200" dirty="0">
                <a:solidFill>
                  <a:schemeClr val="tx1"/>
                </a:solidFill>
                <a:latin typeface="Times New Roman Regular" panose="02020503050405090304" charset="0"/>
                <a:ea typeface="Open Sans Light" panose="020B0306030504020204" pitchFamily="34" charset="0"/>
                <a:cs typeface="Times New Roman Regular" panose="02020503050405090304"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spd="slow" p14:dur="1500" advClick="0" advTm="3000">
        <p:random/>
      </p:transition>
    </mc:Choice>
    <mc:Fallback>
      <p:transition spd="slow" advClick="0" advTm="300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1395413"/>
            <a:ext cx="12192000" cy="4392612"/>
            <a:chOff x="0" y="1395413"/>
            <a:chExt cx="12192000" cy="4392612"/>
          </a:xfrm>
          <a:solidFill>
            <a:srgbClr val="AF1E2F"/>
          </a:solidFill>
        </p:grpSpPr>
        <p:sp>
          <p:nvSpPr>
            <p:cNvPr id="8" name="Freeform 5"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3308645" y="1395413"/>
              <a:ext cx="8883355" cy="1881187"/>
            </a:xfrm>
            <a:custGeom>
              <a:avLst/>
              <a:gdLst>
                <a:gd name="T0" fmla="*/ 11567 w 11567"/>
                <a:gd name="T1" fmla="*/ 2441 h 2441"/>
                <a:gd name="T2" fmla="*/ 0 w 11567"/>
                <a:gd name="T3" fmla="*/ 2441 h 2441"/>
                <a:gd name="T4" fmla="*/ 1542 w 11567"/>
                <a:gd name="T5" fmla="*/ 0 h 2441"/>
                <a:gd name="T6" fmla="*/ 11567 w 11567"/>
                <a:gd name="T7" fmla="*/ 0 h 2441"/>
                <a:gd name="T8" fmla="*/ 11567 w 11567"/>
                <a:gd name="T9" fmla="*/ 2441 h 2441"/>
              </a:gdLst>
              <a:ahLst/>
              <a:cxnLst>
                <a:cxn ang="0">
                  <a:pos x="T0" y="T1"/>
                </a:cxn>
                <a:cxn ang="0">
                  <a:pos x="T2" y="T3"/>
                </a:cxn>
                <a:cxn ang="0">
                  <a:pos x="T4" y="T5"/>
                </a:cxn>
                <a:cxn ang="0">
                  <a:pos x="T6" y="T7"/>
                </a:cxn>
                <a:cxn ang="0">
                  <a:pos x="T8" y="T9"/>
                </a:cxn>
              </a:cxnLst>
              <a:rect l="0" t="0" r="r" b="b"/>
              <a:pathLst>
                <a:path w="11567" h="2441">
                  <a:moveTo>
                    <a:pt x="11567" y="2441"/>
                  </a:moveTo>
                  <a:lnTo>
                    <a:pt x="0" y="2441"/>
                  </a:lnTo>
                  <a:lnTo>
                    <a:pt x="1542" y="0"/>
                  </a:lnTo>
                  <a:lnTo>
                    <a:pt x="11567" y="0"/>
                  </a:lnTo>
                  <a:lnTo>
                    <a:pt x="11567" y="2441"/>
                  </a:lnTo>
                  <a:close/>
                </a:path>
              </a:pathLst>
            </a:custGeom>
            <a:solidFill>
              <a:srgbClr val="831723"/>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0" name="Freeform 6"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0" y="4075113"/>
              <a:ext cx="5693725" cy="1712912"/>
            </a:xfrm>
            <a:custGeom>
              <a:avLst/>
              <a:gdLst>
                <a:gd name="T0" fmla="*/ 0 w 7413"/>
                <a:gd name="T1" fmla="*/ 0 h 2222"/>
                <a:gd name="T2" fmla="*/ 7413 w 7413"/>
                <a:gd name="T3" fmla="*/ 0 h 2222"/>
                <a:gd name="T4" fmla="*/ 6010 w 7413"/>
                <a:gd name="T5" fmla="*/ 2222 h 2222"/>
                <a:gd name="T6" fmla="*/ 0 w 7413"/>
                <a:gd name="T7" fmla="*/ 2222 h 2222"/>
                <a:gd name="T8" fmla="*/ 0 w 7413"/>
                <a:gd name="T9" fmla="*/ 0 h 2222"/>
              </a:gdLst>
              <a:ahLst/>
              <a:cxnLst>
                <a:cxn ang="0">
                  <a:pos x="T0" y="T1"/>
                </a:cxn>
                <a:cxn ang="0">
                  <a:pos x="T2" y="T3"/>
                </a:cxn>
                <a:cxn ang="0">
                  <a:pos x="T4" y="T5"/>
                </a:cxn>
                <a:cxn ang="0">
                  <a:pos x="T6" y="T7"/>
                </a:cxn>
                <a:cxn ang="0">
                  <a:pos x="T8" y="T9"/>
                </a:cxn>
              </a:cxnLst>
              <a:rect l="0" t="0" r="r" b="b"/>
              <a:pathLst>
                <a:path w="7413" h="2222">
                  <a:moveTo>
                    <a:pt x="0" y="0"/>
                  </a:moveTo>
                  <a:lnTo>
                    <a:pt x="7413" y="0"/>
                  </a:lnTo>
                  <a:lnTo>
                    <a:pt x="6010" y="2222"/>
                  </a:lnTo>
                  <a:lnTo>
                    <a:pt x="0" y="2222"/>
                  </a:lnTo>
                  <a:lnTo>
                    <a:pt x="0" y="0"/>
                  </a:lnTo>
                  <a:close/>
                </a:path>
              </a:pathLst>
            </a:custGeom>
            <a:solidFill>
              <a:srgbClr val="831723"/>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1" name="Freeform 7"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0" y="2052639"/>
              <a:ext cx="10728896" cy="2981325"/>
            </a:xfrm>
            <a:custGeom>
              <a:avLst/>
              <a:gdLst>
                <a:gd name="T0" fmla="*/ 0 w 13970"/>
                <a:gd name="T1" fmla="*/ 0 h 3869"/>
                <a:gd name="T2" fmla="*/ 13970 w 13970"/>
                <a:gd name="T3" fmla="*/ 0 h 3869"/>
                <a:gd name="T4" fmla="*/ 11527 w 13970"/>
                <a:gd name="T5" fmla="*/ 3869 h 3869"/>
                <a:gd name="T6" fmla="*/ 0 w 13970"/>
                <a:gd name="T7" fmla="*/ 3869 h 3869"/>
                <a:gd name="T8" fmla="*/ 0 w 13970"/>
                <a:gd name="T9" fmla="*/ 0 h 3869"/>
              </a:gdLst>
              <a:ahLst/>
              <a:cxnLst>
                <a:cxn ang="0">
                  <a:pos x="T0" y="T1"/>
                </a:cxn>
                <a:cxn ang="0">
                  <a:pos x="T2" y="T3"/>
                </a:cxn>
                <a:cxn ang="0">
                  <a:pos x="T4" y="T5"/>
                </a:cxn>
                <a:cxn ang="0">
                  <a:pos x="T6" y="T7"/>
                </a:cxn>
                <a:cxn ang="0">
                  <a:pos x="T8" y="T9"/>
                </a:cxn>
              </a:cxnLst>
              <a:rect l="0" t="0" r="r" b="b"/>
              <a:pathLst>
                <a:path w="13970" h="3869">
                  <a:moveTo>
                    <a:pt x="0" y="0"/>
                  </a:moveTo>
                  <a:lnTo>
                    <a:pt x="13970" y="0"/>
                  </a:lnTo>
                  <a:lnTo>
                    <a:pt x="11527" y="3869"/>
                  </a:lnTo>
                  <a:lnTo>
                    <a:pt x="0" y="3869"/>
                  </a:lnTo>
                  <a:lnTo>
                    <a:pt x="0" y="0"/>
                  </a:lnTo>
                  <a:close/>
                </a:path>
              </a:pathLst>
            </a:custGeom>
            <a:grp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grpSp>
      <p:sp>
        <p:nvSpPr>
          <p:cNvPr id="2" name="e7d195523061f1c0" descr="e7d195523061f1c060910eeaeeff1464599dc3392e14be42F6605DBF3376AA578EAD49A2F34CDE9F8BA873D9FC4305B94F8C98BE913D0BB55B77B4982D855D57316D9666CF50C0C1F882EEA92AB650391898752DC0F28C027E30AABBE39009D367F52CF2EB08CFD5B7F9FB4301E8C18380EF535FE4A4CCCE7A68EA8B854FFF693052B82C6FF16E3D" hidden="1"/>
          <p:cNvSpPr txBox="1"/>
          <p:nvPr/>
        </p:nvSpPr>
        <p:spPr>
          <a:xfrm>
            <a:off x="-355600" y="1803400"/>
            <a:ext cx="262251"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等线"/>
                <a:ea typeface="等线" panose="02010600030101010101" charset="-122"/>
                <a:cs typeface="+mn-cs"/>
              </a:rPr>
              <a:t>e7d195523061f1c060910eeaeeff1464599dc3392e14be42F6605DBF3376AA578EAD49A2F34CDE9F8BA873D9FC4305B94F8C98BE913D0BB55B77B4982D855D57316D9666CF50C0C1F882EEA92AB650391898752DC0F28C027E30AABBE39009D367F52CF2EB08CFD5B7F9FB4301E8C18380EF535FE4A4CCCE7A68EA8B854FFF693052B82C6FF16E3D</a:t>
            </a:r>
            <a:endParaRPr kumimoji="0" lang="zh-CN" altLang="en-US" sz="1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3" name="文本框 12"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txBox="1"/>
          <p:nvPr/>
        </p:nvSpPr>
        <p:spPr>
          <a:xfrm>
            <a:off x="1091479" y="1908176"/>
            <a:ext cx="1508125" cy="31534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900" b="0" i="0" u="none" strike="noStrike" kern="1200" cap="none" spc="0" normalizeH="0" baseline="0" noProof="0" dirty="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rPr>
              <a:t>3</a:t>
            </a:r>
            <a:endParaRPr kumimoji="0" lang="en-US" altLang="zh-CN" sz="19900" b="0" i="0" u="none" strike="noStrike" kern="1200" cap="none" spc="0" normalizeH="0" baseline="0" noProof="0" dirty="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4" name="文本框 13"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txBox="1"/>
          <p:nvPr/>
        </p:nvSpPr>
        <p:spPr>
          <a:xfrm>
            <a:off x="2846705" y="3598545"/>
            <a:ext cx="5693410" cy="2971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35"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rPr>
              <a:t> A Case Study of lncRNA MIR100HG across Five Cancer Types</a:t>
            </a:r>
            <a:endParaRPr kumimoji="0" lang="en-US" altLang="zh-CN" sz="1335"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5" name="文本框 14"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txBox="1"/>
          <p:nvPr/>
        </p:nvSpPr>
        <p:spPr>
          <a:xfrm>
            <a:off x="2846705" y="2668270"/>
            <a:ext cx="7514590" cy="768350"/>
          </a:xfrm>
          <a:prstGeom prst="rect">
            <a:avLst/>
          </a:prstGeom>
          <a:noFill/>
        </p:spPr>
        <p:txBody>
          <a:bodyPr wrap="square" rtlCol="0">
            <a:spAutoFit/>
          </a:bodyPr>
          <a:lstStyle/>
          <a:p>
            <a:pPr lvl="0"/>
            <a:r>
              <a:rPr lang="en-US" altLang="zh-CN" sz="4400" dirty="0">
                <a:solidFill>
                  <a:prstClr val="white"/>
                </a:solidFill>
                <a:latin typeface="Trebuchet MS Regular" panose="020B0703020202090204" charset="0"/>
                <a:ea typeface="华康俪金黑W8" panose="020B0809000000000000" pitchFamily="49" charset="-122"/>
              </a:rPr>
              <a:t>Results and Discussion</a:t>
            </a:r>
            <a:endParaRPr lang="en-US" altLang="zh-CN" sz="4400" dirty="0">
              <a:solidFill>
                <a:prstClr val="white"/>
              </a:solidFill>
              <a:latin typeface="Trebuchet MS Regular" panose="020B0703020202090204" charset="0"/>
              <a:ea typeface="华康俪金黑W8" panose="020B0809000000000000" pitchFamily="49" charset="-122"/>
            </a:endParaRPr>
          </a:p>
        </p:txBody>
      </p:sp>
      <p:sp>
        <p:nvSpPr>
          <p:cNvPr id="16" name="矩形 15"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p:nvPr/>
        </p:nvSpPr>
        <p:spPr>
          <a:xfrm>
            <a:off x="2956407" y="3466746"/>
            <a:ext cx="566069" cy="60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7" name="Freeform 8"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11227177" y="1908176"/>
            <a:ext cx="556995" cy="900113"/>
          </a:xfrm>
          <a:custGeom>
            <a:avLst/>
            <a:gdLst>
              <a:gd name="T0" fmla="*/ 584 w 725"/>
              <a:gd name="T1" fmla="*/ 443 h 1169"/>
              <a:gd name="T2" fmla="*/ 725 w 725"/>
              <a:gd name="T3" fmla="*/ 585 h 1169"/>
              <a:gd name="T4" fmla="*/ 584 w 725"/>
              <a:gd name="T5" fmla="*/ 726 h 1169"/>
              <a:gd name="T6" fmla="*/ 141 w 725"/>
              <a:gd name="T7" fmla="*/ 1169 h 1169"/>
              <a:gd name="T8" fmla="*/ 0 w 725"/>
              <a:gd name="T9" fmla="*/ 1028 h 1169"/>
              <a:gd name="T10" fmla="*/ 443 w 725"/>
              <a:gd name="T11" fmla="*/ 585 h 1169"/>
              <a:gd name="T12" fmla="*/ 0 w 725"/>
              <a:gd name="T13" fmla="*/ 141 h 1169"/>
              <a:gd name="T14" fmla="*/ 141 w 725"/>
              <a:gd name="T15" fmla="*/ 0 h 1169"/>
              <a:gd name="T16" fmla="*/ 584 w 725"/>
              <a:gd name="T17" fmla="*/ 44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3000"/>
    </mc:Choice>
    <mc:Fallback>
      <p:transition spd="slow" advClick="0" advTm="3000"/>
    </mc:Fallback>
  </mc:AlternateContent>
  <p:timing>
    <p:tnLst>
      <p:par>
        <p:cTn id="1" dur="indefinite" restart="never" nodeType="tmRoot"/>
      </p:par>
    </p:tnLst>
    <p:bldLst>
      <p:bldP spid="13" grpId="0"/>
      <p:bldP spid="14" grpId="0"/>
      <p:bldP spid="15" grpId="0"/>
      <p:bldP spid="16" grpId="0" bldLvl="0" animBg="1"/>
      <p:bldP spid="17"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Rounded Corners 84"/>
          <p:cNvSpPr/>
          <p:nvPr>
            <p:custDataLst>
              <p:tags r:id="rId1"/>
            </p:custDataLst>
          </p:nvPr>
        </p:nvSpPr>
        <p:spPr>
          <a:xfrm>
            <a:off x="648335" y="981710"/>
            <a:ext cx="5941060" cy="3302000"/>
          </a:xfrm>
          <a:prstGeom prst="roundRect">
            <a:avLst>
              <a:gd name="adj" fmla="val 2745"/>
            </a:avLst>
          </a:prstGeom>
          <a:solidFill>
            <a:schemeClr val="bg1"/>
          </a:solidFill>
          <a:ln>
            <a:noFill/>
          </a:ln>
          <a:effectLst>
            <a:outerShdw blurRad="762000" dist="139700" dir="5400000" sx="93000" sy="93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latin typeface="Times New Roman Regular" panose="02020503050405090304" charset="0"/>
              <a:ea typeface="OPPOSans H" panose="00020600040101010101" charset="-122"/>
              <a:cs typeface="Times New Roman Regular" panose="02020503050405090304" charset="0"/>
            </a:endParaRPr>
          </a:p>
        </p:txBody>
      </p:sp>
      <p:sp>
        <p:nvSpPr>
          <p:cNvPr id="22" name="Rectangle: Rounded Corners 84"/>
          <p:cNvSpPr/>
          <p:nvPr>
            <p:custDataLst>
              <p:tags r:id="rId2"/>
            </p:custDataLst>
          </p:nvPr>
        </p:nvSpPr>
        <p:spPr>
          <a:xfrm>
            <a:off x="7505700" y="948690"/>
            <a:ext cx="4408170" cy="3355975"/>
          </a:xfrm>
          <a:prstGeom prst="roundRect">
            <a:avLst>
              <a:gd name="adj" fmla="val 2745"/>
            </a:avLst>
          </a:prstGeom>
          <a:solidFill>
            <a:schemeClr val="bg1"/>
          </a:solidFill>
          <a:ln>
            <a:noFill/>
          </a:ln>
          <a:effectLst>
            <a:outerShdw blurRad="762000" dist="139700" dir="5400000" sx="93000" sy="93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latin typeface="Times New Roman Regular" panose="02020503050405090304" charset="0"/>
              <a:ea typeface="OPPOSans H" panose="00020600040101010101" charset="-122"/>
              <a:cs typeface="Times New Roman Regular" panose="02020503050405090304" charset="0"/>
            </a:endParaRPr>
          </a:p>
        </p:txBody>
      </p:sp>
      <p:cxnSp>
        <p:nvCxnSpPr>
          <p:cNvPr id="38" name="Straight Connector 9"/>
          <p:cNvCxnSpPr/>
          <p:nvPr/>
        </p:nvCxnSpPr>
        <p:spPr>
          <a:xfrm>
            <a:off x="175855" y="4464444"/>
            <a:ext cx="5941060" cy="16933"/>
          </a:xfrm>
          <a:prstGeom prst="line">
            <a:avLst/>
          </a:prstGeom>
          <a:ln>
            <a:solidFill>
              <a:schemeClr val="bg1">
                <a:lumMod val="85000"/>
                <a:alpha val="58000"/>
              </a:schemeClr>
            </a:solidFill>
          </a:ln>
        </p:spPr>
        <p:style>
          <a:lnRef idx="1">
            <a:schemeClr val="accent1"/>
          </a:lnRef>
          <a:fillRef idx="0">
            <a:schemeClr val="accent1"/>
          </a:fillRef>
          <a:effectRef idx="0">
            <a:schemeClr val="accent1"/>
          </a:effectRef>
          <a:fontRef idx="minor">
            <a:schemeClr val="tx1"/>
          </a:fontRef>
        </p:style>
      </p:cxnSp>
      <p:sp>
        <p:nvSpPr>
          <p:cNvPr id="40" name="Rectangle 40"/>
          <p:cNvSpPr/>
          <p:nvPr/>
        </p:nvSpPr>
        <p:spPr>
          <a:xfrm>
            <a:off x="519430" y="4773930"/>
            <a:ext cx="972185" cy="583565"/>
          </a:xfrm>
          <a:prstGeom prst="rect">
            <a:avLst/>
          </a:prstGeom>
        </p:spPr>
        <p:txBody>
          <a:bodyPr wrap="square">
            <a:spAutoFit/>
          </a:bodyPr>
          <a:lstStyle/>
          <a:p>
            <a:pPr defTabSz="914400"/>
            <a:r>
              <a:rPr lang="en-US" sz="3200" b="1" spc="133" dirty="0">
                <a:solidFill>
                  <a:srgbClr val="AE1A2C"/>
                </a:solidFill>
                <a:latin typeface="Times New Roman Regular" panose="02020503050405090304" charset="0"/>
                <a:ea typeface="Open Sans Light" panose="020B0306030504020204" pitchFamily="34" charset="0"/>
                <a:cs typeface="Times New Roman Regular" panose="02020503050405090304" charset="0"/>
              </a:rPr>
              <a:t>1</a:t>
            </a:r>
            <a:r>
              <a:rPr lang="en-US" sz="1465" b="1" spc="133" dirty="0">
                <a:solidFill>
                  <a:srgbClr val="AE1A2C"/>
                </a:solidFill>
                <a:latin typeface="Times New Roman Regular" panose="02020503050405090304" charset="0"/>
                <a:ea typeface="Open Sans Light" panose="020B0306030504020204" pitchFamily="34" charset="0"/>
                <a:cs typeface="Times New Roman Regular" panose="02020503050405090304" charset="0"/>
              </a:rPr>
              <a:t>/</a:t>
            </a:r>
            <a:endParaRPr lang="en-US" sz="1465" b="1" spc="133" dirty="0">
              <a:solidFill>
                <a:srgbClr val="AE1A2C"/>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41" name="Rectangle 42"/>
          <p:cNvSpPr/>
          <p:nvPr/>
        </p:nvSpPr>
        <p:spPr>
          <a:xfrm>
            <a:off x="1300480" y="4773930"/>
            <a:ext cx="5344795" cy="1443990"/>
          </a:xfrm>
          <a:prstGeom prst="rect">
            <a:avLst/>
          </a:prstGeom>
        </p:spPr>
        <p:txBody>
          <a:bodyPr wrap="square">
            <a:spAutoFit/>
          </a:bodyPr>
          <a:lstStyle/>
          <a:p>
            <a:pPr defTabSz="914400">
              <a:lnSpc>
                <a:spcPct val="110000"/>
              </a:lnSpc>
            </a:pPr>
            <a:r>
              <a:rPr lang="en-US" altLang="zh-CN" sz="1600" dirty="0">
                <a:solidFill>
                  <a:schemeClr val="tx1">
                    <a:lumMod val="65000"/>
                    <a:lumOff val="35000"/>
                  </a:schemeClr>
                </a:solidFill>
                <a:latin typeface="Times New Roman Regular" panose="02020503050405090304" charset="0"/>
                <a:ea typeface="微软雅黑 Light" panose="020B0502040204020203" charset="-122"/>
                <a:cs typeface="Times New Roman Regular" panose="02020503050405090304" charset="0"/>
              </a:rPr>
              <a:t>Among them, GLT8D2 in LUAD, TCEAL7 in PAAD, and SLC16A4 in PRAD were much more important than other genes, showing obvious dominant gene features; in contrast, the top 10 genes in SKCM and STAD had a flat importance distribution, suggesting multifactorial synergistic contribution.</a:t>
            </a:r>
            <a:endParaRPr lang="en-US" altLang="zh-CN" sz="1600" dirty="0">
              <a:solidFill>
                <a:schemeClr val="tx1">
                  <a:lumMod val="65000"/>
                  <a:lumOff val="35000"/>
                </a:schemeClr>
              </a:solidFill>
              <a:latin typeface="Times New Roman Regular" panose="02020503050405090304" charset="0"/>
              <a:ea typeface="微软雅黑 Light" panose="020B0502040204020203" charset="-122"/>
              <a:cs typeface="Times New Roman Regular" panose="02020503050405090304" charset="0"/>
            </a:endParaRPr>
          </a:p>
        </p:txBody>
      </p:sp>
      <p:grpSp>
        <p:nvGrpSpPr>
          <p:cNvPr id="48" name="组合 47"/>
          <p:cNvGrpSpPr/>
          <p:nvPr/>
        </p:nvGrpSpPr>
        <p:grpSpPr>
          <a:xfrm>
            <a:off x="6410637" y="4450637"/>
            <a:ext cx="5629487" cy="1437005"/>
            <a:chOff x="452635" y="4154104"/>
            <a:chExt cx="4222115" cy="1077753"/>
          </a:xfrm>
        </p:grpSpPr>
        <p:cxnSp>
          <p:nvCxnSpPr>
            <p:cNvPr id="39" name="Straight Connector 21"/>
            <p:cNvCxnSpPr/>
            <p:nvPr/>
          </p:nvCxnSpPr>
          <p:spPr>
            <a:xfrm flipV="1">
              <a:off x="452635" y="4154104"/>
              <a:ext cx="4222115" cy="8255"/>
            </a:xfrm>
            <a:prstGeom prst="line">
              <a:avLst/>
            </a:prstGeom>
            <a:ln>
              <a:solidFill>
                <a:schemeClr val="bg1">
                  <a:lumMod val="85000"/>
                  <a:alpha val="58000"/>
                </a:schemeClr>
              </a:solidFill>
            </a:ln>
          </p:spPr>
          <p:style>
            <a:lnRef idx="1">
              <a:schemeClr val="accent1"/>
            </a:lnRef>
            <a:fillRef idx="0">
              <a:schemeClr val="accent1"/>
            </a:fillRef>
            <a:effectRef idx="0">
              <a:schemeClr val="accent1"/>
            </a:effectRef>
            <a:fontRef idx="minor">
              <a:schemeClr val="tx1"/>
            </a:fontRef>
          </p:style>
        </p:cxnSp>
        <p:sp>
          <p:nvSpPr>
            <p:cNvPr id="42" name="Rectangle 43"/>
            <p:cNvSpPr/>
            <p:nvPr/>
          </p:nvSpPr>
          <p:spPr>
            <a:xfrm>
              <a:off x="718382" y="4495575"/>
              <a:ext cx="1226344" cy="437673"/>
            </a:xfrm>
            <a:prstGeom prst="rect">
              <a:avLst/>
            </a:prstGeom>
          </p:spPr>
          <p:txBody>
            <a:bodyPr wrap="square">
              <a:spAutoFit/>
            </a:bodyPr>
            <a:lstStyle/>
            <a:p>
              <a:pPr defTabSz="914400"/>
              <a:r>
                <a:rPr lang="en-US" sz="3200" b="1" spc="133" dirty="0">
                  <a:solidFill>
                    <a:srgbClr val="AE1A2C"/>
                  </a:solidFill>
                  <a:latin typeface="Times New Roman Regular" panose="02020503050405090304" charset="0"/>
                  <a:ea typeface="Open Sans Light" panose="020B0306030504020204" pitchFamily="34" charset="0"/>
                  <a:cs typeface="Times New Roman Regular" panose="02020503050405090304" charset="0"/>
                </a:rPr>
                <a:t>2</a:t>
              </a:r>
              <a:r>
                <a:rPr lang="en-US" sz="1465" b="1" spc="133" dirty="0">
                  <a:solidFill>
                    <a:srgbClr val="AE1A2C"/>
                  </a:solidFill>
                  <a:latin typeface="Times New Roman Regular" panose="02020503050405090304" charset="0"/>
                  <a:ea typeface="Open Sans Light" panose="020B0306030504020204" pitchFamily="34" charset="0"/>
                  <a:cs typeface="Times New Roman Regular" panose="02020503050405090304" charset="0"/>
                </a:rPr>
                <a:t>/</a:t>
              </a:r>
              <a:endParaRPr lang="en-US" sz="1465" b="1" spc="133" dirty="0">
                <a:solidFill>
                  <a:srgbClr val="AE1A2C"/>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43" name="Rectangle 45"/>
            <p:cNvSpPr/>
            <p:nvPr/>
          </p:nvSpPr>
          <p:spPr>
            <a:xfrm>
              <a:off x="1360844" y="4351748"/>
              <a:ext cx="3088481" cy="880109"/>
            </a:xfrm>
            <a:prstGeom prst="rect">
              <a:avLst/>
            </a:prstGeom>
          </p:spPr>
          <p:txBody>
            <a:bodyPr wrap="square">
              <a:spAutoFit/>
            </a:bodyPr>
            <a:lstStyle/>
            <a:p>
              <a:pPr defTabSz="914400">
                <a:lnSpc>
                  <a:spcPct val="110000"/>
                </a:lnSpc>
              </a:pPr>
              <a:r>
                <a:rPr lang="en-US" altLang="zh-CN" sz="1600" dirty="0">
                  <a:solidFill>
                    <a:schemeClr val="tx1">
                      <a:lumMod val="65000"/>
                      <a:lumOff val="35000"/>
                    </a:schemeClr>
                  </a:solidFill>
                  <a:latin typeface="Times New Roman Regular" panose="02020503050405090304" charset="0"/>
                  <a:ea typeface="微软雅黑 Light" panose="020B0502040204020203" charset="-122"/>
                  <a:cs typeface="Times New Roman Regular" panose="02020503050405090304" charset="0"/>
                </a:rPr>
                <a:t>The vast majority of genes are present in only a single cancer, indicating a high degree of specificity across cancers, with only a few combinations of intersecting genes.</a:t>
              </a:r>
              <a:endParaRPr lang="en-US" altLang="zh-CN" sz="1600" dirty="0">
                <a:solidFill>
                  <a:schemeClr val="tx1">
                    <a:lumMod val="65000"/>
                    <a:lumOff val="35000"/>
                  </a:schemeClr>
                </a:solidFill>
                <a:latin typeface="Times New Roman Regular" panose="02020503050405090304" charset="0"/>
                <a:ea typeface="微软雅黑 Light" panose="020B0502040204020203" charset="-122"/>
                <a:cs typeface="Times New Roman Regular" panose="02020503050405090304" charset="0"/>
              </a:endParaRPr>
            </a:p>
          </p:txBody>
        </p:sp>
      </p:grpSp>
      <p:cxnSp>
        <p:nvCxnSpPr>
          <p:cNvPr id="45" name="Straight Connector 21"/>
          <p:cNvCxnSpPr/>
          <p:nvPr/>
        </p:nvCxnSpPr>
        <p:spPr>
          <a:xfrm flipV="1">
            <a:off x="1015909" y="7419725"/>
            <a:ext cx="5629487" cy="11007"/>
          </a:xfrm>
          <a:prstGeom prst="line">
            <a:avLst/>
          </a:prstGeom>
          <a:ln>
            <a:solidFill>
              <a:schemeClr val="bg1">
                <a:lumMod val="85000"/>
                <a:alpha val="58000"/>
              </a:schemeClr>
            </a:solidFill>
          </a:ln>
        </p:spPr>
        <p:style>
          <a:lnRef idx="1">
            <a:schemeClr val="accent1"/>
          </a:lnRef>
          <a:fillRef idx="0">
            <a:schemeClr val="accent1"/>
          </a:fillRef>
          <a:effectRef idx="0">
            <a:schemeClr val="accent1"/>
          </a:effectRef>
          <a:fontRef idx="minor">
            <a:schemeClr val="tx1"/>
          </a:fontRef>
        </p:style>
      </p:cxnSp>
      <p:sp>
        <p:nvSpPr>
          <p:cNvPr id="5" name="Venn diagram"/>
          <p:cNvSpPr txBox="1"/>
          <p:nvPr/>
        </p:nvSpPr>
        <p:spPr>
          <a:xfrm>
            <a:off x="1300480" y="4010025"/>
            <a:ext cx="4381500" cy="367030"/>
          </a:xfrm>
          <a:prstGeom prst="rect">
            <a:avLst/>
          </a:prstGeom>
          <a:ln w="12700">
            <a:miter lim="400000"/>
          </a:ln>
        </p:spPr>
        <p:txBody>
          <a:bodyPr wrap="square" lIns="25400" tIns="25400" rIns="25400" bIns="25400">
            <a:noAutofit/>
          </a:bodyPr>
          <a:lstStyle>
            <a:lvl1pPr algn="l">
              <a:defRPr sz="6000">
                <a:solidFill>
                  <a:srgbClr val="060708"/>
                </a:solidFill>
              </a:defRPr>
            </a:lvl1pPr>
          </a:lstStyle>
          <a:p>
            <a:pPr algn="ctr"/>
            <a:r>
              <a:rPr lang="en-US" altLang="zh-CN" sz="1200" b="1" dirty="0">
                <a:solidFill>
                  <a:srgbClr val="AE1A2C"/>
                </a:solidFill>
                <a:latin typeface="Times New Roman Regular" panose="02020503050405090304" charset="0"/>
                <a:ea typeface="MiSans Heavy" panose="00000A00000000000000" pitchFamily="2" charset="-122"/>
                <a:cs typeface="Times New Roman Regular" panose="02020503050405090304" charset="0"/>
              </a:rPr>
              <a:t>Feature Importance Summary (Top 20 Genes per Cancer)</a:t>
            </a:r>
            <a:endParaRPr lang="en-US" altLang="zh-CN" sz="1200" b="1" dirty="0">
              <a:solidFill>
                <a:srgbClr val="AE1A2C"/>
              </a:solidFill>
              <a:latin typeface="Times New Roman Regular" panose="02020503050405090304" charset="0"/>
              <a:ea typeface="MiSans Heavy" panose="00000A00000000000000" pitchFamily="2" charset="-122"/>
              <a:cs typeface="Times New Roman Regular" panose="02020503050405090304" charset="0"/>
            </a:endParaRPr>
          </a:p>
        </p:txBody>
      </p:sp>
      <p:sp>
        <p:nvSpPr>
          <p:cNvPr id="7" name="Venn diagram"/>
          <p:cNvSpPr txBox="1"/>
          <p:nvPr/>
        </p:nvSpPr>
        <p:spPr>
          <a:xfrm>
            <a:off x="7620635" y="3985260"/>
            <a:ext cx="4292600" cy="382270"/>
          </a:xfrm>
          <a:prstGeom prst="rect">
            <a:avLst/>
          </a:prstGeom>
          <a:ln w="12700">
            <a:miter lim="400000"/>
          </a:ln>
        </p:spPr>
        <p:txBody>
          <a:bodyPr wrap="square" lIns="25400" tIns="25400" rIns="25400" bIns="25400">
            <a:noAutofit/>
          </a:bodyPr>
          <a:lstStyle>
            <a:lvl1pPr algn="l">
              <a:defRPr sz="6000">
                <a:solidFill>
                  <a:srgbClr val="060708"/>
                </a:solidFill>
              </a:defRPr>
            </a:lvl1pPr>
          </a:lstStyle>
          <a:p>
            <a:pPr algn="ctr">
              <a:buClrTx/>
              <a:buSzTx/>
              <a:buFontTx/>
            </a:pPr>
            <a:r>
              <a:rPr lang="en-US" altLang="zh-CN" sz="1200" b="1" dirty="0">
                <a:solidFill>
                  <a:srgbClr val="AE1A2C"/>
                </a:solidFill>
                <a:latin typeface="Times New Roman Regular" panose="02020503050405090304" charset="0"/>
                <a:ea typeface="MiSans Heavy" panose="00000A00000000000000" pitchFamily="2" charset="-122"/>
                <a:cs typeface="Times New Roman Regular" panose="02020503050405090304" charset="0"/>
                <a:sym typeface="+mn-ea"/>
              </a:rPr>
              <a:t>Frequently enriched pathways and their hit genes</a:t>
            </a:r>
            <a:endParaRPr lang="en-US" altLang="zh-CN" sz="1200" b="1" dirty="0">
              <a:solidFill>
                <a:srgbClr val="AE1A2C"/>
              </a:solidFill>
              <a:latin typeface="Times New Roman Regular" panose="02020503050405090304" charset="0"/>
              <a:ea typeface="MiSans Heavy" panose="00000A00000000000000" pitchFamily="2" charset="-122"/>
              <a:cs typeface="Times New Roman Regular" panose="02020503050405090304" charset="0"/>
            </a:endParaRPr>
          </a:p>
        </p:txBody>
      </p:sp>
      <p:pic>
        <p:nvPicPr>
          <p:cNvPr id="31" name="图片 30"/>
          <p:cNvPicPr>
            <a:picLocks noChangeAspect="1"/>
          </p:cNvPicPr>
          <p:nvPr/>
        </p:nvPicPr>
        <p:blipFill>
          <a:blip r:embed="rId3"/>
          <a:srcRect r="2013"/>
          <a:stretch>
            <a:fillRect/>
          </a:stretch>
        </p:blipFill>
        <p:spPr>
          <a:xfrm>
            <a:off x="1300480" y="1149350"/>
            <a:ext cx="4519295" cy="2830195"/>
          </a:xfrm>
          <a:prstGeom prst="rect">
            <a:avLst/>
          </a:prstGeom>
        </p:spPr>
      </p:pic>
      <p:cxnSp>
        <p:nvCxnSpPr>
          <p:cNvPr id="9" name="直接连接符 8"/>
          <p:cNvCxnSpPr/>
          <p:nvPr userDrawn="1"/>
        </p:nvCxnSpPr>
        <p:spPr>
          <a:xfrm>
            <a:off x="300990" y="6567805"/>
            <a:ext cx="11612880" cy="0"/>
          </a:xfrm>
          <a:prstGeom prst="line">
            <a:avLst/>
          </a:prstGeom>
          <a:ln>
            <a:solidFill>
              <a:srgbClr val="EEB6B0"/>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userDrawn="1"/>
        </p:nvSpPr>
        <p:spPr>
          <a:xfrm>
            <a:off x="266700" y="6604000"/>
            <a:ext cx="10967720" cy="327660"/>
          </a:xfrm>
          <a:prstGeom prst="rect">
            <a:avLst/>
          </a:prstGeom>
          <a:noFill/>
        </p:spPr>
        <p:txBody>
          <a:bodyPr wrap="none" rtlCol="0">
            <a:noAutofit/>
          </a:bodyPr>
          <a:p>
            <a:pPr algn="l"/>
            <a:r>
              <a:rPr lang="en-US" altLang="zh-CN" sz="600" spc="300"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rPr>
              <a:t>Project Workflow Overview</a:t>
            </a:r>
            <a:endParaRPr lang="en-US" altLang="zh-CN" sz="600" spc="300"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endParaRPr>
          </a:p>
          <a:p>
            <a:pPr algn="l"/>
            <a:endParaRPr lang="en-US" altLang="zh-CN" sz="600" spc="300"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endParaRPr>
          </a:p>
        </p:txBody>
      </p:sp>
      <p:grpSp>
        <p:nvGrpSpPr>
          <p:cNvPr id="12" name="组合 11"/>
          <p:cNvGrpSpPr/>
          <p:nvPr/>
        </p:nvGrpSpPr>
        <p:grpSpPr>
          <a:xfrm>
            <a:off x="301058" y="259550"/>
            <a:ext cx="11613108" cy="495853"/>
            <a:chOff x="301058" y="259550"/>
            <a:chExt cx="11613108" cy="495853"/>
          </a:xfrm>
        </p:grpSpPr>
        <p:sp>
          <p:nvSpPr>
            <p:cNvPr id="13" name="矩形: 圆角 8"/>
            <p:cNvSpPr/>
            <p:nvPr userDrawn="1"/>
          </p:nvSpPr>
          <p:spPr>
            <a:xfrm flipV="1">
              <a:off x="2170802" y="709684"/>
              <a:ext cx="9743364" cy="45719"/>
            </a:xfrm>
            <a:prstGeom prst="roundRect">
              <a:avLst/>
            </a:prstGeom>
            <a:solidFill>
              <a:srgbClr val="8C0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Times New Roman Regular" panose="02020503050405090304" charset="0"/>
                <a:cs typeface="Times New Roman Regular" panose="02020503050405090304" charset="0"/>
              </a:endParaRPr>
            </a:p>
          </p:txBody>
        </p:sp>
        <p:sp>
          <p:nvSpPr>
            <p:cNvPr id="19" name="矩形: 圆角 12"/>
            <p:cNvSpPr/>
            <p:nvPr userDrawn="1"/>
          </p:nvSpPr>
          <p:spPr>
            <a:xfrm flipV="1">
              <a:off x="301058" y="709682"/>
              <a:ext cx="1801505" cy="45719"/>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61" name="矩形: 对角圆角 60"/>
            <p:cNvSpPr/>
            <p:nvPr userDrawn="1"/>
          </p:nvSpPr>
          <p:spPr>
            <a:xfrm>
              <a:off x="301058" y="259550"/>
              <a:ext cx="1801505" cy="359073"/>
            </a:xfrm>
            <a:prstGeom prst="round2DiagRect">
              <a:avLst>
                <a:gd name="adj1" fmla="val 33096"/>
                <a:gd name="adj2" fmla="val 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Times New Roman Regular" panose="02020503050405090304" charset="0"/>
                  <a:cs typeface="Times New Roman Regular" panose="02020503050405090304" charset="0"/>
                </a:rPr>
                <a:t>Group </a:t>
              </a:r>
              <a:r>
                <a:rPr lang="en-US" altLang="zh-CN">
                  <a:latin typeface="Times New Roman Regular" panose="02020503050405090304" charset="0"/>
                  <a:cs typeface="Times New Roman Regular" panose="02020503050405090304" charset="0"/>
                </a:rPr>
                <a:t>M-28</a:t>
              </a:r>
              <a:endParaRPr lang="en-US" altLang="zh-CN">
                <a:latin typeface="Times New Roman Regular" panose="02020503050405090304" charset="0"/>
                <a:cs typeface="Times New Roman Regular" panose="02020503050405090304" charset="0"/>
              </a:endParaRPr>
            </a:p>
          </p:txBody>
        </p:sp>
        <p:sp>
          <p:nvSpPr>
            <p:cNvPr id="62" name="Venn diagram"/>
            <p:cNvSpPr txBox="1"/>
            <p:nvPr userDrawn="1"/>
          </p:nvSpPr>
          <p:spPr>
            <a:xfrm>
              <a:off x="2291783" y="259550"/>
              <a:ext cx="7609840" cy="35814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rPr>
                <a:t>Results of the forest-following modelling</a:t>
              </a:r>
              <a:endPar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endParaRPr>
            </a:p>
          </p:txBody>
        </p:sp>
      </p:grpSp>
      <p:pic>
        <p:nvPicPr>
          <p:cNvPr id="86" name="图片 85" descr="1fb514cb1a5e54e89daecde6a77344a3"/>
          <p:cNvPicPr>
            <a:picLocks noChangeAspect="1"/>
          </p:cNvPicPr>
          <p:nvPr/>
        </p:nvPicPr>
        <p:blipFill>
          <a:blip r:embed="rId4"/>
          <a:stretch>
            <a:fillRect/>
          </a:stretch>
        </p:blipFill>
        <p:spPr>
          <a:xfrm>
            <a:off x="10278745" y="144780"/>
            <a:ext cx="1635125" cy="473710"/>
          </a:xfrm>
          <a:prstGeom prst="rect">
            <a:avLst/>
          </a:prstGeom>
        </p:spPr>
      </p:pic>
      <p:sp>
        <p:nvSpPr>
          <p:cNvPr id="20" name="矩形 1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p:cNvSpPr/>
          <p:nvPr/>
        </p:nvSpPr>
        <p:spPr>
          <a:xfrm>
            <a:off x="3" y="0"/>
            <a:ext cx="164956" cy="6858000"/>
          </a:xfrm>
          <a:prstGeom prst="rect">
            <a:avLst/>
          </a:prstGeom>
          <a:solidFill>
            <a:srgbClr val="F0E1DB">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914400">
              <a:defRPr/>
            </a:pPr>
            <a:endParaRPr lang="zh-CN" altLang="en-US" sz="1350">
              <a:solidFill>
                <a:prstClr val="white"/>
              </a:solidFill>
              <a:latin typeface="Times New Roman Regular" panose="02020503050405090304" charset="0"/>
              <a:ea typeface="宋体" pitchFamily="2" charset="-122"/>
              <a:cs typeface="Times New Roman Regular" panose="02020503050405090304" charset="0"/>
            </a:endParaRPr>
          </a:p>
        </p:txBody>
      </p:sp>
      <p:pic>
        <p:nvPicPr>
          <p:cNvPr id="35" name="图片 34"/>
          <p:cNvPicPr>
            <a:picLocks noChangeAspect="1"/>
          </p:cNvPicPr>
          <p:nvPr/>
        </p:nvPicPr>
        <p:blipFill>
          <a:blip r:embed="rId5"/>
          <a:srcRect l="5896"/>
          <a:stretch>
            <a:fillRect/>
          </a:stretch>
        </p:blipFill>
        <p:spPr>
          <a:xfrm>
            <a:off x="7988300" y="1186815"/>
            <a:ext cx="3442970" cy="26047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Rounded Corners 84"/>
          <p:cNvSpPr/>
          <p:nvPr>
            <p:custDataLst>
              <p:tags r:id="rId1"/>
            </p:custDataLst>
          </p:nvPr>
        </p:nvSpPr>
        <p:spPr>
          <a:xfrm>
            <a:off x="6904990" y="1170940"/>
            <a:ext cx="4982210" cy="4882515"/>
          </a:xfrm>
          <a:prstGeom prst="roundRect">
            <a:avLst>
              <a:gd name="adj" fmla="val 2745"/>
            </a:avLst>
          </a:prstGeom>
          <a:solidFill>
            <a:schemeClr val="bg1"/>
          </a:solidFill>
          <a:ln>
            <a:noFill/>
          </a:ln>
          <a:effectLst>
            <a:outerShdw blurRad="762000" dist="139700" dir="5400000" sx="93000" sy="93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latin typeface="OPPOSans H" panose="00020600040101010101" charset="-122"/>
              <a:ea typeface="OPPOSans H" panose="00020600040101010101" charset="-122"/>
            </a:endParaRPr>
          </a:p>
        </p:txBody>
      </p:sp>
      <p:sp>
        <p:nvSpPr>
          <p:cNvPr id="14" name="矩形 1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p:cNvSpPr/>
          <p:nvPr/>
        </p:nvSpPr>
        <p:spPr>
          <a:xfrm>
            <a:off x="3" y="0"/>
            <a:ext cx="164956" cy="6858000"/>
          </a:xfrm>
          <a:prstGeom prst="rect">
            <a:avLst/>
          </a:prstGeom>
          <a:solidFill>
            <a:srgbClr val="F0E1DB">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1350">
              <a:solidFill>
                <a:prstClr val="white"/>
              </a:solidFill>
              <a:latin typeface="Times New Roman Regular" panose="02020503050405090304" charset="0"/>
              <a:ea typeface="宋体" pitchFamily="2" charset="-122"/>
              <a:cs typeface="Times New Roman Regular" panose="02020503050405090304" charset="0"/>
            </a:endParaRPr>
          </a:p>
        </p:txBody>
      </p:sp>
      <p:grpSp>
        <p:nvGrpSpPr>
          <p:cNvPr id="3" name="组合 2"/>
          <p:cNvGrpSpPr/>
          <p:nvPr/>
        </p:nvGrpSpPr>
        <p:grpSpPr>
          <a:xfrm>
            <a:off x="301058" y="259550"/>
            <a:ext cx="11613108" cy="495853"/>
            <a:chOff x="301058" y="259550"/>
            <a:chExt cx="11613108" cy="495853"/>
          </a:xfrm>
        </p:grpSpPr>
        <p:sp>
          <p:nvSpPr>
            <p:cNvPr id="5" name="矩形: 圆角 8"/>
            <p:cNvSpPr/>
            <p:nvPr userDrawn="1"/>
          </p:nvSpPr>
          <p:spPr>
            <a:xfrm flipV="1">
              <a:off x="2170802" y="709684"/>
              <a:ext cx="9743364" cy="45719"/>
            </a:xfrm>
            <a:prstGeom prst="roundRect">
              <a:avLst/>
            </a:prstGeom>
            <a:solidFill>
              <a:srgbClr val="8C0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Times New Roman Regular" panose="02020503050405090304" charset="0"/>
                <a:cs typeface="Times New Roman Regular" panose="02020503050405090304" charset="0"/>
              </a:endParaRPr>
            </a:p>
          </p:txBody>
        </p:sp>
        <p:sp>
          <p:nvSpPr>
            <p:cNvPr id="13" name="矩形: 圆角 12"/>
            <p:cNvSpPr/>
            <p:nvPr userDrawn="1"/>
          </p:nvSpPr>
          <p:spPr>
            <a:xfrm flipV="1">
              <a:off x="301058" y="709682"/>
              <a:ext cx="1801505" cy="45719"/>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61" name="矩形: 对角圆角 60"/>
            <p:cNvSpPr/>
            <p:nvPr userDrawn="1"/>
          </p:nvSpPr>
          <p:spPr>
            <a:xfrm>
              <a:off x="301058" y="259550"/>
              <a:ext cx="1801505" cy="359073"/>
            </a:xfrm>
            <a:prstGeom prst="round2DiagRect">
              <a:avLst>
                <a:gd name="adj1" fmla="val 33096"/>
                <a:gd name="adj2" fmla="val 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Times New Roman Regular" panose="02020503050405090304" charset="0"/>
                  <a:cs typeface="Times New Roman Regular" panose="02020503050405090304" charset="0"/>
                </a:rPr>
                <a:t>Group </a:t>
              </a:r>
              <a:r>
                <a:rPr lang="en-US" altLang="zh-CN">
                  <a:latin typeface="Times New Roman Regular" panose="02020503050405090304" charset="0"/>
                  <a:cs typeface="Times New Roman Regular" panose="02020503050405090304" charset="0"/>
                </a:rPr>
                <a:t>M-28</a:t>
              </a:r>
              <a:endParaRPr lang="en-US" altLang="zh-CN">
                <a:latin typeface="Times New Roman Regular" panose="02020503050405090304" charset="0"/>
                <a:cs typeface="Times New Roman Regular" panose="02020503050405090304" charset="0"/>
              </a:endParaRPr>
            </a:p>
          </p:txBody>
        </p:sp>
        <p:sp>
          <p:nvSpPr>
            <p:cNvPr id="62" name="Venn diagram"/>
            <p:cNvSpPr txBox="1"/>
            <p:nvPr userDrawn="1"/>
          </p:nvSpPr>
          <p:spPr>
            <a:xfrm>
              <a:off x="2291783" y="259550"/>
              <a:ext cx="5944870" cy="35814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defTabSz="914400">
                <a:lnSpc>
                  <a:spcPct val="100000"/>
                </a:lnSpc>
              </a:pPr>
              <a:r>
                <a:rPr lang="en-US" altLang="zh-CN" sz="2000" b="1">
                  <a:solidFill>
                    <a:srgbClr val="AE1A2C"/>
                  </a:solidFill>
                  <a:latin typeface="Times New Roman Bold" panose="02020503050405090304" charset="0"/>
                  <a:ea typeface="方正小标宋简体" panose="02010601030101010101" charset="-122"/>
                  <a:cs typeface="Times New Roman Bold" panose="02020503050405090304" charset="0"/>
                  <a:sym typeface="+mn-ea"/>
                </a:rPr>
                <a:t>Enrichment Analysis</a:t>
              </a:r>
              <a:r>
                <a:rPr lang="en-US" altLang="zh-CN" sz="2000">
                  <a:solidFill>
                    <a:srgbClr val="AE1A2C"/>
                  </a:solidFill>
                  <a:latin typeface="Times New Roman Regular" panose="02020503050405090304" charset="0"/>
                  <a:ea typeface="方正小标宋简体" panose="02010601030101010101" charset="-122"/>
                  <a:cs typeface="Times New Roman Regular" panose="02020503050405090304" charset="0"/>
                  <a:sym typeface="+mn-ea"/>
                </a:rPr>
                <a:t> </a:t>
              </a:r>
              <a:endPar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endParaRPr>
            </a:p>
          </p:txBody>
        </p:sp>
      </p:grpSp>
      <p:pic>
        <p:nvPicPr>
          <p:cNvPr id="86" name="图片 85" descr="1fb514cb1a5e54e89daecde6a77344a3"/>
          <p:cNvPicPr>
            <a:picLocks noChangeAspect="1"/>
          </p:cNvPicPr>
          <p:nvPr/>
        </p:nvPicPr>
        <p:blipFill>
          <a:blip r:embed="rId2"/>
          <a:stretch>
            <a:fillRect/>
          </a:stretch>
        </p:blipFill>
        <p:spPr>
          <a:xfrm>
            <a:off x="10278745" y="144780"/>
            <a:ext cx="1635125" cy="473710"/>
          </a:xfrm>
          <a:prstGeom prst="rect">
            <a:avLst/>
          </a:prstGeom>
        </p:spPr>
      </p:pic>
      <p:cxnSp>
        <p:nvCxnSpPr>
          <p:cNvPr id="8" name="直接连接符 7"/>
          <p:cNvCxnSpPr/>
          <p:nvPr userDrawn="1"/>
        </p:nvCxnSpPr>
        <p:spPr>
          <a:xfrm>
            <a:off x="300990" y="6567805"/>
            <a:ext cx="11612880" cy="0"/>
          </a:xfrm>
          <a:prstGeom prst="line">
            <a:avLst/>
          </a:prstGeom>
          <a:ln>
            <a:solidFill>
              <a:srgbClr val="EEB6B0"/>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userDrawn="1"/>
        </p:nvSpPr>
        <p:spPr>
          <a:xfrm>
            <a:off x="266700" y="6604000"/>
            <a:ext cx="10967720" cy="327660"/>
          </a:xfrm>
          <a:prstGeom prst="rect">
            <a:avLst/>
          </a:prstGeom>
          <a:noFill/>
        </p:spPr>
        <p:txBody>
          <a:bodyPr wrap="none" rtlCol="0">
            <a:noAutofit/>
          </a:bodyPr>
          <a:p>
            <a:pPr algn="l"/>
            <a:r>
              <a:rPr lang="en-US" altLang="zh-CN" sz="600" spc="300"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rPr>
              <a:t>Project Workflow Overview</a:t>
            </a:r>
            <a:endParaRPr lang="en-US" altLang="zh-CN" sz="600" spc="300"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endParaRPr>
          </a:p>
          <a:p>
            <a:pPr algn="l"/>
            <a:endParaRPr lang="en-US" altLang="zh-CN" sz="600" spc="300"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endParaRPr>
          </a:p>
        </p:txBody>
      </p:sp>
      <p:sp>
        <p:nvSpPr>
          <p:cNvPr id="32" name="标题 3"/>
          <p:cNvSpPr txBox="1"/>
          <p:nvPr/>
        </p:nvSpPr>
        <p:spPr>
          <a:xfrm>
            <a:off x="658495" y="1075055"/>
            <a:ext cx="6016625" cy="16129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914400">
              <a:lnSpc>
                <a:spcPct val="100000"/>
              </a:lnSpc>
            </a:pPr>
            <a:r>
              <a:rPr lang="en-US" altLang="zh-CN" sz="2400">
                <a:solidFill>
                  <a:srgbClr val="AE1A2C"/>
                </a:solidFill>
                <a:latin typeface="Times New Roman Regular" panose="02020503050405090304" charset="0"/>
                <a:ea typeface="方正小标宋简体" panose="02010601030101010101" charset="-122"/>
                <a:cs typeface="Times New Roman Regular" panose="02020503050405090304" charset="0"/>
              </a:rPr>
              <a:t>In the next step </a:t>
            </a:r>
            <a:endParaRPr lang="en-US" altLang="zh-CN" sz="2400">
              <a:solidFill>
                <a:srgbClr val="AE1A2C"/>
              </a:solidFill>
              <a:latin typeface="Times New Roman Regular" panose="02020503050405090304" charset="0"/>
              <a:ea typeface="方正小标宋简体" panose="02010601030101010101" charset="-122"/>
              <a:cs typeface="Times New Roman Regular" panose="02020503050405090304" charset="0"/>
            </a:endParaRPr>
          </a:p>
          <a:p>
            <a:pPr defTabSz="914400">
              <a:lnSpc>
                <a:spcPct val="100000"/>
              </a:lnSpc>
            </a:pPr>
            <a:r>
              <a:rPr lang="en-US" altLang="zh-CN" sz="3600" b="1">
                <a:solidFill>
                  <a:srgbClr val="AE1A2C"/>
                </a:solidFill>
                <a:latin typeface="Times New Roman Bold" panose="02020503050405090304" charset="0"/>
                <a:ea typeface="方正小标宋简体" panose="02010601030101010101" charset="-122"/>
                <a:cs typeface="Times New Roman Bold" panose="02020503050405090304" charset="0"/>
              </a:rPr>
              <a:t>Enrichment </a:t>
            </a:r>
            <a:r>
              <a:rPr lang="en-US" altLang="zh-CN" sz="3600" b="1">
                <a:solidFill>
                  <a:srgbClr val="AE1A2C"/>
                </a:solidFill>
                <a:latin typeface="Times New Roman Bold" panose="02020503050405090304" charset="0"/>
                <a:ea typeface="方正小标宋简体" panose="02010601030101010101" charset="-122"/>
                <a:cs typeface="Times New Roman Bold" panose="02020503050405090304" charset="0"/>
              </a:rPr>
              <a:t>Analysis</a:t>
            </a:r>
            <a:r>
              <a:rPr lang="en-US" altLang="zh-CN" sz="2400">
                <a:solidFill>
                  <a:srgbClr val="AE1A2C"/>
                </a:solidFill>
                <a:latin typeface="Times New Roman Regular" panose="02020503050405090304" charset="0"/>
                <a:ea typeface="方正小标宋简体" panose="02010601030101010101" charset="-122"/>
                <a:cs typeface="Times New Roman Regular" panose="02020503050405090304" charset="0"/>
              </a:rPr>
              <a:t> </a:t>
            </a:r>
            <a:endParaRPr lang="en-US" altLang="zh-CN" sz="2400">
              <a:solidFill>
                <a:srgbClr val="AE1A2C"/>
              </a:solidFill>
              <a:latin typeface="Times New Roman Regular" panose="02020503050405090304" charset="0"/>
              <a:ea typeface="方正小标宋简体" panose="02010601030101010101" charset="-122"/>
              <a:cs typeface="Times New Roman Regular" panose="02020503050405090304" charset="0"/>
            </a:endParaRPr>
          </a:p>
          <a:p>
            <a:pPr defTabSz="914400">
              <a:lnSpc>
                <a:spcPct val="100000"/>
              </a:lnSpc>
            </a:pPr>
            <a:r>
              <a:rPr lang="en-US" altLang="zh-CN" sz="2400">
                <a:solidFill>
                  <a:srgbClr val="AE1A2C"/>
                </a:solidFill>
                <a:latin typeface="Times New Roman Regular" panose="02020503050405090304" charset="0"/>
                <a:ea typeface="方正小标宋简体" panose="02010601030101010101" charset="-122"/>
                <a:cs typeface="Times New Roman Regular" panose="02020503050405090304" charset="0"/>
              </a:rPr>
              <a:t>of top20 signature genes for each cancer </a:t>
            </a:r>
            <a:endParaRPr lang="zh-CN" altLang="en-US" sz="2400">
              <a:solidFill>
                <a:srgbClr val="AE1A2C"/>
              </a:solidFill>
              <a:latin typeface="Times New Roman Regular" panose="02020503050405090304" charset="0"/>
              <a:ea typeface="方正小标宋简体" panose="02010601030101010101" charset="-122"/>
              <a:cs typeface="Times New Roman Regular" panose="02020503050405090304" charset="0"/>
            </a:endParaRPr>
          </a:p>
          <a:p>
            <a:pPr defTabSz="914400">
              <a:lnSpc>
                <a:spcPct val="100000"/>
              </a:lnSpc>
            </a:pPr>
            <a:endParaRPr lang="zh-CN" altLang="en-US" sz="2400">
              <a:solidFill>
                <a:srgbClr val="AE1A2C"/>
              </a:solidFill>
              <a:latin typeface="Times New Roman Regular" panose="02020503050405090304" charset="0"/>
              <a:ea typeface="方正小标宋简体" panose="02010601030101010101" charset="-122"/>
              <a:cs typeface="Times New Roman Regular" panose="02020503050405090304" charset="0"/>
            </a:endParaRPr>
          </a:p>
        </p:txBody>
      </p:sp>
      <p:sp>
        <p:nvSpPr>
          <p:cNvPr id="33" name="文本框 32"/>
          <p:cNvSpPr txBox="1"/>
          <p:nvPr/>
        </p:nvSpPr>
        <p:spPr>
          <a:xfrm>
            <a:off x="601345" y="2738755"/>
            <a:ext cx="5944870" cy="1698625"/>
          </a:xfrm>
          <a:prstGeom prst="rect">
            <a:avLst/>
          </a:prstGeom>
          <a:noFill/>
        </p:spPr>
        <p:txBody>
          <a:bodyPr wrap="square" rtlCol="0">
            <a:noAutofit/>
          </a:bodyPr>
          <a:lstStyle/>
          <a:p>
            <a:pPr defTabSz="914400">
              <a:lnSpc>
                <a:spcPct val="150000"/>
              </a:lnSpc>
            </a:pPr>
            <a:r>
              <a:rPr lang="en-US" altLang="zh-CN" sz="1600">
                <a:solidFill>
                  <a:srgbClr val="FFFFFF">
                    <a:lumMod val="50000"/>
                  </a:srgbClr>
                </a:solidFill>
                <a:latin typeface="Times New Roman Regular" panose="02020503050405090304" charset="0"/>
                <a:ea typeface="微软雅黑 Light" panose="020B0502040204020203" charset="-122"/>
                <a:cs typeface="Times New Roman Regular" panose="02020503050405090304" charset="0"/>
              </a:rPr>
              <a:t>KEGG pathways that were significantly enriched in five cancers (≥3 cancers) and their hit genes, it can be seen that three pathways, Calcium signaling, PI3K-Akt, and Rap1 signaling, were recurring in different cancers, suggesting that these pathways may be core regulatory networks across cancers. </a:t>
            </a:r>
            <a:endParaRPr lang="en-US" altLang="zh-CN" sz="1600">
              <a:solidFill>
                <a:srgbClr val="FFFFFF">
                  <a:lumMod val="50000"/>
                </a:srgbClr>
              </a:solidFill>
              <a:latin typeface="Times New Roman Regular" panose="02020503050405090304" charset="0"/>
              <a:ea typeface="微软雅黑 Light" panose="020B0502040204020203" charset="-122"/>
              <a:cs typeface="Times New Roman Regular" panose="02020503050405090304" charset="0"/>
            </a:endParaRPr>
          </a:p>
        </p:txBody>
      </p:sp>
      <p:sp>
        <p:nvSpPr>
          <p:cNvPr id="34" name="文本框 33"/>
          <p:cNvSpPr txBox="1"/>
          <p:nvPr/>
        </p:nvSpPr>
        <p:spPr>
          <a:xfrm>
            <a:off x="601345" y="4824095"/>
            <a:ext cx="5912485" cy="1445895"/>
          </a:xfrm>
          <a:prstGeom prst="rect">
            <a:avLst/>
          </a:prstGeom>
          <a:noFill/>
        </p:spPr>
        <p:txBody>
          <a:bodyPr wrap="square" rtlCol="0">
            <a:noAutofit/>
          </a:bodyPr>
          <a:lstStyle/>
          <a:p>
            <a:pPr defTabSz="914400">
              <a:lnSpc>
                <a:spcPct val="150000"/>
              </a:lnSpc>
            </a:pPr>
            <a:r>
              <a:rPr lang="en-US" altLang="zh-CN" sz="1600">
                <a:solidFill>
                  <a:srgbClr val="AE1A2C"/>
                </a:solidFill>
                <a:latin typeface="Times New Roman Regular" panose="02020503050405090304" charset="0"/>
                <a:ea typeface="微软雅黑 Light" panose="020B0502040204020203" charset="-122"/>
                <a:cs typeface="Times New Roman Regular" panose="02020503050405090304" charset="0"/>
                <a:sym typeface="+mn-ea"/>
              </a:rPr>
              <a:t>Meanwhile, the hit genes in the figure reveal the drivers of these pathways, and PIK3CD, FGF7, and PDGFA are recurring in multiple pathways, which we consider as potential pathway regulators.</a:t>
            </a:r>
            <a:endParaRPr lang="en-US" altLang="zh-CN" sz="1600">
              <a:solidFill>
                <a:srgbClr val="AE1A2C"/>
              </a:solidFill>
              <a:latin typeface="Times New Roman Regular" panose="02020503050405090304" charset="0"/>
              <a:ea typeface="微软雅黑 Light" panose="020B0502040204020203" charset="-122"/>
              <a:cs typeface="Times New Roman Regular" panose="02020503050405090304" charset="0"/>
              <a:sym typeface="+mn-ea"/>
            </a:endParaRPr>
          </a:p>
        </p:txBody>
      </p:sp>
      <p:sp>
        <p:nvSpPr>
          <p:cNvPr id="36" name="文本框 35"/>
          <p:cNvSpPr txBox="1"/>
          <p:nvPr/>
        </p:nvSpPr>
        <p:spPr>
          <a:xfrm>
            <a:off x="6675755" y="5572125"/>
            <a:ext cx="5210810" cy="327025"/>
          </a:xfrm>
          <a:prstGeom prst="rect">
            <a:avLst/>
          </a:prstGeom>
          <a:noFill/>
        </p:spPr>
        <p:txBody>
          <a:bodyPr wrap="square" rtlCol="0">
            <a:noAutofit/>
          </a:bodyPr>
          <a:p>
            <a:pPr algn="ctr">
              <a:buClrTx/>
              <a:buSzTx/>
              <a:buFontTx/>
            </a:pPr>
            <a:r>
              <a:rPr lang="en-US" altLang="zh-CN" sz="1200" b="1" dirty="0">
                <a:solidFill>
                  <a:srgbClr val="AE1A2C"/>
                </a:solidFill>
                <a:latin typeface="Times New Roman Regular" panose="02020503050405090304" charset="0"/>
                <a:ea typeface="MiSans Heavy" panose="00000A00000000000000" pitchFamily="2" charset="-122"/>
                <a:cs typeface="Times New Roman Regular" panose="02020503050405090304" charset="0"/>
                <a:sym typeface="+mn-ea"/>
              </a:rPr>
              <a:t>Gene Overlap Analysis (Top 20 sets)</a:t>
            </a:r>
            <a:endParaRPr lang="en-US" altLang="zh-CN" sz="1200" b="1" dirty="0">
              <a:solidFill>
                <a:srgbClr val="AE1A2C"/>
              </a:solidFill>
              <a:latin typeface="Times New Roman Regular" panose="02020503050405090304" charset="0"/>
              <a:ea typeface="MiSans Heavy" panose="00000A00000000000000" pitchFamily="2" charset="-122"/>
              <a:cs typeface="Times New Roman Regular" panose="02020503050405090304" charset="0"/>
            </a:endParaRPr>
          </a:p>
        </p:txBody>
      </p:sp>
      <p:pic>
        <p:nvPicPr>
          <p:cNvPr id="4" name="图片 3"/>
          <p:cNvPicPr>
            <a:picLocks noChangeAspect="1"/>
          </p:cNvPicPr>
          <p:nvPr/>
        </p:nvPicPr>
        <p:blipFill>
          <a:blip r:embed="rId3"/>
          <a:stretch>
            <a:fillRect/>
          </a:stretch>
        </p:blipFill>
        <p:spPr>
          <a:xfrm>
            <a:off x="7168515" y="1633220"/>
            <a:ext cx="4517390" cy="36849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Click="0" advTm="3000">
        <p:random/>
      </p:transition>
    </mc:Choice>
    <mc:Fallback>
      <p:transition spd="slow" advClick="0" advTm="3000">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456386" cy="6858000"/>
          </a:xfrm>
          <a:prstGeom prst="rect">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Regular" panose="02020503050405090304" charset="0"/>
              <a:cs typeface="Times New Roman Regular" panose="02020503050405090304" charset="0"/>
            </a:endParaRPr>
          </a:p>
        </p:txBody>
      </p:sp>
      <p:sp>
        <p:nvSpPr>
          <p:cNvPr id="9" name="Rectangle 8"/>
          <p:cNvSpPr/>
          <p:nvPr/>
        </p:nvSpPr>
        <p:spPr>
          <a:xfrm>
            <a:off x="6757670" y="4107180"/>
            <a:ext cx="3630930" cy="516890"/>
          </a:xfrm>
          <a:prstGeom prst="rect">
            <a:avLst/>
          </a:prstGeom>
        </p:spPr>
        <p:txBody>
          <a:bodyPr wrap="square">
            <a:noAutofit/>
          </a:bodyPr>
          <a:lstStyle/>
          <a:p>
            <a:pPr algn="just">
              <a:lnSpc>
                <a:spcPct val="110000"/>
              </a:lnSpc>
            </a:pPr>
            <a:r>
              <a:rPr lang="en-US" altLang="zh-CN" sz="1200" dirty="0">
                <a:solidFill>
                  <a:schemeClr val="tx1">
                    <a:lumMod val="75000"/>
                    <a:lumOff val="25000"/>
                  </a:schemeClr>
                </a:solidFill>
                <a:latin typeface="Times New Roman Regular" panose="02020503050405090304" charset="0"/>
                <a:ea typeface="Open Sans Light" panose="020B0306030504020204" pitchFamily="34" charset="0"/>
                <a:cs typeface="Times New Roman Regular" panose="02020503050405090304" charset="0"/>
              </a:rPr>
              <a:t>We matched differentially expressed genes (DEGs) extracted from each of the five cancer types to the TF-Target network in the ENCODE database and counted the number of DEGs regulated by each transcription factor in a single cancer type and across cancer types.</a:t>
            </a:r>
            <a:endParaRPr lang="en-US" altLang="zh-CN" sz="1200" dirty="0">
              <a:solidFill>
                <a:schemeClr val="tx1">
                  <a:lumMod val="75000"/>
                  <a:lumOff val="25000"/>
                </a:schemeClr>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23" name="Rectangle 22"/>
          <p:cNvSpPr/>
          <p:nvPr/>
        </p:nvSpPr>
        <p:spPr>
          <a:xfrm>
            <a:off x="6757670" y="3462655"/>
            <a:ext cx="4224655" cy="533400"/>
          </a:xfrm>
          <a:prstGeom prst="rect">
            <a:avLst/>
          </a:prstGeom>
        </p:spPr>
        <p:txBody>
          <a:bodyPr wrap="square">
            <a:spAutoFit/>
          </a:bodyPr>
          <a:lstStyle/>
          <a:p>
            <a:pPr algn="just">
              <a:lnSpc>
                <a:spcPct val="90000"/>
              </a:lnSpc>
            </a:pPr>
            <a:r>
              <a:rPr lang="en-US" altLang="zh-CN" sz="1600" dirty="0">
                <a:solidFill>
                  <a:schemeClr val="tx1">
                    <a:lumMod val="75000"/>
                    <a:lumOff val="25000"/>
                  </a:schemeClr>
                </a:solidFill>
                <a:latin typeface="Times New Roman Regular" panose="02020503050405090304" charset="0"/>
                <a:cs typeface="Times New Roman Regular" panose="02020503050405090304" charset="0"/>
              </a:rPr>
              <a:t>Cross-cancer key TFs identified </a:t>
            </a:r>
            <a:r>
              <a:rPr lang="en-US" altLang="zh-CN" sz="1600" dirty="0">
                <a:solidFill>
                  <a:schemeClr val="tx1">
                    <a:lumMod val="75000"/>
                    <a:lumOff val="25000"/>
                  </a:schemeClr>
                </a:solidFill>
                <a:latin typeface="Times New Roman Regular" panose="02020503050405090304" charset="0"/>
                <a:cs typeface="Times New Roman Regular" panose="02020503050405090304" charset="0"/>
              </a:rPr>
              <a:t>and identify key regulators that recur in multiple cancer types</a:t>
            </a:r>
            <a:endParaRPr lang="en-US" altLang="zh-CN" sz="1600" dirty="0">
              <a:solidFill>
                <a:schemeClr val="tx1">
                  <a:lumMod val="75000"/>
                  <a:lumOff val="25000"/>
                </a:schemeClr>
              </a:solidFill>
              <a:latin typeface="Times New Roman Regular" panose="02020503050405090304" charset="0"/>
              <a:cs typeface="Times New Roman Regular" panose="02020503050405090304" charset="0"/>
            </a:endParaRPr>
          </a:p>
        </p:txBody>
      </p:sp>
      <p:sp>
        <p:nvSpPr>
          <p:cNvPr id="14" name="Rectangle: Rounded Corners 13"/>
          <p:cNvSpPr/>
          <p:nvPr/>
        </p:nvSpPr>
        <p:spPr>
          <a:xfrm rot="5400000">
            <a:off x="5614670" y="1361440"/>
            <a:ext cx="160655" cy="160655"/>
          </a:xfrm>
          <a:prstGeom prst="roundRect">
            <a:avLst>
              <a:gd name="adj" fmla="val 50000"/>
            </a:avLst>
          </a:prstGeom>
          <a:solidFill>
            <a:srgbClr val="AE192C"/>
          </a:solidFill>
          <a:ln w="177800">
            <a:solidFill>
              <a:srgbClr val="DD919A">
                <a:alpha val="21000"/>
              </a:srgbClr>
            </a:solidFill>
          </a:ln>
          <a:effectLst>
            <a:outerShdw blurRad="469900" dist="38100" dir="2700000" sx="121000" sy="121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latin typeface="Times New Roman Regular" panose="02020503050405090304" charset="0"/>
              <a:cs typeface="Times New Roman Regular" panose="02020503050405090304" charset="0"/>
            </a:endParaRPr>
          </a:p>
        </p:txBody>
      </p:sp>
      <p:cxnSp>
        <p:nvCxnSpPr>
          <p:cNvPr id="13" name="Straight Connector 12"/>
          <p:cNvCxnSpPr>
            <a:stCxn id="14" idx="3"/>
          </p:cNvCxnSpPr>
          <p:nvPr/>
        </p:nvCxnSpPr>
        <p:spPr>
          <a:xfrm>
            <a:off x="5694680" y="1522095"/>
            <a:ext cx="0" cy="5961380"/>
          </a:xfrm>
          <a:prstGeom prst="line">
            <a:avLst/>
          </a:prstGeom>
          <a:ln w="15875" cap="flat" cmpd="sng">
            <a:solidFill>
              <a:srgbClr val="AE192C"/>
            </a:solidFill>
            <a:prstDash val="solid"/>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15" name="Rectangle: Rounded Corners 14"/>
          <p:cNvSpPr/>
          <p:nvPr/>
        </p:nvSpPr>
        <p:spPr>
          <a:xfrm rot="5400000">
            <a:off x="5614670" y="3348355"/>
            <a:ext cx="160655" cy="160655"/>
          </a:xfrm>
          <a:prstGeom prst="roundRect">
            <a:avLst>
              <a:gd name="adj" fmla="val 50000"/>
            </a:avLst>
          </a:prstGeom>
          <a:solidFill>
            <a:srgbClr val="AE192C"/>
          </a:solidFill>
          <a:ln w="177800">
            <a:solidFill>
              <a:srgbClr val="DD919A">
                <a:alpha val="21000"/>
              </a:srgbClr>
            </a:solidFill>
          </a:ln>
          <a:effectLst>
            <a:outerShdw blurRad="469900" dist="38100" dir="2700000" sx="121000" sy="121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latin typeface="Times New Roman Regular" panose="02020503050405090304" charset="0"/>
              <a:cs typeface="Times New Roman Regular" panose="02020503050405090304" charset="0"/>
            </a:endParaRPr>
          </a:p>
        </p:txBody>
      </p:sp>
      <p:sp>
        <p:nvSpPr>
          <p:cNvPr id="16" name="Rectangle: Rounded Corners 15"/>
          <p:cNvSpPr/>
          <p:nvPr/>
        </p:nvSpPr>
        <p:spPr>
          <a:xfrm rot="5400000">
            <a:off x="5614670" y="5335905"/>
            <a:ext cx="160655" cy="160655"/>
          </a:xfrm>
          <a:prstGeom prst="roundRect">
            <a:avLst>
              <a:gd name="adj" fmla="val 50000"/>
            </a:avLst>
          </a:prstGeom>
          <a:solidFill>
            <a:srgbClr val="AE192C"/>
          </a:solidFill>
          <a:ln w="177800">
            <a:solidFill>
              <a:srgbClr val="DD919A">
                <a:alpha val="21000"/>
              </a:srgbClr>
            </a:solidFill>
          </a:ln>
          <a:effectLst>
            <a:outerShdw blurRad="469900" dist="38100" dir="2700000" sx="121000" sy="121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latin typeface="Times New Roman Regular" panose="02020503050405090304" charset="0"/>
              <a:cs typeface="Times New Roman Regular" panose="02020503050405090304" charset="0"/>
            </a:endParaRPr>
          </a:p>
        </p:txBody>
      </p:sp>
      <p:sp>
        <p:nvSpPr>
          <p:cNvPr id="19" name="Rectangle: Rounded Corners 18"/>
          <p:cNvSpPr/>
          <p:nvPr/>
        </p:nvSpPr>
        <p:spPr>
          <a:xfrm rot="5400000">
            <a:off x="5614670" y="7322820"/>
            <a:ext cx="160655" cy="160655"/>
          </a:xfrm>
          <a:prstGeom prst="roundRect">
            <a:avLst>
              <a:gd name="adj" fmla="val 50000"/>
            </a:avLst>
          </a:prstGeom>
          <a:solidFill>
            <a:srgbClr val="AE192C"/>
          </a:solidFill>
          <a:ln w="177800">
            <a:solidFill>
              <a:srgbClr val="DD919A">
                <a:alpha val="21000"/>
              </a:srgbClr>
            </a:solidFill>
          </a:ln>
          <a:effectLst>
            <a:outerShdw blurRad="469900" dist="38100" dir="2700000" sx="121000" sy="121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latin typeface="Times New Roman Regular" panose="02020503050405090304" charset="0"/>
              <a:cs typeface="Times New Roman Regular" panose="02020503050405090304" charset="0"/>
            </a:endParaRPr>
          </a:p>
        </p:txBody>
      </p:sp>
      <p:grpSp>
        <p:nvGrpSpPr>
          <p:cNvPr id="4" name="Group 3"/>
          <p:cNvGrpSpPr/>
          <p:nvPr/>
        </p:nvGrpSpPr>
        <p:grpSpPr>
          <a:xfrm rot="0">
            <a:off x="609600" y="571500"/>
            <a:ext cx="4603750" cy="1740535"/>
            <a:chOff x="609600" y="571500"/>
            <a:chExt cx="4603531" cy="1740776"/>
          </a:xfrm>
        </p:grpSpPr>
        <p:sp>
          <p:nvSpPr>
            <p:cNvPr id="3" name="Rectangle 2"/>
            <p:cNvSpPr/>
            <p:nvPr/>
          </p:nvSpPr>
          <p:spPr>
            <a:xfrm>
              <a:off x="609600" y="571500"/>
              <a:ext cx="4603531" cy="1740776"/>
            </a:xfrm>
            <a:prstGeom prst="rect">
              <a:avLst/>
            </a:prstGeom>
            <a:solidFill>
              <a:schemeClr val="bg1"/>
            </a:solidFill>
            <a:ln>
              <a:noFill/>
            </a:ln>
            <a:effectLst>
              <a:outerShdw blurRad="546100" dist="152400" dir="2700000" sx="97000" sy="97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Regular" panose="02020503050405090304" charset="0"/>
                <a:cs typeface="Times New Roman Regular" panose="02020503050405090304" charset="0"/>
              </a:endParaRPr>
            </a:p>
          </p:txBody>
        </p:sp>
        <p:grpSp>
          <p:nvGrpSpPr>
            <p:cNvPr id="35" name="Group 34"/>
            <p:cNvGrpSpPr/>
            <p:nvPr/>
          </p:nvGrpSpPr>
          <p:grpSpPr>
            <a:xfrm>
              <a:off x="886534" y="930014"/>
              <a:ext cx="4020473" cy="1032279"/>
              <a:chOff x="886534" y="930014"/>
              <a:chExt cx="4020473" cy="1032279"/>
            </a:xfrm>
          </p:grpSpPr>
          <p:sp>
            <p:nvSpPr>
              <p:cNvPr id="27" name="Rectangle 26"/>
              <p:cNvSpPr/>
              <p:nvPr/>
            </p:nvSpPr>
            <p:spPr>
              <a:xfrm>
                <a:off x="886534" y="1088129"/>
                <a:ext cx="1074420" cy="706755"/>
              </a:xfrm>
              <a:prstGeom prst="rect">
                <a:avLst/>
              </a:prstGeom>
            </p:spPr>
            <p:txBody>
              <a:bodyPr wrap="square">
                <a:spAutoFit/>
              </a:bodyPr>
              <a:lstStyle/>
              <a:p>
                <a:r>
                  <a:rPr lang="en-US" sz="40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rPr>
                  <a:t>01</a:t>
                </a:r>
                <a:endParaRPr lang="en-US" sz="40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endParaRPr>
              </a:p>
            </p:txBody>
          </p:sp>
          <p:grpSp>
            <p:nvGrpSpPr>
              <p:cNvPr id="33" name="Group 32"/>
              <p:cNvGrpSpPr/>
              <p:nvPr/>
            </p:nvGrpSpPr>
            <p:grpSpPr>
              <a:xfrm>
                <a:off x="1961268" y="930014"/>
                <a:ext cx="2945739" cy="1032279"/>
                <a:chOff x="1961268" y="1078030"/>
                <a:chExt cx="2945739" cy="1032279"/>
              </a:xfrm>
            </p:grpSpPr>
            <p:sp>
              <p:nvSpPr>
                <p:cNvPr id="26" name="Rectangle 25"/>
                <p:cNvSpPr/>
                <p:nvPr/>
              </p:nvSpPr>
              <p:spPr>
                <a:xfrm>
                  <a:off x="1961268" y="1078030"/>
                  <a:ext cx="2945737" cy="312463"/>
                </a:xfrm>
                <a:prstGeom prst="rect">
                  <a:avLst/>
                </a:prstGeom>
              </p:spPr>
              <p:txBody>
                <a:bodyPr wrap="square">
                  <a:spAutoFit/>
                </a:bodyPr>
                <a:lstStyle/>
                <a:p>
                  <a:pPr algn="l">
                    <a:lnSpc>
                      <a:spcPct val="90000"/>
                    </a:lnSpc>
                    <a:buClrTx/>
                    <a:buSzTx/>
                    <a:buFontTx/>
                  </a:pPr>
                  <a:r>
                    <a:rPr lang="en-US" altLang="zh-CN" sz="1600" b="1" dirty="0">
                      <a:solidFill>
                        <a:srgbClr val="B71A2B"/>
                      </a:solidFill>
                      <a:latin typeface="Times New Roman Bold" panose="02020503050405090304" charset="0"/>
                      <a:ea typeface="微软雅黑 Light" panose="020B0502040204020203" charset="-122"/>
                      <a:cs typeface="Times New Roman Bold" panose="02020503050405090304" charset="0"/>
                      <a:sym typeface="+mn-ea"/>
                    </a:rPr>
                    <a:t>The recurrence of the same TFs</a:t>
                  </a:r>
                  <a:endParaRPr lang="en-US" altLang="zh-CN" sz="1600" b="1" dirty="0">
                    <a:solidFill>
                      <a:srgbClr val="B71A2B"/>
                    </a:solidFill>
                    <a:latin typeface="Times New Roman Bold" panose="02020503050405090304" charset="0"/>
                    <a:ea typeface="微软雅黑 Light" panose="020B0502040204020203" charset="-122"/>
                    <a:cs typeface="Times New Roman Bold" panose="02020503050405090304" charset="0"/>
                    <a:sym typeface="+mn-ea"/>
                  </a:endParaRPr>
                </a:p>
              </p:txBody>
            </p:sp>
            <p:sp>
              <p:nvSpPr>
                <p:cNvPr id="31" name="Rectangle 30"/>
                <p:cNvSpPr/>
                <p:nvPr/>
              </p:nvSpPr>
              <p:spPr>
                <a:xfrm>
                  <a:off x="1961269" y="1411077"/>
                  <a:ext cx="2945738" cy="699232"/>
                </a:xfrm>
                <a:prstGeom prst="rect">
                  <a:avLst/>
                </a:prstGeom>
              </p:spPr>
              <p:txBody>
                <a:bodyPr wrap="square">
                  <a:spAutoFit/>
                </a:bodyPr>
                <a:lstStyle/>
                <a:p>
                  <a:pPr algn="l">
                    <a:lnSpc>
                      <a:spcPct val="110000"/>
                    </a:lnSpc>
                  </a:pPr>
                  <a:r>
                    <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rPr>
                    <a:t>such as CTCF, EZH2, and POLR2A, in multiple cancer types suggests that they are potential cross-cancer co-regulators.</a:t>
                  </a:r>
                  <a:endPar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endParaRPr>
                </a:p>
              </p:txBody>
            </p:sp>
          </p:grpSp>
        </p:grpSp>
      </p:grpSp>
      <p:grpSp>
        <p:nvGrpSpPr>
          <p:cNvPr id="5" name="Group 4"/>
          <p:cNvGrpSpPr/>
          <p:nvPr/>
        </p:nvGrpSpPr>
        <p:grpSpPr>
          <a:xfrm rot="0">
            <a:off x="609600" y="2558415"/>
            <a:ext cx="4603750" cy="1740535"/>
            <a:chOff x="609600" y="2558612"/>
            <a:chExt cx="4603531" cy="1740776"/>
          </a:xfrm>
        </p:grpSpPr>
        <p:sp>
          <p:nvSpPr>
            <p:cNvPr id="6" name="Rectangle 5"/>
            <p:cNvSpPr/>
            <p:nvPr/>
          </p:nvSpPr>
          <p:spPr>
            <a:xfrm>
              <a:off x="609600" y="2558612"/>
              <a:ext cx="4603531" cy="1740776"/>
            </a:xfrm>
            <a:prstGeom prst="rect">
              <a:avLst/>
            </a:prstGeom>
            <a:solidFill>
              <a:schemeClr val="bg1"/>
            </a:solidFill>
            <a:ln>
              <a:noFill/>
            </a:ln>
            <a:effectLst>
              <a:outerShdw blurRad="546100" dist="152400" dir="2700000" sx="97000" sy="97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Regular" panose="02020503050405090304" charset="0"/>
                <a:cs typeface="Times New Roman Regular" panose="02020503050405090304" charset="0"/>
              </a:endParaRPr>
            </a:p>
          </p:txBody>
        </p:sp>
        <p:grpSp>
          <p:nvGrpSpPr>
            <p:cNvPr id="36" name="Group 35"/>
            <p:cNvGrpSpPr/>
            <p:nvPr/>
          </p:nvGrpSpPr>
          <p:grpSpPr>
            <a:xfrm>
              <a:off x="886534" y="2917126"/>
              <a:ext cx="4191166" cy="1236516"/>
              <a:chOff x="886534" y="930014"/>
              <a:chExt cx="4191166" cy="1236516"/>
            </a:xfrm>
          </p:grpSpPr>
          <p:sp>
            <p:nvSpPr>
              <p:cNvPr id="37" name="Rectangle 36"/>
              <p:cNvSpPr/>
              <p:nvPr/>
            </p:nvSpPr>
            <p:spPr>
              <a:xfrm>
                <a:off x="886534" y="1088129"/>
                <a:ext cx="1074420" cy="706755"/>
              </a:xfrm>
              <a:prstGeom prst="rect">
                <a:avLst/>
              </a:prstGeom>
            </p:spPr>
            <p:txBody>
              <a:bodyPr wrap="square">
                <a:spAutoFit/>
              </a:bodyPr>
              <a:lstStyle/>
              <a:p>
                <a:r>
                  <a:rPr lang="en-US" sz="40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rPr>
                  <a:t>02</a:t>
                </a:r>
                <a:endParaRPr lang="en-US" sz="40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endParaRPr>
              </a:p>
            </p:txBody>
          </p:sp>
          <p:grpSp>
            <p:nvGrpSpPr>
              <p:cNvPr id="38" name="Group 37"/>
              <p:cNvGrpSpPr/>
              <p:nvPr/>
            </p:nvGrpSpPr>
            <p:grpSpPr>
              <a:xfrm>
                <a:off x="1961268" y="930014"/>
                <a:ext cx="3116432" cy="1236516"/>
                <a:chOff x="1961268" y="1078030"/>
                <a:chExt cx="3116432" cy="1236516"/>
              </a:xfrm>
            </p:grpSpPr>
            <p:sp>
              <p:nvSpPr>
                <p:cNvPr id="39" name="Rectangle 38"/>
                <p:cNvSpPr/>
                <p:nvPr/>
              </p:nvSpPr>
              <p:spPr>
                <a:xfrm>
                  <a:off x="1961268" y="1078030"/>
                  <a:ext cx="2945737" cy="312463"/>
                </a:xfrm>
                <a:prstGeom prst="rect">
                  <a:avLst/>
                </a:prstGeom>
              </p:spPr>
              <p:txBody>
                <a:bodyPr wrap="square">
                  <a:spAutoFit/>
                </a:bodyPr>
                <a:lstStyle/>
                <a:p>
                  <a:pPr algn="l">
                    <a:lnSpc>
                      <a:spcPct val="90000"/>
                    </a:lnSpc>
                    <a:buClrTx/>
                    <a:buSzTx/>
                    <a:buFontTx/>
                  </a:pPr>
                  <a:r>
                    <a:rPr lang="en-US" altLang="zh-CN" sz="1600" b="1" dirty="0">
                      <a:solidFill>
                        <a:srgbClr val="B71A2B"/>
                      </a:solidFill>
                      <a:latin typeface="Times New Roman Bold" panose="02020503050405090304" charset="0"/>
                      <a:ea typeface="微软雅黑 Light" panose="020B0502040204020203" charset="-122"/>
                      <a:cs typeface="Times New Roman Bold" panose="02020503050405090304" charset="0"/>
                      <a:sym typeface="+mn-ea"/>
                    </a:rPr>
                    <a:t>Large variation TFs </a:t>
                  </a:r>
                  <a:endParaRPr lang="en-US" altLang="zh-CN" sz="1600" b="1" dirty="0">
                    <a:solidFill>
                      <a:srgbClr val="B71A2B"/>
                    </a:solidFill>
                    <a:latin typeface="Times New Roman Bold" panose="02020503050405090304" charset="0"/>
                    <a:ea typeface="微软雅黑 Light" panose="020B0502040204020203" charset="-122"/>
                    <a:cs typeface="Times New Roman Bold" panose="02020503050405090304" charset="0"/>
                    <a:sym typeface="+mn-ea"/>
                  </a:endParaRPr>
                </a:p>
              </p:txBody>
            </p:sp>
            <p:sp>
              <p:nvSpPr>
                <p:cNvPr id="40" name="Rectangle 39"/>
                <p:cNvSpPr/>
                <p:nvPr/>
              </p:nvSpPr>
              <p:spPr>
                <a:xfrm>
                  <a:off x="1961268" y="1410816"/>
                  <a:ext cx="3116432" cy="903730"/>
                </a:xfrm>
                <a:prstGeom prst="rect">
                  <a:avLst/>
                </a:prstGeom>
              </p:spPr>
              <p:txBody>
                <a:bodyPr wrap="square">
                  <a:noAutofit/>
                </a:bodyPr>
                <a:lstStyle/>
                <a:p>
                  <a:pPr algn="l">
                    <a:lnSpc>
                      <a:spcPct val="110000"/>
                    </a:lnSpc>
                    <a:buClrTx/>
                    <a:buSzTx/>
                    <a:buFontTx/>
                  </a:pPr>
                  <a:r>
                    <a:rPr lang="en-US" altLang="zh-CN" sz="1200" dirty="0">
                      <a:solidFill>
                        <a:schemeClr val="tx1">
                          <a:lumMod val="75000"/>
                          <a:lumOff val="25000"/>
                        </a:schemeClr>
                      </a:solidFill>
                      <a:latin typeface="Times New Roman" panose="02020503050405090304" charset="0"/>
                      <a:ea typeface="微软雅黑 Light" panose="020B0502040204020203" charset="-122"/>
                      <a:cs typeface="Times New Roman" panose="02020503050405090304" charset="0"/>
                    </a:rPr>
                    <a:t>CTCF regulates more than 2,000 DEGs in PAAD, whereas the maximum is only about 470 in LUAD, may reflect differences in the complexity of the transcriptional networks.</a:t>
                  </a:r>
                  <a:endParaRPr lang="en-US" altLang="zh-CN" sz="1200" dirty="0">
                    <a:solidFill>
                      <a:schemeClr val="tx1">
                        <a:lumMod val="75000"/>
                        <a:lumOff val="25000"/>
                      </a:schemeClr>
                    </a:solidFill>
                    <a:latin typeface="Times New Roman" panose="02020503050405090304" charset="0"/>
                    <a:ea typeface="微软雅黑 Light" panose="020B0502040204020203" charset="-122"/>
                    <a:cs typeface="Times New Roman" panose="02020503050405090304" charset="0"/>
                  </a:endParaRPr>
                </a:p>
              </p:txBody>
            </p:sp>
          </p:grpSp>
        </p:grpSp>
      </p:grpSp>
      <p:grpSp>
        <p:nvGrpSpPr>
          <p:cNvPr id="10" name="Group 9"/>
          <p:cNvGrpSpPr/>
          <p:nvPr/>
        </p:nvGrpSpPr>
        <p:grpSpPr>
          <a:xfrm rot="0">
            <a:off x="609600" y="4545965"/>
            <a:ext cx="4603750" cy="1740535"/>
            <a:chOff x="609599" y="4545724"/>
            <a:chExt cx="4603531" cy="1740776"/>
          </a:xfrm>
        </p:grpSpPr>
        <p:sp>
          <p:nvSpPr>
            <p:cNvPr id="7" name="Rectangle 6"/>
            <p:cNvSpPr/>
            <p:nvPr/>
          </p:nvSpPr>
          <p:spPr>
            <a:xfrm>
              <a:off x="609599" y="4545724"/>
              <a:ext cx="4603531" cy="1740776"/>
            </a:xfrm>
            <a:prstGeom prst="rect">
              <a:avLst/>
            </a:prstGeom>
            <a:solidFill>
              <a:schemeClr val="bg1"/>
            </a:solidFill>
            <a:ln>
              <a:noFill/>
            </a:ln>
            <a:effectLst>
              <a:outerShdw blurRad="546100" dist="152400" dir="2700000" sx="97000" sy="97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Regular" panose="02020503050405090304" charset="0"/>
                <a:cs typeface="Times New Roman Regular" panose="02020503050405090304" charset="0"/>
              </a:endParaRPr>
            </a:p>
          </p:txBody>
        </p:sp>
        <p:grpSp>
          <p:nvGrpSpPr>
            <p:cNvPr id="41" name="Group 40"/>
            <p:cNvGrpSpPr/>
            <p:nvPr/>
          </p:nvGrpSpPr>
          <p:grpSpPr>
            <a:xfrm>
              <a:off x="886534" y="4904238"/>
              <a:ext cx="4020471" cy="1234611"/>
              <a:chOff x="886534" y="930014"/>
              <a:chExt cx="4020471" cy="1234611"/>
            </a:xfrm>
          </p:grpSpPr>
          <p:sp>
            <p:nvSpPr>
              <p:cNvPr id="42" name="Rectangle 41"/>
              <p:cNvSpPr/>
              <p:nvPr/>
            </p:nvSpPr>
            <p:spPr>
              <a:xfrm>
                <a:off x="886534" y="1088129"/>
                <a:ext cx="1186815" cy="706755"/>
              </a:xfrm>
              <a:prstGeom prst="rect">
                <a:avLst/>
              </a:prstGeom>
            </p:spPr>
            <p:txBody>
              <a:bodyPr wrap="square">
                <a:spAutoFit/>
              </a:bodyPr>
              <a:lstStyle/>
              <a:p>
                <a:r>
                  <a:rPr lang="en-US" sz="40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rPr>
                  <a:t>03</a:t>
                </a:r>
                <a:endParaRPr lang="en-US" sz="40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endParaRPr>
              </a:p>
            </p:txBody>
          </p:sp>
          <p:grpSp>
            <p:nvGrpSpPr>
              <p:cNvPr id="43" name="Group 42"/>
              <p:cNvGrpSpPr/>
              <p:nvPr/>
            </p:nvGrpSpPr>
            <p:grpSpPr>
              <a:xfrm>
                <a:off x="1961268" y="930014"/>
                <a:ext cx="2945737" cy="1234611"/>
                <a:chOff x="1961268" y="1078030"/>
                <a:chExt cx="2945737" cy="1234611"/>
              </a:xfrm>
            </p:grpSpPr>
            <p:sp>
              <p:nvSpPr>
                <p:cNvPr id="44" name="Rectangle 43"/>
                <p:cNvSpPr/>
                <p:nvPr/>
              </p:nvSpPr>
              <p:spPr>
                <a:xfrm>
                  <a:off x="1961268" y="1078030"/>
                  <a:ext cx="2945737" cy="533474"/>
                </a:xfrm>
                <a:prstGeom prst="rect">
                  <a:avLst/>
                </a:prstGeom>
              </p:spPr>
              <p:txBody>
                <a:bodyPr wrap="square">
                  <a:spAutoFit/>
                </a:bodyPr>
                <a:lstStyle/>
                <a:p>
                  <a:pPr>
                    <a:lnSpc>
                      <a:spcPct val="90000"/>
                    </a:lnSpc>
                  </a:pPr>
                  <a:r>
                    <a:rPr lang="en-US" altLang="zh-CN" sz="1600" b="1" dirty="0">
                      <a:solidFill>
                        <a:srgbClr val="AE192C"/>
                      </a:solidFill>
                      <a:latin typeface="Times New Roman Bold" panose="02020503050405090304" charset="0"/>
                      <a:ea typeface="OPPOSans H" panose="00020600040101010101" charset="-122"/>
                      <a:cs typeface="Times New Roman Bold" panose="02020503050405090304" charset="0"/>
                    </a:rPr>
                    <a:t>Key TFs that work together in multiple cancer types</a:t>
                  </a:r>
                  <a:endParaRPr lang="en-US" altLang="zh-CN" sz="1600" b="1" dirty="0">
                    <a:solidFill>
                      <a:srgbClr val="AE192C"/>
                    </a:solidFill>
                    <a:latin typeface="Times New Roman Bold" panose="02020503050405090304" charset="0"/>
                    <a:ea typeface="OPPOSans H" panose="00020600040101010101" charset="-122"/>
                    <a:cs typeface="Times New Roman Bold" panose="02020503050405090304" charset="0"/>
                  </a:endParaRPr>
                </a:p>
              </p:txBody>
            </p:sp>
            <p:sp>
              <p:nvSpPr>
                <p:cNvPr id="45" name="Rectangle 44"/>
                <p:cNvSpPr/>
                <p:nvPr/>
              </p:nvSpPr>
              <p:spPr>
                <a:xfrm>
                  <a:off x="1961268" y="1685174"/>
                  <a:ext cx="2945625" cy="627467"/>
                </a:xfrm>
                <a:prstGeom prst="rect">
                  <a:avLst/>
                </a:prstGeom>
              </p:spPr>
              <p:txBody>
                <a:bodyPr wrap="square">
                  <a:noAutofit/>
                </a:bodyPr>
                <a:lstStyle/>
                <a:p>
                  <a:pPr algn="l">
                    <a:lnSpc>
                      <a:spcPct val="110000"/>
                    </a:lnSpc>
                    <a:buClrTx/>
                    <a:buSzTx/>
                    <a:buFontTx/>
                  </a:pPr>
                  <a:r>
                    <a:rPr lang="en-US" altLang="zh-CN" sz="1200" dirty="0">
                      <a:solidFill>
                        <a:schemeClr val="tx1">
                          <a:lumMod val="75000"/>
                          <a:lumOff val="25000"/>
                        </a:schemeClr>
                      </a:solidFill>
                      <a:latin typeface="Times New Roman" panose="02020503050405090304" charset="0"/>
                      <a:ea typeface="微软雅黑 Light" panose="020B0502040204020203" charset="-122"/>
                      <a:cs typeface="Times New Roman" panose="02020503050405090304" charset="0"/>
                    </a:rPr>
                    <a:t>We further integrated the statistical results of TF-DEG regulation across all cancer types .</a:t>
                  </a:r>
                  <a:endParaRPr lang="en-US" altLang="zh-CN" sz="1200" dirty="0">
                    <a:solidFill>
                      <a:schemeClr val="tx1">
                        <a:lumMod val="75000"/>
                        <a:lumOff val="25000"/>
                      </a:schemeClr>
                    </a:solidFill>
                    <a:latin typeface="Times New Roman" panose="02020503050405090304" charset="0"/>
                    <a:ea typeface="微软雅黑 Light" panose="020B0502040204020203" charset="-122"/>
                    <a:cs typeface="Times New Roman" panose="02020503050405090304" charset="0"/>
                  </a:endParaRPr>
                </a:p>
              </p:txBody>
            </p:sp>
          </p:grpSp>
        </p:grpSp>
      </p:grpSp>
      <p:grpSp>
        <p:nvGrpSpPr>
          <p:cNvPr id="11" name="组合 10"/>
          <p:cNvGrpSpPr/>
          <p:nvPr/>
        </p:nvGrpSpPr>
        <p:grpSpPr>
          <a:xfrm>
            <a:off x="6757670" y="1361440"/>
            <a:ext cx="5998845" cy="1920825"/>
            <a:chOff x="10378" y="2386"/>
            <a:chExt cx="8427" cy="3677"/>
          </a:xfrm>
        </p:grpSpPr>
        <p:sp>
          <p:nvSpPr>
            <p:cNvPr id="12" name="TextBox 34"/>
            <p:cNvSpPr txBox="1"/>
            <p:nvPr>
              <p:custDataLst>
                <p:tags r:id="rId1"/>
              </p:custDataLst>
            </p:nvPr>
          </p:nvSpPr>
          <p:spPr>
            <a:xfrm>
              <a:off x="10378" y="2386"/>
              <a:ext cx="8427" cy="2437"/>
            </a:xfrm>
            <a:prstGeom prst="rect">
              <a:avLst/>
            </a:prstGeom>
            <a:noFill/>
          </p:spPr>
          <p:txBody>
            <a:bodyPr wrap="square" rtlCol="0">
              <a:spAutoFit/>
            </a:bodyPr>
            <a:p>
              <a:pPr>
                <a:lnSpc>
                  <a:spcPct val="120000"/>
                </a:lnSpc>
              </a:pPr>
              <a:r>
                <a:rPr lang="en-US" altLang="zh-CN" sz="4400" dirty="0">
                  <a:solidFill>
                    <a:srgbClr val="AE192C"/>
                  </a:solidFill>
                  <a:latin typeface="Times New Roman Regular" panose="02020503050405090304" charset="0"/>
                  <a:ea typeface="OPPOSans H" panose="00020600040101010101" charset="-122"/>
                  <a:cs typeface="Times New Roman Regular" panose="02020503050405090304" charset="0"/>
                </a:rPr>
                <a:t>TF Factors</a:t>
              </a:r>
              <a:endParaRPr lang="en-US" altLang="zh-CN" sz="4400" dirty="0">
                <a:solidFill>
                  <a:srgbClr val="AE192C"/>
                </a:solidFill>
                <a:latin typeface="Times New Roman Regular" panose="02020503050405090304" charset="0"/>
                <a:ea typeface="OPPOSans H" panose="00020600040101010101" charset="-122"/>
                <a:cs typeface="Times New Roman Regular" panose="02020503050405090304" charset="0"/>
              </a:endParaRPr>
            </a:p>
            <a:p>
              <a:pPr>
                <a:lnSpc>
                  <a:spcPct val="120000"/>
                </a:lnSpc>
              </a:pPr>
              <a:r>
                <a:rPr lang="en-US" altLang="zh-CN" sz="2000" dirty="0">
                  <a:solidFill>
                    <a:srgbClr val="AE192C"/>
                  </a:solidFill>
                  <a:latin typeface="Times New Roman Regular" panose="02020503050405090304" charset="0"/>
                  <a:ea typeface="微软雅黑 Light" panose="020B0502040204020203" charset="-122"/>
                  <a:cs typeface="Times New Roman Regular" panose="02020503050405090304" charset="0"/>
                </a:rPr>
                <a:t>Spotlight on the MIR100HG</a:t>
              </a:r>
              <a:endParaRPr lang="en-US" altLang="zh-CN" sz="2000" dirty="0">
                <a:solidFill>
                  <a:srgbClr val="AE192C"/>
                </a:solidFill>
                <a:latin typeface="Times New Roman Regular" panose="02020503050405090304" charset="0"/>
                <a:ea typeface="微软雅黑 Light" panose="020B0502040204020203" charset="-122"/>
                <a:cs typeface="Times New Roman Regular" panose="02020503050405090304" charset="0"/>
              </a:endParaRPr>
            </a:p>
          </p:txBody>
        </p:sp>
        <p:sp>
          <p:nvSpPr>
            <p:cNvPr id="135" name="TextBox 134"/>
            <p:cNvSpPr txBox="1"/>
            <p:nvPr>
              <p:custDataLst>
                <p:tags r:id="rId2"/>
              </p:custDataLst>
            </p:nvPr>
          </p:nvSpPr>
          <p:spPr>
            <a:xfrm>
              <a:off x="10428" y="4823"/>
              <a:ext cx="7223" cy="1240"/>
            </a:xfrm>
            <a:prstGeom prst="rect">
              <a:avLst/>
            </a:prstGeom>
            <a:noFill/>
          </p:spPr>
          <p:txBody>
            <a:bodyPr wrap="square" rtlCol="0">
              <a:noAutofit/>
            </a:bodyPr>
            <a:p>
              <a:pPr>
                <a:lnSpc>
                  <a:spcPct val="130000"/>
                </a:lnSpc>
              </a:pPr>
              <a:r>
                <a:rPr lang="en-US" altLang="zh-CN" sz="1200" dirty="0">
                  <a:solidFill>
                    <a:srgbClr val="AE192C"/>
                  </a:solidFill>
                  <a:latin typeface="Times New Roman Regular" panose="02020503050405090304" charset="0"/>
                  <a:ea typeface="OPPOSans H" panose="00020600040101010101" charset="-122"/>
                  <a:cs typeface="Times New Roman Regular" panose="02020503050405090304" charset="0"/>
                </a:rPr>
                <a:t>To systematically explore the transcriptional regulatory networks that MIR100HG may affect in different cancer types</a:t>
              </a:r>
              <a:endParaRPr lang="en-US" altLang="zh-CN" sz="1200" dirty="0">
                <a:solidFill>
                  <a:srgbClr val="AE192C"/>
                </a:solidFill>
                <a:latin typeface="Times New Roman Regular" panose="02020503050405090304" charset="0"/>
                <a:ea typeface="OPPOSans H" panose="00020600040101010101" charset="-122"/>
                <a:cs typeface="Times New Roman Regular" panose="02020503050405090304" charset="0"/>
              </a:endParaRPr>
            </a:p>
          </p:txBody>
        </p:sp>
      </p:grpSp>
      <p:sp>
        <p:nvSpPr>
          <p:cNvPr id="260" name="Rectangle 73"/>
          <p:cNvSpPr/>
          <p:nvPr>
            <p:custDataLst>
              <p:tags r:id="rId3"/>
            </p:custDataLst>
          </p:nvPr>
        </p:nvSpPr>
        <p:spPr>
          <a:xfrm>
            <a:off x="8501380" y="5496560"/>
            <a:ext cx="1931670" cy="312420"/>
          </a:xfrm>
          <a:prstGeom prst="rect">
            <a:avLst/>
          </a:prstGeom>
          <a:ln>
            <a:noFill/>
          </a:ln>
        </p:spPr>
        <p:txBody>
          <a:bodyPr wrap="none">
            <a:spAutoFit/>
          </a:bodyPr>
          <a:p>
            <a:pPr algn="l">
              <a:lnSpc>
                <a:spcPct val="120000"/>
              </a:lnSpc>
            </a:pPr>
            <a:r>
              <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sym typeface="+mn-ea"/>
              </a:rPr>
              <a:t>Spotlight on the MIR100HG</a:t>
            </a:r>
            <a:endPar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sym typeface="+mn-ea"/>
            </a:endParaRPr>
          </a:p>
        </p:txBody>
      </p:sp>
      <p:sp>
        <p:nvSpPr>
          <p:cNvPr id="61" name="矩形: 对角圆角 60"/>
          <p:cNvSpPr/>
          <p:nvPr userDrawn="1"/>
        </p:nvSpPr>
        <p:spPr>
          <a:xfrm>
            <a:off x="6826885" y="5496560"/>
            <a:ext cx="1552575" cy="313055"/>
          </a:xfrm>
          <a:prstGeom prst="round2DiagRect">
            <a:avLst>
              <a:gd name="adj1" fmla="val 33096"/>
              <a:gd name="adj2" fmla="val 5000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a:latin typeface="Times New Roman Regular" panose="02020503050405090304" charset="0"/>
                <a:cs typeface="Times New Roman Regular" panose="02020503050405090304" charset="0"/>
              </a:rPr>
              <a:t>Group M-28</a:t>
            </a:r>
            <a:endParaRPr lang="en-US" altLang="zh-CN" sz="1400">
              <a:latin typeface="Times New Roman Regular" panose="02020503050405090304" charset="0"/>
              <a:cs typeface="Times New Roman Regular" panose="0202050305040509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Rounded Corners 84"/>
          <p:cNvSpPr/>
          <p:nvPr>
            <p:custDataLst>
              <p:tags r:id="rId1"/>
            </p:custDataLst>
          </p:nvPr>
        </p:nvSpPr>
        <p:spPr>
          <a:xfrm>
            <a:off x="5207000" y="1267460"/>
            <a:ext cx="6680200" cy="4785995"/>
          </a:xfrm>
          <a:prstGeom prst="roundRect">
            <a:avLst>
              <a:gd name="adj" fmla="val 2745"/>
            </a:avLst>
          </a:prstGeom>
          <a:solidFill>
            <a:schemeClr val="bg1"/>
          </a:solidFill>
          <a:ln>
            <a:noFill/>
          </a:ln>
          <a:effectLst>
            <a:outerShdw blurRad="762000" dist="139700" dir="5400000" sx="93000" sy="93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latin typeface="OPPOSans H" panose="00020600040101010101" charset="-122"/>
              <a:ea typeface="OPPOSans H" panose="00020600040101010101" charset="-122"/>
            </a:endParaRPr>
          </a:p>
        </p:txBody>
      </p:sp>
      <p:sp>
        <p:nvSpPr>
          <p:cNvPr id="14" name="矩形 1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p:cNvSpPr/>
          <p:nvPr/>
        </p:nvSpPr>
        <p:spPr>
          <a:xfrm>
            <a:off x="3" y="0"/>
            <a:ext cx="164956" cy="6858000"/>
          </a:xfrm>
          <a:prstGeom prst="rect">
            <a:avLst/>
          </a:prstGeom>
          <a:solidFill>
            <a:srgbClr val="F0E1DB">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1350">
              <a:solidFill>
                <a:prstClr val="white"/>
              </a:solidFill>
              <a:latin typeface="Times New Roman Regular" panose="02020503050405090304" charset="0"/>
              <a:ea typeface="宋体" pitchFamily="2" charset="-122"/>
              <a:cs typeface="Times New Roman Regular" panose="02020503050405090304" charset="0"/>
            </a:endParaRPr>
          </a:p>
        </p:txBody>
      </p:sp>
      <p:grpSp>
        <p:nvGrpSpPr>
          <p:cNvPr id="3" name="组合 2"/>
          <p:cNvGrpSpPr/>
          <p:nvPr/>
        </p:nvGrpSpPr>
        <p:grpSpPr>
          <a:xfrm>
            <a:off x="301058" y="259550"/>
            <a:ext cx="11613108" cy="495853"/>
            <a:chOff x="301058" y="259550"/>
            <a:chExt cx="11613108" cy="495853"/>
          </a:xfrm>
        </p:grpSpPr>
        <p:sp>
          <p:nvSpPr>
            <p:cNvPr id="5" name="矩形: 圆角 8"/>
            <p:cNvSpPr/>
            <p:nvPr userDrawn="1"/>
          </p:nvSpPr>
          <p:spPr>
            <a:xfrm flipV="1">
              <a:off x="2170802" y="709684"/>
              <a:ext cx="9743364" cy="45719"/>
            </a:xfrm>
            <a:prstGeom prst="roundRect">
              <a:avLst/>
            </a:prstGeom>
            <a:solidFill>
              <a:srgbClr val="8C0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Times New Roman Regular" panose="02020503050405090304" charset="0"/>
                <a:cs typeface="Times New Roman Regular" panose="02020503050405090304" charset="0"/>
              </a:endParaRPr>
            </a:p>
          </p:txBody>
        </p:sp>
        <p:sp>
          <p:nvSpPr>
            <p:cNvPr id="13" name="矩形: 圆角 12"/>
            <p:cNvSpPr/>
            <p:nvPr userDrawn="1"/>
          </p:nvSpPr>
          <p:spPr>
            <a:xfrm flipV="1">
              <a:off x="301058" y="709682"/>
              <a:ext cx="1801505" cy="45719"/>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61" name="矩形: 对角圆角 60"/>
            <p:cNvSpPr/>
            <p:nvPr userDrawn="1"/>
          </p:nvSpPr>
          <p:spPr>
            <a:xfrm>
              <a:off x="301058" y="259550"/>
              <a:ext cx="1801505" cy="359073"/>
            </a:xfrm>
            <a:prstGeom prst="round2DiagRect">
              <a:avLst>
                <a:gd name="adj1" fmla="val 33096"/>
                <a:gd name="adj2" fmla="val 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Times New Roman Regular" panose="02020503050405090304" charset="0"/>
                  <a:cs typeface="Times New Roman Regular" panose="02020503050405090304" charset="0"/>
                </a:rPr>
                <a:t>Group </a:t>
              </a:r>
              <a:r>
                <a:rPr lang="en-US" altLang="zh-CN">
                  <a:latin typeface="Times New Roman Regular" panose="02020503050405090304" charset="0"/>
                  <a:cs typeface="Times New Roman Regular" panose="02020503050405090304" charset="0"/>
                </a:rPr>
                <a:t>M-28</a:t>
              </a:r>
              <a:endParaRPr lang="en-US" altLang="zh-CN">
                <a:latin typeface="Times New Roman Regular" panose="02020503050405090304" charset="0"/>
                <a:cs typeface="Times New Roman Regular" panose="02020503050405090304" charset="0"/>
              </a:endParaRPr>
            </a:p>
          </p:txBody>
        </p:sp>
        <p:sp>
          <p:nvSpPr>
            <p:cNvPr id="62" name="Venn diagram"/>
            <p:cNvSpPr txBox="1"/>
            <p:nvPr userDrawn="1"/>
          </p:nvSpPr>
          <p:spPr>
            <a:xfrm>
              <a:off x="2291783" y="259550"/>
              <a:ext cx="5944870" cy="35814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rPr>
                <a:t>Key Transcription Factors </a:t>
              </a:r>
              <a:endPar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endParaRPr>
            </a:p>
          </p:txBody>
        </p:sp>
      </p:grpSp>
      <p:pic>
        <p:nvPicPr>
          <p:cNvPr id="86" name="图片 85" descr="1fb514cb1a5e54e89daecde6a77344a3"/>
          <p:cNvPicPr>
            <a:picLocks noChangeAspect="1"/>
          </p:cNvPicPr>
          <p:nvPr/>
        </p:nvPicPr>
        <p:blipFill>
          <a:blip r:embed="rId2"/>
          <a:stretch>
            <a:fillRect/>
          </a:stretch>
        </p:blipFill>
        <p:spPr>
          <a:xfrm>
            <a:off x="10278745" y="144780"/>
            <a:ext cx="1635125" cy="473710"/>
          </a:xfrm>
          <a:prstGeom prst="rect">
            <a:avLst/>
          </a:prstGeom>
        </p:spPr>
      </p:pic>
      <p:cxnSp>
        <p:nvCxnSpPr>
          <p:cNvPr id="8" name="直接连接符 7"/>
          <p:cNvCxnSpPr/>
          <p:nvPr userDrawn="1"/>
        </p:nvCxnSpPr>
        <p:spPr>
          <a:xfrm>
            <a:off x="300990" y="6567805"/>
            <a:ext cx="11612880" cy="0"/>
          </a:xfrm>
          <a:prstGeom prst="line">
            <a:avLst/>
          </a:prstGeom>
          <a:ln>
            <a:solidFill>
              <a:srgbClr val="EEB6B0"/>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userDrawn="1"/>
        </p:nvSpPr>
        <p:spPr>
          <a:xfrm>
            <a:off x="266700" y="6604000"/>
            <a:ext cx="10967720" cy="327660"/>
          </a:xfrm>
          <a:prstGeom prst="rect">
            <a:avLst/>
          </a:prstGeom>
          <a:noFill/>
        </p:spPr>
        <p:txBody>
          <a:bodyPr wrap="none" rtlCol="0">
            <a:noAutofit/>
          </a:bodyPr>
          <a:p>
            <a:pPr algn="l"/>
            <a:r>
              <a:rPr lang="en-US" altLang="zh-CN" sz="600" spc="300"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rPr>
              <a:t>Project Workflow Overview</a:t>
            </a:r>
            <a:endParaRPr lang="en-US" altLang="zh-CN" sz="600" spc="300"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endParaRPr>
          </a:p>
          <a:p>
            <a:pPr algn="l"/>
            <a:endParaRPr lang="en-US" altLang="zh-CN" sz="600" spc="300" dirty="0">
              <a:solidFill>
                <a:srgbClr val="AE192C"/>
              </a:solidFill>
              <a:latin typeface="Times New Roman Regular" panose="02020503050405090304" charset="0"/>
              <a:ea typeface="HarmonyOS Sans SC Light" panose="00000400000000000000" pitchFamily="2" charset="-122"/>
              <a:cs typeface="Times New Roman Regular" panose="02020503050405090304" charset="0"/>
            </a:endParaRPr>
          </a:p>
        </p:txBody>
      </p:sp>
      <p:sp>
        <p:nvSpPr>
          <p:cNvPr id="32" name="标题 3"/>
          <p:cNvSpPr txBox="1"/>
          <p:nvPr/>
        </p:nvSpPr>
        <p:spPr>
          <a:xfrm>
            <a:off x="658495" y="1075055"/>
            <a:ext cx="4378325" cy="161290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914400">
              <a:lnSpc>
                <a:spcPct val="100000"/>
              </a:lnSpc>
            </a:pPr>
            <a:r>
              <a:rPr lang="en-US" altLang="zh-CN" sz="3200" b="1">
                <a:solidFill>
                  <a:srgbClr val="AE1A2C"/>
                </a:solidFill>
                <a:latin typeface="Times New Roman Bold" panose="02020503050405090304" charset="0"/>
                <a:ea typeface="方正小标宋简体" panose="02010601030101010101" charset="-122"/>
                <a:cs typeface="Times New Roman Bold" panose="02020503050405090304" charset="0"/>
              </a:rPr>
              <a:t>Key Transcription Factors </a:t>
            </a:r>
            <a:endParaRPr lang="en-US" altLang="zh-CN" sz="3200" b="1">
              <a:solidFill>
                <a:srgbClr val="AE1A2C"/>
              </a:solidFill>
              <a:latin typeface="Times New Roman Bold" panose="02020503050405090304" charset="0"/>
              <a:ea typeface="方正小标宋简体" panose="02010601030101010101" charset="-122"/>
              <a:cs typeface="Times New Roman Bold" panose="02020503050405090304" charset="0"/>
            </a:endParaRPr>
          </a:p>
          <a:p>
            <a:pPr defTabSz="914400">
              <a:lnSpc>
                <a:spcPct val="100000"/>
              </a:lnSpc>
            </a:pPr>
            <a:r>
              <a:rPr lang="en-US" altLang="zh-CN" sz="2000">
                <a:solidFill>
                  <a:srgbClr val="AE1A2C"/>
                </a:solidFill>
                <a:latin typeface="Times New Roman" panose="02020503050405090304" charset="0"/>
                <a:ea typeface="方正小标宋简体" panose="02010601030101010101" charset="-122"/>
                <a:cs typeface="Times New Roman" panose="02020503050405090304" charset="0"/>
              </a:rPr>
              <a:t>Regulating MIR100HG-Associated Networks</a:t>
            </a:r>
            <a:endParaRPr lang="en-US" altLang="zh-CN" sz="2000">
              <a:solidFill>
                <a:srgbClr val="AE1A2C"/>
              </a:solidFill>
              <a:latin typeface="Times New Roman" panose="02020503050405090304" charset="0"/>
              <a:ea typeface="方正小标宋简体" panose="02010601030101010101" charset="-122"/>
              <a:cs typeface="Times New Roman" panose="02020503050405090304" charset="0"/>
            </a:endParaRPr>
          </a:p>
        </p:txBody>
      </p:sp>
      <p:sp>
        <p:nvSpPr>
          <p:cNvPr id="33" name="文本框 32"/>
          <p:cNvSpPr txBox="1"/>
          <p:nvPr/>
        </p:nvSpPr>
        <p:spPr>
          <a:xfrm>
            <a:off x="601345" y="2738755"/>
            <a:ext cx="4169410" cy="1698625"/>
          </a:xfrm>
          <a:prstGeom prst="rect">
            <a:avLst/>
          </a:prstGeom>
          <a:noFill/>
        </p:spPr>
        <p:txBody>
          <a:bodyPr wrap="square" rtlCol="0">
            <a:noAutofit/>
          </a:bodyPr>
          <a:lstStyle/>
          <a:p>
            <a:pPr defTabSz="914400">
              <a:lnSpc>
                <a:spcPct val="150000"/>
              </a:lnSpc>
            </a:pPr>
            <a:r>
              <a:rPr lang="en-US" altLang="zh-CN" sz="1400">
                <a:solidFill>
                  <a:srgbClr val="FFFFFF">
                    <a:lumMod val="50000"/>
                  </a:srgbClr>
                </a:solidFill>
                <a:latin typeface="Times New Roman Regular" panose="02020503050405090304" charset="0"/>
                <a:ea typeface="微软雅黑 Light" panose="020B0502040204020203" charset="-122"/>
                <a:cs typeface="Times New Roman Regular" panose="02020503050405090304" charset="0"/>
              </a:rPr>
              <a:t>We matched differentially expressed genes (DEGs) extracted from each of the five cancer types to the TF-Target network in the ENCODE database and counted the number of DEGs regulated by each transcription factor in a single cancer type and across cancer types.</a:t>
            </a:r>
            <a:endParaRPr lang="en-US" altLang="zh-CN" sz="1400">
              <a:solidFill>
                <a:srgbClr val="FFFFFF">
                  <a:lumMod val="50000"/>
                </a:srgbClr>
              </a:solidFill>
              <a:latin typeface="Times New Roman Regular" panose="02020503050405090304" charset="0"/>
              <a:ea typeface="微软雅黑 Light" panose="020B0502040204020203" charset="-122"/>
              <a:cs typeface="Times New Roman Regular" panose="02020503050405090304" charset="0"/>
            </a:endParaRPr>
          </a:p>
        </p:txBody>
      </p:sp>
      <p:sp>
        <p:nvSpPr>
          <p:cNvPr id="34" name="文本框 33"/>
          <p:cNvSpPr txBox="1"/>
          <p:nvPr/>
        </p:nvSpPr>
        <p:spPr>
          <a:xfrm>
            <a:off x="601345" y="4571365"/>
            <a:ext cx="4377690" cy="1698625"/>
          </a:xfrm>
          <a:prstGeom prst="rect">
            <a:avLst/>
          </a:prstGeom>
          <a:noFill/>
        </p:spPr>
        <p:txBody>
          <a:bodyPr wrap="square" rtlCol="0">
            <a:noAutofit/>
          </a:bodyPr>
          <a:lstStyle/>
          <a:p>
            <a:pPr defTabSz="914400">
              <a:lnSpc>
                <a:spcPct val="150000"/>
              </a:lnSpc>
            </a:pPr>
            <a:r>
              <a:rPr lang="en-US" altLang="zh-CN" sz="1600">
                <a:solidFill>
                  <a:srgbClr val="AE1A2C"/>
                </a:solidFill>
                <a:latin typeface="Times New Roman Regular" panose="02020503050405090304" charset="0"/>
                <a:ea typeface="微软雅黑 Light" panose="020B0502040204020203" charset="-122"/>
                <a:cs typeface="Times New Roman Regular" panose="02020503050405090304" charset="0"/>
                <a:sym typeface="+mn-ea"/>
              </a:rPr>
              <a:t>Meanwhile, the hit genes in the figure reveal the drivers of these pathways, and PIK3CD, FGF7, and PDGFA are recurring in multiple pathways, which we consider as potential pathway regulators.</a:t>
            </a:r>
            <a:endParaRPr lang="en-US" altLang="zh-CN" sz="1600">
              <a:solidFill>
                <a:srgbClr val="AE1A2C"/>
              </a:solidFill>
              <a:latin typeface="Times New Roman Regular" panose="02020503050405090304" charset="0"/>
              <a:ea typeface="微软雅黑 Light" panose="020B0502040204020203" charset="-122"/>
              <a:cs typeface="Times New Roman Regular" panose="02020503050405090304" charset="0"/>
              <a:sym typeface="+mn-ea"/>
            </a:endParaRPr>
          </a:p>
        </p:txBody>
      </p:sp>
      <p:sp>
        <p:nvSpPr>
          <p:cNvPr id="36" name="文本框 35"/>
          <p:cNvSpPr txBox="1"/>
          <p:nvPr/>
        </p:nvSpPr>
        <p:spPr>
          <a:xfrm>
            <a:off x="5457825" y="5578475"/>
            <a:ext cx="6428740" cy="321310"/>
          </a:xfrm>
          <a:prstGeom prst="rect">
            <a:avLst/>
          </a:prstGeom>
          <a:noFill/>
        </p:spPr>
        <p:txBody>
          <a:bodyPr wrap="square" rtlCol="0">
            <a:noAutofit/>
          </a:bodyPr>
          <a:p>
            <a:pPr algn="ctr" defTabSz="914400">
              <a:lnSpc>
                <a:spcPct val="100000"/>
              </a:lnSpc>
            </a:pPr>
            <a:r>
              <a:rPr lang="en-US" altLang="zh-CN" sz="1200" b="1">
                <a:solidFill>
                  <a:srgbClr val="AE1A2C"/>
                </a:solidFill>
                <a:latin typeface="Times New Roman Bold" panose="02020503050405090304" charset="0"/>
                <a:ea typeface="方正小标宋简体" panose="02010601030101010101" charset="-122"/>
                <a:cs typeface="Times New Roman Bold" panose="02020503050405090304" charset="0"/>
                <a:sym typeface="+mn-ea"/>
              </a:rPr>
              <a:t>Key Transcription Factors  </a:t>
            </a:r>
            <a:r>
              <a:rPr lang="en-US" altLang="zh-CN" sz="1200" b="1">
                <a:solidFill>
                  <a:srgbClr val="AE1A2C"/>
                </a:solidFill>
                <a:latin typeface="Times New Roman" panose="02020503050405090304" charset="0"/>
                <a:ea typeface="方正小标宋简体" panose="02010601030101010101" charset="-122"/>
                <a:cs typeface="Times New Roman" panose="02020503050405090304" charset="0"/>
                <a:sym typeface="+mn-ea"/>
              </a:rPr>
              <a:t>Regulating MIR100HG-Associated Networks</a:t>
            </a:r>
            <a:endParaRPr lang="en-US" altLang="zh-CN" sz="1200" b="1" dirty="0">
              <a:solidFill>
                <a:srgbClr val="AE1A2C"/>
              </a:solidFill>
              <a:latin typeface="Times New Roman Regular" panose="02020503050405090304" charset="0"/>
              <a:ea typeface="MiSans Heavy" panose="00000A00000000000000" pitchFamily="2" charset="-122"/>
              <a:cs typeface="Times New Roman Regular" panose="02020503050405090304" charset="0"/>
            </a:endParaRPr>
          </a:p>
        </p:txBody>
      </p:sp>
      <p:pic>
        <p:nvPicPr>
          <p:cNvPr id="2" name="图片 1"/>
          <p:cNvPicPr>
            <a:picLocks noChangeAspect="1"/>
          </p:cNvPicPr>
          <p:nvPr/>
        </p:nvPicPr>
        <p:blipFill>
          <a:blip r:embed="rId3"/>
          <a:stretch>
            <a:fillRect/>
          </a:stretch>
        </p:blipFill>
        <p:spPr>
          <a:xfrm>
            <a:off x="5491480" y="1507490"/>
            <a:ext cx="6308725" cy="38430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Click="0" advTm="3000">
        <p:random/>
      </p:transition>
    </mc:Choice>
    <mc:Fallback>
      <p:transition spd="slow" advClick="0" advTm="3000">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 name="左弧形箭头 25"/>
          <p:cNvSpPr/>
          <p:nvPr/>
        </p:nvSpPr>
        <p:spPr>
          <a:xfrm>
            <a:off x="300990" y="3677285"/>
            <a:ext cx="935355" cy="984250"/>
          </a:xfrm>
          <a:prstGeom prst="curvedRightArrow">
            <a:avLst/>
          </a:prstGeom>
          <a:solidFill>
            <a:srgbClr val="AF1E2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latin typeface="Times New Roman Regular" panose="02020503050405090304" charset="0"/>
              <a:cs typeface="Times New Roman Regular" panose="02020503050405090304" charset="0"/>
            </a:endParaRPr>
          </a:p>
        </p:txBody>
      </p:sp>
      <p:grpSp>
        <p:nvGrpSpPr>
          <p:cNvPr id="25" name="组合 24"/>
          <p:cNvGrpSpPr/>
          <p:nvPr/>
        </p:nvGrpSpPr>
        <p:grpSpPr>
          <a:xfrm>
            <a:off x="489585" y="774700"/>
            <a:ext cx="11002645" cy="3169920"/>
            <a:chOff x="625" y="2024"/>
            <a:chExt cx="17327" cy="4992"/>
          </a:xfrm>
        </p:grpSpPr>
        <p:sp>
          <p:nvSpPr>
            <p:cNvPr id="23" name="圆角矩形 22"/>
            <p:cNvSpPr/>
            <p:nvPr/>
          </p:nvSpPr>
          <p:spPr>
            <a:xfrm>
              <a:off x="625" y="2024"/>
              <a:ext cx="17327" cy="4992"/>
            </a:xfrm>
            <a:prstGeom prst="roundRect">
              <a:avLst/>
            </a:prstGeom>
            <a:solidFill>
              <a:schemeClr val="bg1">
                <a:lumMod val="85000"/>
                <a:alpha val="11000"/>
              </a:scheme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Times New Roman Regular" panose="02020503050405090304" charset="0"/>
                <a:cs typeface="Times New Roman Regular" panose="02020503050405090304" charset="0"/>
              </a:endParaRPr>
            </a:p>
          </p:txBody>
        </p:sp>
        <p:grpSp>
          <p:nvGrpSpPr>
            <p:cNvPr id="18" name="组合 17"/>
            <p:cNvGrpSpPr/>
            <p:nvPr/>
          </p:nvGrpSpPr>
          <p:grpSpPr>
            <a:xfrm rot="0">
              <a:off x="807" y="2764"/>
              <a:ext cx="16972" cy="4079"/>
              <a:chOff x="447" y="2310"/>
              <a:chExt cx="17494" cy="4079"/>
            </a:xfrm>
          </p:grpSpPr>
          <p:grpSp>
            <p:nvGrpSpPr>
              <p:cNvPr id="39" name="组合 38"/>
              <p:cNvGrpSpPr/>
              <p:nvPr/>
            </p:nvGrpSpPr>
            <p:grpSpPr>
              <a:xfrm rot="0">
                <a:off x="447" y="2310"/>
                <a:ext cx="6553" cy="4079"/>
                <a:chOff x="1495879" y="1947863"/>
                <a:chExt cx="3271884" cy="2039759"/>
              </a:xfrm>
            </p:grpSpPr>
            <p:sp>
              <p:nvSpPr>
                <p:cNvPr id="40" name="圆: 空心 39"/>
                <p:cNvSpPr/>
                <p:nvPr/>
              </p:nvSpPr>
              <p:spPr>
                <a:xfrm>
                  <a:off x="1495879" y="1981200"/>
                  <a:ext cx="342900" cy="342900"/>
                </a:xfrm>
                <a:prstGeom prst="donut">
                  <a:avLst/>
                </a:prstGeom>
                <a:solidFill>
                  <a:srgbClr val="AF1E2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Times New Roman Regular" panose="02020503050405090304" charset="0"/>
                    <a:ea typeface="华光中雅_CNKI" panose="02000500000000000000" charset="-122"/>
                    <a:cs typeface="Times New Roman Regular" panose="02020503050405090304" charset="0"/>
                  </a:endParaRPr>
                </a:p>
              </p:txBody>
            </p:sp>
            <p:sp>
              <p:nvSpPr>
                <p:cNvPr id="42" name="矩形: 圆角 41"/>
                <p:cNvSpPr/>
                <p:nvPr/>
              </p:nvSpPr>
              <p:spPr>
                <a:xfrm>
                  <a:off x="1910633" y="1947863"/>
                  <a:ext cx="2385605" cy="445554"/>
                </a:xfrm>
                <a:prstGeom prst="roundRect">
                  <a:avLst>
                    <a:gd name="adj" fmla="val 50000"/>
                  </a:avLst>
                </a:prstGeom>
                <a:solidFill>
                  <a:srgbClr val="AF1E2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Tx/>
                    <a:buSzTx/>
                    <a:buFontTx/>
                  </a:pPr>
                  <a:r>
                    <a:rPr lang="en-US" altLang="zh-CN" b="1" dirty="0">
                      <a:solidFill>
                        <a:schemeClr val="bg1"/>
                      </a:solidFill>
                      <a:latin typeface="Times New Roman Regular" panose="02020503050405090304" charset="0"/>
                      <a:ea typeface="华光中雅_CNKI" panose="02000500000000000000" charset="-122"/>
                      <a:cs typeface="Times New Roman Regular" panose="02020503050405090304" charset="0"/>
                      <a:sym typeface="+mn-ea"/>
                    </a:rPr>
                    <a:t>Methods of analysis</a:t>
                  </a:r>
                  <a:endParaRPr lang="en-US" altLang="zh-CN" b="1" dirty="0">
                    <a:solidFill>
                      <a:schemeClr val="bg1"/>
                    </a:solidFill>
                    <a:latin typeface="Times New Roman Regular" panose="02020503050405090304" charset="0"/>
                    <a:ea typeface="华光中雅_CNKI" panose="02000500000000000000" charset="-122"/>
                    <a:cs typeface="Times New Roman Regular" panose="02020503050405090304" charset="0"/>
                    <a:sym typeface="+mn-ea"/>
                  </a:endParaRPr>
                </a:p>
              </p:txBody>
            </p:sp>
            <p:sp>
              <p:nvSpPr>
                <p:cNvPr id="43" name="Text Box 2"/>
                <p:cNvSpPr txBox="1">
                  <a:spLocks noChangeArrowheads="1"/>
                </p:cNvSpPr>
                <p:nvPr/>
              </p:nvSpPr>
              <p:spPr bwMode="auto">
                <a:xfrm>
                  <a:off x="1519551" y="2551940"/>
                  <a:ext cx="3248212" cy="1435682"/>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nSpc>
                      <a:spcPct val="160000"/>
                    </a:lnSpc>
                    <a:buFont typeface="Arial" panose="020B0604020202090204" pitchFamily="34" charset="0"/>
                    <a:buChar char="•"/>
                  </a:pPr>
                  <a:r>
                    <a:rPr lang="en-US" altLang="zh-CN" sz="1600">
                      <a:solidFill>
                        <a:schemeClr val="tx1">
                          <a:lumMod val="75000"/>
                          <a:lumOff val="25000"/>
                        </a:schemeClr>
                      </a:solidFill>
                      <a:latin typeface="Times New Roman Regular" panose="02020503050405090304" charset="0"/>
                      <a:cs typeface="Times New Roman Regular" panose="02020503050405090304" charset="0"/>
                      <a:sym typeface="+mn-ea"/>
                    </a:rPr>
                    <a:t>we analyzed the correlation between differential promoter methylation and mRNA expression changes across five cancer types.</a:t>
                  </a:r>
                  <a:endParaRPr lang="en-US" altLang="zh-CN" sz="1600">
                    <a:solidFill>
                      <a:schemeClr val="tx1">
                        <a:lumMod val="75000"/>
                        <a:lumOff val="25000"/>
                      </a:schemeClr>
                    </a:solidFill>
                    <a:latin typeface="Times New Roman Regular" panose="02020503050405090304" charset="0"/>
                    <a:cs typeface="Times New Roman Regular" panose="02020503050405090304" charset="0"/>
                    <a:sym typeface="+mn-ea"/>
                  </a:endParaRPr>
                </a:p>
              </p:txBody>
            </p:sp>
          </p:grpSp>
          <p:grpSp>
            <p:nvGrpSpPr>
              <p:cNvPr id="44" name="组合 43"/>
              <p:cNvGrpSpPr/>
              <p:nvPr/>
            </p:nvGrpSpPr>
            <p:grpSpPr>
              <a:xfrm rot="0">
                <a:off x="6790" y="2310"/>
                <a:ext cx="5609" cy="3832"/>
                <a:chOff x="1495879" y="1947863"/>
                <a:chExt cx="2800224" cy="1915968"/>
              </a:xfrm>
            </p:grpSpPr>
            <p:sp>
              <p:nvSpPr>
                <p:cNvPr id="45" name="圆: 空心 44"/>
                <p:cNvSpPr/>
                <p:nvPr/>
              </p:nvSpPr>
              <p:spPr>
                <a:xfrm>
                  <a:off x="1495879" y="1981200"/>
                  <a:ext cx="342900" cy="342900"/>
                </a:xfrm>
                <a:prstGeom prst="donu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Times New Roman Regular" panose="02020503050405090304" charset="0"/>
                    <a:ea typeface="华光中雅_CNKI" panose="02000500000000000000" charset="-122"/>
                    <a:cs typeface="Times New Roman Regular" panose="02020503050405090304" charset="0"/>
                  </a:endParaRPr>
                </a:p>
              </p:txBody>
            </p:sp>
            <p:sp>
              <p:nvSpPr>
                <p:cNvPr id="47" name="矩形: 圆角 46"/>
                <p:cNvSpPr/>
                <p:nvPr/>
              </p:nvSpPr>
              <p:spPr>
                <a:xfrm>
                  <a:off x="1910634" y="1947863"/>
                  <a:ext cx="2265200" cy="445993"/>
                </a:xfrm>
                <a:prstGeom prst="roundRect">
                  <a:avLst>
                    <a:gd name="adj" fmla="val 50000"/>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Tx/>
                    <a:buSzTx/>
                    <a:buFontTx/>
                  </a:pPr>
                  <a:r>
                    <a:rPr lang="en-US" altLang="zh-CN" sz="2000" b="1" dirty="0">
                      <a:solidFill>
                        <a:schemeClr val="bg1"/>
                      </a:solidFill>
                      <a:latin typeface="Times New Roman Regular" panose="02020503050405090304" charset="0"/>
                      <a:ea typeface="华光中雅_CNKI" panose="02000500000000000000" charset="-122"/>
                      <a:cs typeface="Times New Roman Regular" panose="02020503050405090304" charset="0"/>
                      <a:sym typeface="+mn-ea"/>
                    </a:rPr>
                    <a:t>promoter region</a:t>
                  </a:r>
                  <a:endParaRPr lang="en-US" altLang="zh-CN" sz="2000" b="1" dirty="0">
                    <a:solidFill>
                      <a:schemeClr val="bg1"/>
                    </a:solidFill>
                    <a:latin typeface="Times New Roman Regular" panose="02020503050405090304" charset="0"/>
                    <a:ea typeface="华光中雅_CNKI" panose="02000500000000000000" charset="-122"/>
                    <a:cs typeface="Times New Roman Regular" panose="02020503050405090304" charset="0"/>
                    <a:sym typeface="+mn-ea"/>
                  </a:endParaRPr>
                </a:p>
              </p:txBody>
            </p:sp>
            <p:sp>
              <p:nvSpPr>
                <p:cNvPr id="48" name="Text Box 2"/>
                <p:cNvSpPr txBox="1">
                  <a:spLocks noChangeArrowheads="1"/>
                </p:cNvSpPr>
                <p:nvPr/>
              </p:nvSpPr>
              <p:spPr bwMode="auto">
                <a:xfrm>
                  <a:off x="1601363" y="2551853"/>
                  <a:ext cx="2694740" cy="131197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l">
                    <a:lnSpc>
                      <a:spcPct val="160000"/>
                    </a:lnSpc>
                    <a:buClrTx/>
                    <a:buSzTx/>
                    <a:buFont typeface="Arial" panose="020B0604020202090204" pitchFamily="34" charset="0"/>
                    <a:buChar char="•"/>
                  </a:pPr>
                  <a:r>
                    <a:rPr lang="en-US" altLang="zh-CN" sz="1600">
                      <a:solidFill>
                        <a:schemeClr val="tx1">
                          <a:lumMod val="75000"/>
                          <a:lumOff val="25000"/>
                        </a:schemeClr>
                      </a:solidFill>
                      <a:latin typeface="Times New Roman Regular" panose="02020503050405090304" charset="0"/>
                      <a:cs typeface="Times New Roman Regular" panose="02020503050405090304" charset="0"/>
                      <a:sym typeface="+mn-ea"/>
                    </a:rPr>
                    <a:t>Promoter hypomethylation + gene upregulation was the dominant trend across PRAD, PAAD, STAD, and SKCM.</a:t>
                  </a:r>
                  <a:endParaRPr lang="en-US" altLang="zh-CN" sz="1600">
                    <a:solidFill>
                      <a:schemeClr val="tx1">
                        <a:lumMod val="75000"/>
                        <a:lumOff val="25000"/>
                      </a:schemeClr>
                    </a:solidFill>
                    <a:latin typeface="Times New Roman Regular" panose="02020503050405090304" charset="0"/>
                    <a:cs typeface="Times New Roman Regular" panose="02020503050405090304" charset="0"/>
                    <a:sym typeface="+mn-ea"/>
                  </a:endParaRPr>
                </a:p>
              </p:txBody>
            </p:sp>
          </p:grpSp>
          <p:grpSp>
            <p:nvGrpSpPr>
              <p:cNvPr id="49" name="组合 48"/>
              <p:cNvGrpSpPr/>
              <p:nvPr/>
            </p:nvGrpSpPr>
            <p:grpSpPr>
              <a:xfrm rot="0">
                <a:off x="12815" y="2310"/>
                <a:ext cx="5126" cy="3468"/>
                <a:chOff x="1279857" y="1933197"/>
                <a:chExt cx="2559238" cy="1733993"/>
              </a:xfrm>
            </p:grpSpPr>
            <p:sp>
              <p:nvSpPr>
                <p:cNvPr id="50" name="圆: 空心 49"/>
                <p:cNvSpPr/>
                <p:nvPr/>
              </p:nvSpPr>
              <p:spPr>
                <a:xfrm>
                  <a:off x="1279857" y="1966203"/>
                  <a:ext cx="342900" cy="342900"/>
                </a:xfrm>
                <a:prstGeom prst="donut">
                  <a:avLst/>
                </a:pr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Times New Roman Regular" panose="02020503050405090304" charset="0"/>
                    <a:ea typeface="华光中雅_CNKI" panose="02000500000000000000" charset="-122"/>
                    <a:cs typeface="Times New Roman Regular" panose="02020503050405090304" charset="0"/>
                  </a:endParaRPr>
                </a:p>
              </p:txBody>
            </p:sp>
            <p:sp>
              <p:nvSpPr>
                <p:cNvPr id="52" name="矩形: 圆角 51"/>
                <p:cNvSpPr/>
                <p:nvPr/>
              </p:nvSpPr>
              <p:spPr>
                <a:xfrm>
                  <a:off x="1701278" y="1933197"/>
                  <a:ext cx="2041760" cy="445921"/>
                </a:xfrm>
                <a:prstGeom prst="roundRect">
                  <a:avLst>
                    <a:gd name="adj" fmla="val 50000"/>
                  </a:avLst>
                </a:prstGeom>
                <a:solidFill>
                  <a:srgbClr val="CC33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r>
                    <a:rPr lang="en-US" altLang="zh-CN" sz="2000">
                      <a:solidFill>
                        <a:schemeClr val="bg1"/>
                      </a:solidFill>
                      <a:latin typeface="Times New Roman Regular" panose="02020503050405090304" charset="0"/>
                      <a:cs typeface="Times New Roman Regular" panose="02020503050405090304" charset="0"/>
                      <a:sym typeface="+mn-ea"/>
                    </a:rPr>
                    <a:t>gene body </a:t>
                  </a:r>
                  <a:r>
                    <a:rPr lang="en-US" altLang="zh-CN" sz="2000">
                      <a:solidFill>
                        <a:schemeClr val="bg1"/>
                      </a:solidFill>
                      <a:latin typeface="Times New Roman Regular" panose="02020503050405090304" charset="0"/>
                      <a:cs typeface="Times New Roman Regular" panose="02020503050405090304" charset="0"/>
                      <a:sym typeface="+mn-ea"/>
                    </a:rPr>
                    <a:t>region</a:t>
                  </a:r>
                  <a:endParaRPr lang="en-US" altLang="zh-CN" sz="2000">
                    <a:solidFill>
                      <a:schemeClr val="bg1"/>
                    </a:solidFill>
                    <a:latin typeface="Times New Roman Regular" panose="02020503050405090304" charset="0"/>
                    <a:cs typeface="Times New Roman Regular" panose="02020503050405090304" charset="0"/>
                    <a:sym typeface="+mn-ea"/>
                  </a:endParaRPr>
                </a:p>
              </p:txBody>
            </p:sp>
            <p:sp>
              <p:nvSpPr>
                <p:cNvPr id="53" name="Text Box 2"/>
                <p:cNvSpPr txBox="1">
                  <a:spLocks noChangeArrowheads="1"/>
                </p:cNvSpPr>
                <p:nvPr/>
              </p:nvSpPr>
              <p:spPr bwMode="auto">
                <a:xfrm>
                  <a:off x="1364256" y="2536692"/>
                  <a:ext cx="2474839" cy="1130498"/>
                </a:xfrm>
                <a:prstGeom prst="rect">
                  <a:avLst/>
                </a:prstGeom>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l">
                    <a:lnSpc>
                      <a:spcPct val="160000"/>
                    </a:lnSpc>
                    <a:buClrTx/>
                    <a:buSzTx/>
                    <a:buFont typeface="Arial" panose="020B0604020202090204" pitchFamily="34" charset="0"/>
                    <a:buChar char="•"/>
                  </a:pPr>
                  <a:r>
                    <a:rPr lang="en-US" altLang="zh-CN" sz="1600">
                      <a:solidFill>
                        <a:schemeClr val="tx1">
                          <a:lumMod val="75000"/>
                          <a:lumOff val="25000"/>
                        </a:schemeClr>
                      </a:solidFill>
                      <a:latin typeface="Times New Roman Regular" panose="02020503050405090304" charset="0"/>
                      <a:cs typeface="Times New Roman Regular" panose="02020503050405090304" charset="0"/>
                      <a:sym typeface="+mn-ea"/>
                    </a:rPr>
                    <a:t>Gene body methylation showed weak and inconsistent associations across </a:t>
                  </a:r>
                  <a:endParaRPr lang="en-US" altLang="zh-CN" sz="1600">
                    <a:solidFill>
                      <a:schemeClr val="tx1">
                        <a:lumMod val="75000"/>
                        <a:lumOff val="25000"/>
                      </a:schemeClr>
                    </a:solidFill>
                    <a:latin typeface="Times New Roman Regular" panose="02020503050405090304" charset="0"/>
                    <a:cs typeface="Times New Roman Regular" panose="02020503050405090304" charset="0"/>
                    <a:sym typeface="+mn-ea"/>
                  </a:endParaRPr>
                </a:p>
              </p:txBody>
            </p:sp>
          </p:grpSp>
        </p:grpSp>
      </p:grpSp>
      <p:grpSp>
        <p:nvGrpSpPr>
          <p:cNvPr id="4" name="组合 3"/>
          <p:cNvGrpSpPr/>
          <p:nvPr/>
        </p:nvGrpSpPr>
        <p:grpSpPr>
          <a:xfrm>
            <a:off x="301058" y="259550"/>
            <a:ext cx="11613108" cy="495853"/>
            <a:chOff x="301058" y="259550"/>
            <a:chExt cx="11613108" cy="495853"/>
          </a:xfrm>
        </p:grpSpPr>
        <p:sp>
          <p:nvSpPr>
            <p:cNvPr id="5" name="矩形: 圆角 8"/>
            <p:cNvSpPr/>
            <p:nvPr userDrawn="1"/>
          </p:nvSpPr>
          <p:spPr>
            <a:xfrm flipV="1">
              <a:off x="2170802" y="709684"/>
              <a:ext cx="9743364" cy="45719"/>
            </a:xfrm>
            <a:prstGeom prst="roundRect">
              <a:avLst/>
            </a:prstGeom>
            <a:solidFill>
              <a:srgbClr val="8C0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Times New Roman Regular" panose="02020503050405090304" charset="0"/>
                <a:cs typeface="Times New Roman Regular" panose="02020503050405090304" charset="0"/>
              </a:endParaRPr>
            </a:p>
          </p:txBody>
        </p:sp>
        <p:sp>
          <p:nvSpPr>
            <p:cNvPr id="13" name="矩形: 圆角 12"/>
            <p:cNvSpPr/>
            <p:nvPr userDrawn="1"/>
          </p:nvSpPr>
          <p:spPr>
            <a:xfrm flipV="1">
              <a:off x="301058" y="709682"/>
              <a:ext cx="1801505" cy="45719"/>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61" name="矩形: 对角圆角 60"/>
            <p:cNvSpPr/>
            <p:nvPr userDrawn="1"/>
          </p:nvSpPr>
          <p:spPr>
            <a:xfrm>
              <a:off x="301058" y="259550"/>
              <a:ext cx="1801505" cy="359073"/>
            </a:xfrm>
            <a:prstGeom prst="round2DiagRect">
              <a:avLst>
                <a:gd name="adj1" fmla="val 33096"/>
                <a:gd name="adj2" fmla="val 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Times New Roman Regular" panose="02020503050405090304" charset="0"/>
                  <a:cs typeface="Times New Roman Regular" panose="02020503050405090304" charset="0"/>
                </a:rPr>
                <a:t>Group </a:t>
              </a:r>
              <a:r>
                <a:rPr lang="en-US" altLang="zh-CN">
                  <a:latin typeface="Times New Roman Regular" panose="02020503050405090304" charset="0"/>
                  <a:cs typeface="Times New Roman Regular" panose="02020503050405090304" charset="0"/>
                </a:rPr>
                <a:t>M-28</a:t>
              </a:r>
              <a:endParaRPr lang="en-US" altLang="zh-CN">
                <a:latin typeface="Times New Roman Regular" panose="02020503050405090304" charset="0"/>
                <a:cs typeface="Times New Roman Regular" panose="02020503050405090304" charset="0"/>
              </a:endParaRPr>
            </a:p>
          </p:txBody>
        </p:sp>
        <p:sp>
          <p:nvSpPr>
            <p:cNvPr id="62" name="Venn diagram"/>
            <p:cNvSpPr txBox="1"/>
            <p:nvPr userDrawn="1"/>
          </p:nvSpPr>
          <p:spPr>
            <a:xfrm>
              <a:off x="2291783" y="259550"/>
              <a:ext cx="5944870" cy="35814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rPr>
                <a:t>Genome-wide Methylation–Expression Coupling</a:t>
              </a:r>
              <a:endPar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endParaRPr>
            </a:p>
          </p:txBody>
        </p:sp>
      </p:grpSp>
      <p:pic>
        <p:nvPicPr>
          <p:cNvPr id="86" name="图片 85" descr="1fb514cb1a5e54e89daecde6a77344a3"/>
          <p:cNvPicPr>
            <a:picLocks noChangeAspect="1"/>
          </p:cNvPicPr>
          <p:nvPr/>
        </p:nvPicPr>
        <p:blipFill>
          <a:blip r:embed="rId1"/>
          <a:stretch>
            <a:fillRect/>
          </a:stretch>
        </p:blipFill>
        <p:spPr>
          <a:xfrm>
            <a:off x="10278745" y="144780"/>
            <a:ext cx="1635125" cy="473710"/>
          </a:xfrm>
          <a:prstGeom prst="rect">
            <a:avLst/>
          </a:prstGeom>
        </p:spPr>
      </p:pic>
      <p:grpSp>
        <p:nvGrpSpPr>
          <p:cNvPr id="7" name="组合 6"/>
          <p:cNvGrpSpPr/>
          <p:nvPr/>
        </p:nvGrpSpPr>
        <p:grpSpPr>
          <a:xfrm>
            <a:off x="1116965" y="4343400"/>
            <a:ext cx="2936240" cy="1600200"/>
            <a:chOff x="2148" y="6879"/>
            <a:chExt cx="5018" cy="2268"/>
          </a:xfrm>
        </p:grpSpPr>
        <p:sp>
          <p:nvSpPr>
            <p:cNvPr id="64" name="圆角矩形 63"/>
            <p:cNvSpPr/>
            <p:nvPr/>
          </p:nvSpPr>
          <p:spPr>
            <a:xfrm>
              <a:off x="2148" y="6879"/>
              <a:ext cx="5018" cy="2268"/>
            </a:xfrm>
            <a:prstGeom prst="roundRect">
              <a:avLst/>
            </a:prstGeom>
            <a:solidFill>
              <a:schemeClr val="bg1">
                <a:lumMod val="85000"/>
                <a:alpha val="21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Times New Roman Regular" panose="02020503050405090304" charset="0"/>
                <a:cs typeface="Times New Roman Regular" panose="02020503050405090304" charset="0"/>
              </a:endParaRPr>
            </a:p>
          </p:txBody>
        </p:sp>
        <p:sp>
          <p:nvSpPr>
            <p:cNvPr id="63" name="文本框 62"/>
            <p:cNvSpPr txBox="1"/>
            <p:nvPr/>
          </p:nvSpPr>
          <p:spPr>
            <a:xfrm>
              <a:off x="2430" y="7330"/>
              <a:ext cx="4348" cy="1381"/>
            </a:xfrm>
            <a:prstGeom prst="rect">
              <a:avLst/>
            </a:prstGeom>
            <a:noFill/>
          </p:spPr>
          <p:txBody>
            <a:bodyPr wrap="square" rtlCol="0">
              <a:noAutofit/>
            </a:bodyPr>
            <a:p>
              <a:pPr algn="ctr"/>
              <a:r>
                <a:rPr lang="en-US" altLang="zh-CN" b="1">
                  <a:solidFill>
                    <a:srgbClr val="AF1E2F"/>
                  </a:solidFill>
                  <a:latin typeface="Times New Roman Bold" panose="02020503050405090304" charset="0"/>
                  <a:cs typeface="Times New Roman Bold" panose="02020503050405090304" charset="0"/>
                </a:rPr>
                <a:t>Demethylation lifts transcriptional repression.</a:t>
              </a:r>
              <a:endParaRPr lang="en-US" altLang="zh-CN" b="1">
                <a:solidFill>
                  <a:srgbClr val="AF1E2F"/>
                </a:solidFill>
                <a:latin typeface="Times New Roman Bold" panose="02020503050405090304" charset="0"/>
                <a:cs typeface="Times New Roman Bold" panose="02020503050405090304" charset="0"/>
              </a:endParaRPr>
            </a:p>
          </p:txBody>
        </p:sp>
      </p:grpSp>
      <p:graphicFrame>
        <p:nvGraphicFramePr>
          <p:cNvPr id="8" name="表格 7"/>
          <p:cNvGraphicFramePr/>
          <p:nvPr>
            <p:custDataLst>
              <p:tags r:id="rId2"/>
            </p:custDataLst>
          </p:nvPr>
        </p:nvGraphicFramePr>
        <p:xfrm>
          <a:off x="4512945" y="4206875"/>
          <a:ext cx="6619240" cy="1998980"/>
        </p:xfrm>
        <a:graphic>
          <a:graphicData uri="http://schemas.openxmlformats.org/drawingml/2006/table">
            <a:tbl>
              <a:tblPr firstRow="1" bandRow="1">
                <a:tableStyleId>{5C22544A-7EE6-4342-B048-85BDC9FD1C3A}</a:tableStyleId>
              </a:tblPr>
              <a:tblGrid>
                <a:gridCol w="1033780"/>
                <a:gridCol w="5585460"/>
              </a:tblGrid>
              <a:tr h="358140">
                <a:tc>
                  <a:txBody>
                    <a:bodyPr/>
                    <a:p>
                      <a:pPr algn="ctr" fontAlgn="ctr"/>
                      <a:r>
                        <a:rPr lang="en-US" altLang="zh-CN" sz="1400" b="0" i="0">
                          <a:solidFill>
                            <a:schemeClr val="bg1"/>
                          </a:solidFill>
                          <a:latin typeface="Times New Roman Regular" panose="02020503050405090304" charset="0"/>
                          <a:ea typeface="宋体"/>
                          <a:cs typeface="Times New Roman Regular" panose="02020503050405090304" charset="0"/>
                        </a:rPr>
                        <a:t>Cancer</a:t>
                      </a:r>
                      <a:endParaRPr lang="en-US" altLang="zh-CN" sz="1400" b="0" i="0">
                        <a:solidFill>
                          <a:schemeClr val="bg1"/>
                        </a:solidFill>
                        <a:latin typeface="Times New Roman Regular" panose="02020503050405090304" charset="0"/>
                        <a:ea typeface="宋体"/>
                        <a:cs typeface="Times New Roman Regular" panose="02020503050405090304" charset="0"/>
                      </a:endParaRPr>
                    </a:p>
                  </a:txBody>
                  <a:tcPr marL="13017" marR="13017" marT="13017" marB="0" anchor="ctr" anchorCtr="0">
                    <a:solidFill>
                      <a:srgbClr val="AE192C"/>
                    </a:solidFill>
                  </a:tcPr>
                </a:tc>
                <a:tc>
                  <a:txBody>
                    <a:bodyPr/>
                    <a:p>
                      <a:pPr algn="ctr" fontAlgn="ctr"/>
                      <a:r>
                        <a:rPr lang="en-US" altLang="zh-CN" sz="1400" b="0" i="0">
                          <a:solidFill>
                            <a:schemeClr val="bg1"/>
                          </a:solidFill>
                          <a:latin typeface="Times New Roman Regular" panose="02020503050405090304" charset="0"/>
                          <a:ea typeface="宋体"/>
                          <a:cs typeface="Times New Roman Regular" panose="02020503050405090304" charset="0"/>
                        </a:rPr>
                        <a:t>Key Finding</a:t>
                      </a:r>
                      <a:endParaRPr lang="en-US" altLang="zh-CN" sz="1400" b="0" i="0">
                        <a:solidFill>
                          <a:schemeClr val="bg1"/>
                        </a:solidFill>
                        <a:latin typeface="Times New Roman Regular" panose="02020503050405090304" charset="0"/>
                        <a:ea typeface="宋体"/>
                        <a:cs typeface="Times New Roman Regular" panose="02020503050405090304" charset="0"/>
                      </a:endParaRPr>
                    </a:p>
                  </a:txBody>
                  <a:tcPr marL="13017" marR="13017" marT="13017" marB="0" anchor="ctr" anchorCtr="0">
                    <a:solidFill>
                      <a:srgbClr val="AE192C"/>
                    </a:solidFill>
                  </a:tcPr>
                </a:tc>
              </a:tr>
              <a:tr h="342900">
                <a:tc>
                  <a:txBody>
                    <a:bodyPr/>
                    <a:p>
                      <a:pPr algn="ctr" fontAlgn="ctr"/>
                      <a:r>
                        <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rPr>
                        <a:t>PRAD</a:t>
                      </a:r>
                      <a:endPar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rPr>
                        <a:t>94% hypomethylated; 343 genes activated</a:t>
                      </a:r>
                      <a:endPar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endParaRPr>
                    </a:p>
                  </a:txBody>
                  <a:tcPr marL="13017" marR="13017" marT="13017" marB="0" anchor="ctr" anchorCtr="0">
                    <a:solidFill>
                      <a:schemeClr val="bg1">
                        <a:lumMod val="85000"/>
                      </a:schemeClr>
                    </a:solidFill>
                  </a:tcPr>
                </a:tc>
              </a:tr>
              <a:tr h="471170">
                <a:tc>
                  <a:txBody>
                    <a:bodyPr/>
                    <a:p>
                      <a:pPr algn="ctr" fontAlgn="ctr"/>
                      <a:r>
                        <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rPr>
                        <a:t>STAD</a:t>
                      </a:r>
                      <a:endPar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endParaRPr>
                    </a:p>
                  </a:txBody>
                  <a:tcPr marL="13017" marR="13017" marT="13017" marB="0" anchor="ctr" anchorCtr="0">
                    <a:solidFill>
                      <a:schemeClr val="bg1"/>
                    </a:solidFill>
                  </a:tcPr>
                </a:tc>
                <a:tc>
                  <a:txBody>
                    <a:bodyPr/>
                    <a:p>
                      <a:pPr algn="ctr" fontAlgn="ctr"/>
                      <a:r>
                        <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rPr>
                        <a:t>Largest expression change (log₂FC up to 4.73)</a:t>
                      </a:r>
                      <a:endPar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endParaRPr>
                    </a:p>
                  </a:txBody>
                  <a:tcPr marL="13017" marR="13017" marT="13017" marB="0" anchor="ctr" anchorCtr="0">
                    <a:solidFill>
                      <a:schemeClr val="bg1"/>
                    </a:solidFill>
                  </a:tcPr>
                </a:tc>
              </a:tr>
              <a:tr h="468630">
                <a:tc>
                  <a:txBody>
                    <a:bodyPr/>
                    <a:p>
                      <a:pPr algn="ctr" fontAlgn="ctr"/>
                      <a:r>
                        <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rPr>
                        <a:t>SKCM</a:t>
                      </a:r>
                      <a:endPar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endParaRPr>
                    </a:p>
                  </a:txBody>
                  <a:tcPr marL="13017" marR="13017" marT="13017" marB="0" anchor="ctr" anchorCtr="0">
                    <a:solidFill>
                      <a:schemeClr val="bg1">
                        <a:lumMod val="85000"/>
                      </a:schemeClr>
                    </a:solidFill>
                  </a:tcPr>
                </a:tc>
                <a:tc>
                  <a:txBody>
                    <a:bodyPr/>
                    <a:p>
                      <a:pPr algn="ctr" fontAlgn="ctr"/>
                      <a:r>
                        <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rPr>
                        <a:t>Only cancer with hypermethylation + downregulation</a:t>
                      </a:r>
                      <a:endPar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endParaRPr>
                    </a:p>
                  </a:txBody>
                  <a:tcPr marL="13017" marR="13017" marT="13017" marB="0" anchor="ctr" anchorCtr="0">
                    <a:solidFill>
                      <a:schemeClr val="bg1">
                        <a:lumMod val="85000"/>
                      </a:schemeClr>
                    </a:solidFill>
                  </a:tcPr>
                </a:tc>
              </a:tr>
              <a:tr h="358140">
                <a:tc>
                  <a:txBody>
                    <a:bodyPr/>
                    <a:p>
                      <a:pPr algn="ctr" fontAlgn="ctr"/>
                      <a:r>
                        <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rPr>
                        <a:t>LUAD</a:t>
                      </a:r>
                      <a:endPar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endParaRPr>
                    </a:p>
                  </a:txBody>
                  <a:tcPr marL="13017" marR="13017" marT="13017" marB="0" anchor="ctr" anchorCtr="0">
                    <a:solidFill>
                      <a:schemeClr val="bg1"/>
                    </a:solidFill>
                  </a:tcPr>
                </a:tc>
                <a:tc>
                  <a:txBody>
                    <a:bodyPr/>
                    <a:p>
                      <a:pPr algn="ctr" fontAlgn="ctr"/>
                      <a:r>
                        <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rPr>
                        <a:t>No consistent methylation–expression pattern</a:t>
                      </a:r>
                      <a:endParaRPr lang="en-US" altLang="zh-CN" sz="1400" b="0" i="0">
                        <a:solidFill>
                          <a:schemeClr val="tx1">
                            <a:lumMod val="75000"/>
                            <a:lumOff val="25000"/>
                          </a:schemeClr>
                        </a:solidFill>
                        <a:latin typeface="Times New Roman Regular" panose="02020503050405090304" charset="0"/>
                        <a:ea typeface="宋体"/>
                        <a:cs typeface="Times New Roman Regular" panose="02020503050405090304" charset="0"/>
                      </a:endParaRPr>
                    </a:p>
                  </a:txBody>
                  <a:tcPr marL="13017" marR="13017" marT="13017" marB="0" anchor="ctr" anchorCtr="0">
                    <a:solidFill>
                      <a:schemeClr val="bg1"/>
                    </a:solidFill>
                  </a:tcPr>
                </a:tc>
              </a:tr>
            </a:tbl>
          </a:graphicData>
        </a:graphic>
      </p:graphicFrame>
      <p:cxnSp>
        <p:nvCxnSpPr>
          <p:cNvPr id="78" name="直接连接符 77"/>
          <p:cNvCxnSpPr/>
          <p:nvPr userDrawn="1"/>
        </p:nvCxnSpPr>
        <p:spPr>
          <a:xfrm>
            <a:off x="300990" y="6567805"/>
            <a:ext cx="11612880" cy="0"/>
          </a:xfrm>
          <a:prstGeom prst="line">
            <a:avLst/>
          </a:prstGeom>
          <a:ln>
            <a:solidFill>
              <a:srgbClr val="EEB6B0"/>
            </a:solidFill>
          </a:ln>
        </p:spPr>
        <p:style>
          <a:lnRef idx="1">
            <a:schemeClr val="accent1"/>
          </a:lnRef>
          <a:fillRef idx="0">
            <a:schemeClr val="accent1"/>
          </a:fillRef>
          <a:effectRef idx="0">
            <a:schemeClr val="accent1"/>
          </a:effectRef>
          <a:fontRef idx="minor">
            <a:schemeClr val="tx1"/>
          </a:fontRef>
        </p:style>
      </p:cxnSp>
      <p:sp>
        <p:nvSpPr>
          <p:cNvPr id="81" name="文本框 80"/>
          <p:cNvSpPr txBox="1"/>
          <p:nvPr userDrawn="1"/>
        </p:nvSpPr>
        <p:spPr>
          <a:xfrm>
            <a:off x="266700" y="6604000"/>
            <a:ext cx="10967720" cy="327660"/>
          </a:xfrm>
          <a:prstGeom prst="rect">
            <a:avLst/>
          </a:prstGeom>
          <a:noFill/>
        </p:spPr>
        <p:txBody>
          <a:bodyPr wrap="none" rtlCol="0">
            <a:noAutofit/>
          </a:bodyPr>
          <a:p>
            <a:pPr algn="l"/>
            <a:r>
              <a:rPr lang="en-US" altLang="zh-CN" sz="600" spc="300" dirty="0">
                <a:solidFill>
                  <a:srgbClr val="AE192C"/>
                </a:solidFill>
                <a:latin typeface="Montserrat" panose="00000500000000000000" pitchFamily="2" charset="0"/>
                <a:ea typeface="HarmonyOS Sans SC Light" panose="00000400000000000000" pitchFamily="2" charset="-122"/>
              </a:rPr>
              <a:t>Project Workflow Overview</a:t>
            </a:r>
            <a:endParaRPr lang="en-US" altLang="zh-CN" sz="600" spc="300" dirty="0">
              <a:solidFill>
                <a:srgbClr val="AE192C"/>
              </a:solidFill>
              <a:latin typeface="Montserrat" panose="00000500000000000000" pitchFamily="2" charset="0"/>
              <a:ea typeface="HarmonyOS Sans SC Light" panose="00000400000000000000" pitchFamily="2" charset="-122"/>
            </a:endParaRPr>
          </a:p>
          <a:p>
            <a:pPr algn="l"/>
            <a:endParaRPr lang="en-US" altLang="zh-CN" sz="600" spc="300" dirty="0">
              <a:solidFill>
                <a:srgbClr val="AE192C"/>
              </a:solidFill>
              <a:latin typeface="Montserrat" panose="00000500000000000000" pitchFamily="2" charset="0"/>
              <a:ea typeface="HarmonyOS Sans SC Light" panose="000004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84"/>
          <p:cNvSpPr/>
          <p:nvPr>
            <p:custDataLst>
              <p:tags r:id="rId1"/>
            </p:custDataLst>
          </p:nvPr>
        </p:nvSpPr>
        <p:spPr>
          <a:xfrm>
            <a:off x="574675" y="1001395"/>
            <a:ext cx="3056255" cy="4469130"/>
          </a:xfrm>
          <a:prstGeom prst="roundRect">
            <a:avLst>
              <a:gd name="adj" fmla="val 2745"/>
            </a:avLst>
          </a:prstGeom>
          <a:solidFill>
            <a:schemeClr val="bg1"/>
          </a:solidFill>
          <a:ln>
            <a:noFill/>
          </a:ln>
          <a:effectLst>
            <a:outerShdw blurRad="762000" dist="139700" dir="5400000" sx="93000" sy="93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latin typeface="OPPOSans H" panose="00020600040101010101" charset="-122"/>
              <a:ea typeface="OPPOSans H" panose="00020600040101010101" charset="-122"/>
            </a:endParaRPr>
          </a:p>
        </p:txBody>
      </p:sp>
      <p:sp>
        <p:nvSpPr>
          <p:cNvPr id="60" name="Rectangle: Rounded Corners 84"/>
          <p:cNvSpPr/>
          <p:nvPr>
            <p:custDataLst>
              <p:tags r:id="rId2"/>
            </p:custDataLst>
          </p:nvPr>
        </p:nvSpPr>
        <p:spPr>
          <a:xfrm>
            <a:off x="486410" y="5553710"/>
            <a:ext cx="11400790" cy="1017905"/>
          </a:xfrm>
          <a:prstGeom prst="roundRect">
            <a:avLst>
              <a:gd name="adj" fmla="val 2745"/>
            </a:avLst>
          </a:prstGeom>
          <a:solidFill>
            <a:schemeClr val="bg1"/>
          </a:solidFill>
          <a:ln>
            <a:noFill/>
          </a:ln>
          <a:effectLst>
            <a:outerShdw blurRad="762000" dist="139700" dir="5400000" sx="93000" sy="93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dirty="0">
              <a:latin typeface="OPPOSans H" panose="00020600040101010101" charset="-122"/>
              <a:ea typeface="OPPOSans H" panose="00020600040101010101" charset="-122"/>
            </a:endParaRPr>
          </a:p>
        </p:txBody>
      </p:sp>
      <p:sp>
        <p:nvSpPr>
          <p:cNvPr id="14" name="矩形 1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p:cNvSpPr/>
          <p:nvPr/>
        </p:nvSpPr>
        <p:spPr>
          <a:xfrm>
            <a:off x="3" y="0"/>
            <a:ext cx="164956" cy="6858000"/>
          </a:xfrm>
          <a:prstGeom prst="rect">
            <a:avLst/>
          </a:prstGeom>
          <a:solidFill>
            <a:srgbClr val="F0E1DB">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1350">
              <a:solidFill>
                <a:prstClr val="white"/>
              </a:solidFill>
              <a:latin typeface="Times New Roman Regular" panose="02020503050405090304" charset="0"/>
              <a:ea typeface="宋体" pitchFamily="2" charset="-122"/>
              <a:cs typeface="Times New Roman Regular" panose="02020503050405090304" charset="0"/>
            </a:endParaRPr>
          </a:p>
        </p:txBody>
      </p:sp>
      <p:sp>
        <p:nvSpPr>
          <p:cNvPr id="42" name="文本框 41"/>
          <p:cNvSpPr txBox="1"/>
          <p:nvPr/>
        </p:nvSpPr>
        <p:spPr>
          <a:xfrm>
            <a:off x="918845" y="5734685"/>
            <a:ext cx="10456545" cy="605155"/>
          </a:xfrm>
          <a:prstGeom prst="rect">
            <a:avLst/>
          </a:prstGeom>
          <a:noFill/>
        </p:spPr>
        <p:txBody>
          <a:bodyPr wrap="square" rtlCol="0">
            <a:noAutofit/>
          </a:bodyPr>
          <a:lstStyle/>
          <a:p>
            <a:pPr indent="0" algn="ctr" defTabSz="914400">
              <a:buFont typeface="Arial" panose="020B0604020202090204" pitchFamily="34" charset="0"/>
              <a:buNone/>
            </a:pPr>
            <a:r>
              <a:rPr lang="en-US" altLang="zh-CN" sz="1600">
                <a:solidFill>
                  <a:srgbClr val="AE1A2C"/>
                </a:solidFill>
                <a:latin typeface="Times New Roman Regular" panose="02020503050405090304" charset="0"/>
                <a:ea typeface="MiSans Heavy" panose="00000A00000000000000" pitchFamily="2" charset="-122"/>
                <a:cs typeface="Times New Roman Regular" panose="02020503050405090304" charset="0"/>
              </a:rPr>
              <a:t>These results highlight a cancer-type specific regulation pattern, where MIR100HG is epigenetically suppressed in PAAD, but potentially regulated by alternative mechanisms in other cancers.</a:t>
            </a:r>
            <a:endParaRPr lang="en-US" altLang="zh-CN" sz="1600">
              <a:solidFill>
                <a:srgbClr val="AE1A2C"/>
              </a:solidFill>
              <a:latin typeface="Times New Roman Regular" panose="02020503050405090304" charset="0"/>
              <a:ea typeface="MiSans Heavy" panose="00000A00000000000000" pitchFamily="2" charset="-122"/>
              <a:cs typeface="Times New Roman Regular" panose="02020503050405090304" charset="0"/>
            </a:endParaRPr>
          </a:p>
        </p:txBody>
      </p:sp>
      <p:sp useBgFill="1">
        <p:nvSpPr>
          <p:cNvPr id="6" name="文本框 5"/>
          <p:cNvSpPr txBox="1"/>
          <p:nvPr/>
        </p:nvSpPr>
        <p:spPr>
          <a:xfrm>
            <a:off x="486410" y="1084580"/>
            <a:ext cx="2966085" cy="4385310"/>
          </a:xfrm>
          <a:prstGeom prst="rect">
            <a:avLst/>
          </a:prstGeom>
        </p:spPr>
        <p:txBody>
          <a:bodyPr wrap="square" rtlCol="0">
            <a:noAutofit/>
          </a:bodyPr>
          <a:lstStyle/>
          <a:p>
            <a:pPr marL="285750" indent="-285750" defTabSz="914400">
              <a:lnSpc>
                <a:spcPct val="150000"/>
              </a:lnSpc>
              <a:buFont typeface="Arial" panose="020B0604020202090204" pitchFamily="34" charset="0"/>
              <a:buChar char="•"/>
            </a:pPr>
            <a:r>
              <a:rPr lang="en-US" altLang="zh-CN" sz="1400">
                <a:solidFill>
                  <a:srgbClr val="FFFFFF">
                    <a:lumMod val="50000"/>
                  </a:srgbClr>
                </a:solidFill>
                <a:latin typeface="Times New Roman Regular" panose="02020503050405090304" charset="0"/>
                <a:ea typeface="微软雅黑 Light" panose="020B0502040204020203" charset="-122"/>
                <a:cs typeface="Times New Roman Regular" panose="02020503050405090304" charset="0"/>
              </a:rPr>
              <a:t>In PAAD, 75% of promoter probes were negatively correlated with MIR100HG expression,</a:t>
            </a:r>
            <a:r>
              <a:rPr lang="en-US" altLang="zh-CN" sz="1400">
                <a:solidFill>
                  <a:srgbClr val="B71A2B"/>
                </a:solidFill>
                <a:latin typeface="Times New Roman" panose="02020503050405090304" charset="0"/>
                <a:ea typeface="微软雅黑 Light" panose="020B0502040204020203" charset="-122"/>
                <a:cs typeface="Times New Roman" panose="02020503050405090304" charset="0"/>
              </a:rPr>
              <a:t> supporting classical epigenetic repression.</a:t>
            </a:r>
            <a:endParaRPr lang="en-US" altLang="zh-CN" sz="1400">
              <a:solidFill>
                <a:srgbClr val="FFFFFF">
                  <a:lumMod val="50000"/>
                </a:srgbClr>
              </a:solidFill>
              <a:latin typeface="Times New Roman Regular" panose="02020503050405090304" charset="0"/>
              <a:ea typeface="微软雅黑 Light" panose="020B0502040204020203" charset="-122"/>
              <a:cs typeface="Times New Roman Regular" panose="02020503050405090304" charset="0"/>
            </a:endParaRPr>
          </a:p>
          <a:p>
            <a:pPr marL="285750" indent="-285750" defTabSz="914400">
              <a:lnSpc>
                <a:spcPct val="150000"/>
              </a:lnSpc>
              <a:buFont typeface="Arial" panose="020B0604020202090204" pitchFamily="34" charset="0"/>
              <a:buChar char="•"/>
            </a:pPr>
            <a:r>
              <a:rPr lang="en-US" altLang="zh-CN" sz="1400">
                <a:solidFill>
                  <a:srgbClr val="FFFFFF">
                    <a:lumMod val="50000"/>
                  </a:srgbClr>
                </a:solidFill>
                <a:latin typeface="Times New Roman Regular" panose="02020503050405090304" charset="0"/>
                <a:ea typeface="微软雅黑 Light" panose="020B0502040204020203" charset="-122"/>
                <a:cs typeface="Times New Roman Regular" panose="02020503050405090304" charset="0"/>
              </a:rPr>
              <a:t>In STAD, PRAD, and LUAD, most probes showed positive correlation, </a:t>
            </a:r>
            <a:r>
              <a:rPr lang="en-US" altLang="zh-CN" sz="1400">
                <a:solidFill>
                  <a:srgbClr val="B71A2B"/>
                </a:solidFill>
                <a:latin typeface="Times New Roman Regular" panose="02020503050405090304" charset="0"/>
                <a:ea typeface="微软雅黑 Light" panose="020B0502040204020203" charset="-122"/>
                <a:cs typeface="Times New Roman Regular" panose="02020503050405090304" charset="0"/>
              </a:rPr>
              <a:t>suggesting non-methylation-driven activation.</a:t>
            </a:r>
            <a:endParaRPr lang="en-US" altLang="zh-CN" sz="1400">
              <a:solidFill>
                <a:srgbClr val="FFFFFF">
                  <a:lumMod val="50000"/>
                </a:srgbClr>
              </a:solidFill>
              <a:latin typeface="Times New Roman Regular" panose="02020503050405090304" charset="0"/>
              <a:ea typeface="微软雅黑 Light" panose="020B0502040204020203" charset="-122"/>
              <a:cs typeface="Times New Roman Regular" panose="02020503050405090304" charset="0"/>
            </a:endParaRPr>
          </a:p>
          <a:p>
            <a:pPr marL="285750" indent="-285750" defTabSz="914400">
              <a:lnSpc>
                <a:spcPct val="150000"/>
              </a:lnSpc>
              <a:buFont typeface="Arial" panose="020B0604020202090204" pitchFamily="34" charset="0"/>
              <a:buChar char="•"/>
            </a:pPr>
            <a:r>
              <a:rPr lang="en-US" altLang="zh-CN" sz="1400">
                <a:solidFill>
                  <a:srgbClr val="FFFFFF">
                    <a:lumMod val="50000"/>
                  </a:srgbClr>
                </a:solidFill>
                <a:latin typeface="Times New Roman Regular" panose="02020503050405090304" charset="0"/>
                <a:ea typeface="微软雅黑 Light" panose="020B0502040204020203" charset="-122"/>
                <a:cs typeface="Times New Roman Regular" panose="02020503050405090304" charset="0"/>
              </a:rPr>
              <a:t>The regulatory pattern is cancer-specific, indicating divergent mechanisms of MIR100HG expression.</a:t>
            </a:r>
            <a:endParaRPr lang="en-US" altLang="zh-CN" sz="1400">
              <a:solidFill>
                <a:srgbClr val="FFFFFF">
                  <a:lumMod val="50000"/>
                </a:srgbClr>
              </a:solidFill>
              <a:latin typeface="Times New Roman Regular" panose="02020503050405090304" charset="0"/>
              <a:ea typeface="微软雅黑 Light" panose="020B0502040204020203" charset="-122"/>
              <a:cs typeface="Times New Roman Regular" panose="02020503050405090304" charset="0"/>
            </a:endParaRPr>
          </a:p>
        </p:txBody>
      </p:sp>
      <p:grpSp>
        <p:nvGrpSpPr>
          <p:cNvPr id="3" name="组合 2"/>
          <p:cNvGrpSpPr/>
          <p:nvPr/>
        </p:nvGrpSpPr>
        <p:grpSpPr>
          <a:xfrm>
            <a:off x="301058" y="259550"/>
            <a:ext cx="11613108" cy="495853"/>
            <a:chOff x="301058" y="259550"/>
            <a:chExt cx="11613108" cy="495853"/>
          </a:xfrm>
        </p:grpSpPr>
        <p:sp>
          <p:nvSpPr>
            <p:cNvPr id="5" name="矩形: 圆角 8"/>
            <p:cNvSpPr/>
            <p:nvPr userDrawn="1"/>
          </p:nvSpPr>
          <p:spPr>
            <a:xfrm flipV="1">
              <a:off x="2170802" y="709684"/>
              <a:ext cx="9743364" cy="45719"/>
            </a:xfrm>
            <a:prstGeom prst="roundRect">
              <a:avLst/>
            </a:prstGeom>
            <a:solidFill>
              <a:srgbClr val="8C0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Times New Roman Regular" panose="02020503050405090304" charset="0"/>
                <a:cs typeface="Times New Roman Regular" panose="02020503050405090304" charset="0"/>
              </a:endParaRPr>
            </a:p>
          </p:txBody>
        </p:sp>
        <p:sp>
          <p:nvSpPr>
            <p:cNvPr id="13" name="矩形: 圆角 12"/>
            <p:cNvSpPr/>
            <p:nvPr userDrawn="1"/>
          </p:nvSpPr>
          <p:spPr>
            <a:xfrm flipV="1">
              <a:off x="301058" y="709682"/>
              <a:ext cx="1801505" cy="45719"/>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61" name="矩形: 对角圆角 60"/>
            <p:cNvSpPr/>
            <p:nvPr userDrawn="1"/>
          </p:nvSpPr>
          <p:spPr>
            <a:xfrm>
              <a:off x="301058" y="259550"/>
              <a:ext cx="1801505" cy="359073"/>
            </a:xfrm>
            <a:prstGeom prst="round2DiagRect">
              <a:avLst>
                <a:gd name="adj1" fmla="val 33096"/>
                <a:gd name="adj2" fmla="val 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Times New Roman Regular" panose="02020503050405090304" charset="0"/>
                  <a:cs typeface="Times New Roman Regular" panose="02020503050405090304" charset="0"/>
                </a:rPr>
                <a:t>Group </a:t>
              </a:r>
              <a:r>
                <a:rPr lang="en-US" altLang="zh-CN">
                  <a:latin typeface="Times New Roman Regular" panose="02020503050405090304" charset="0"/>
                  <a:cs typeface="Times New Roman Regular" panose="02020503050405090304" charset="0"/>
                </a:rPr>
                <a:t>M-28</a:t>
              </a:r>
              <a:endParaRPr lang="en-US" altLang="zh-CN">
                <a:latin typeface="Times New Roman Regular" panose="02020503050405090304" charset="0"/>
                <a:cs typeface="Times New Roman Regular" panose="02020503050405090304" charset="0"/>
              </a:endParaRPr>
            </a:p>
          </p:txBody>
        </p:sp>
        <p:sp>
          <p:nvSpPr>
            <p:cNvPr id="62" name="Venn diagram"/>
            <p:cNvSpPr txBox="1"/>
            <p:nvPr userDrawn="1"/>
          </p:nvSpPr>
          <p:spPr>
            <a:xfrm>
              <a:off x="2291783" y="259550"/>
              <a:ext cx="8191500" cy="35814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rPr>
                <a:t>MIR100HG Promoter Methylation and Its Expression Correlation</a:t>
              </a:r>
              <a:endPar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endParaRPr>
            </a:p>
          </p:txBody>
        </p:sp>
      </p:grpSp>
      <p:pic>
        <p:nvPicPr>
          <p:cNvPr id="86" name="图片 85" descr="1fb514cb1a5e54e89daecde6a77344a3"/>
          <p:cNvPicPr>
            <a:picLocks noChangeAspect="1"/>
          </p:cNvPicPr>
          <p:nvPr/>
        </p:nvPicPr>
        <p:blipFill>
          <a:blip r:embed="rId3"/>
          <a:stretch>
            <a:fillRect/>
          </a:stretch>
        </p:blipFill>
        <p:spPr>
          <a:xfrm>
            <a:off x="10278745" y="144780"/>
            <a:ext cx="1635125" cy="473710"/>
          </a:xfrm>
          <a:prstGeom prst="rect">
            <a:avLst/>
          </a:prstGeom>
        </p:spPr>
      </p:pic>
      <p:graphicFrame>
        <p:nvGraphicFramePr>
          <p:cNvPr id="26" name="表格 25"/>
          <p:cNvGraphicFramePr/>
          <p:nvPr>
            <p:custDataLst>
              <p:tags r:id="rId4"/>
            </p:custDataLst>
          </p:nvPr>
        </p:nvGraphicFramePr>
        <p:xfrm>
          <a:off x="3774440" y="1131570"/>
          <a:ext cx="7933690" cy="4192270"/>
        </p:xfrm>
        <a:graphic>
          <a:graphicData uri="http://schemas.openxmlformats.org/drawingml/2006/table">
            <a:tbl>
              <a:tblPr firstRow="1" bandRow="1">
                <a:tableStyleId>{5C22544A-7EE6-4342-B048-85BDC9FD1C3A}</a:tableStyleId>
              </a:tblPr>
              <a:tblGrid>
                <a:gridCol w="1317625"/>
                <a:gridCol w="1070610"/>
                <a:gridCol w="1720215"/>
                <a:gridCol w="1637665"/>
                <a:gridCol w="1421130"/>
                <a:gridCol w="766445"/>
              </a:tblGrid>
              <a:tr h="1078865">
                <a:tc>
                  <a:txBody>
                    <a:bodyPr/>
                    <a:p>
                      <a:pPr algn="ctr"/>
                      <a:r>
                        <a:rPr lang="en-US" altLang="zh-CN" sz="1400" b="0" i="0">
                          <a:solidFill>
                            <a:schemeClr val="bg1"/>
                          </a:solidFill>
                          <a:latin typeface="Times New Roman Regular" panose="02020503050405090304" charset="0"/>
                          <a:cs typeface="Times New Roman Regular" panose="02020503050405090304" charset="0"/>
                        </a:rPr>
                        <a:t>Cancer type</a:t>
                      </a:r>
                      <a:endParaRPr lang="en-US" altLang="zh-CN" sz="1400" b="0" i="0">
                        <a:solidFill>
                          <a:schemeClr val="bg1"/>
                        </a:solidFill>
                        <a:latin typeface="Times New Roman Regular" panose="02020503050405090304" charset="0"/>
                        <a:cs typeface="Times New Roman Regular" panose="02020503050405090304" charset="0"/>
                      </a:endParaRPr>
                    </a:p>
                  </a:txBody>
                  <a:tcPr marL="0" marR="0" marT="0" marB="0" anchor="ctr" anchorCtr="0">
                    <a:solidFill>
                      <a:srgbClr val="AE192C"/>
                    </a:solidFill>
                  </a:tcPr>
                </a:tc>
                <a:tc>
                  <a:txBody>
                    <a:bodyPr/>
                    <a:p>
                      <a:pPr algn="ctr"/>
                      <a:r>
                        <a:rPr lang="en-US" altLang="zh-CN" sz="1400" b="0" i="0">
                          <a:solidFill>
                            <a:schemeClr val="bg1"/>
                          </a:solidFill>
                          <a:latin typeface="Times New Roman Regular" panose="02020503050405090304" charset="0"/>
                          <a:cs typeface="Times New Roman Regular" panose="02020503050405090304" charset="0"/>
                        </a:rPr>
                        <a:t>Valid probes</a:t>
                      </a:r>
                      <a:endParaRPr lang="en-US" altLang="zh-CN" sz="1400" b="0" i="0">
                        <a:solidFill>
                          <a:schemeClr val="bg1"/>
                        </a:solidFill>
                        <a:latin typeface="Times New Roman Regular" panose="02020503050405090304" charset="0"/>
                        <a:cs typeface="Times New Roman Regular" panose="02020503050405090304" charset="0"/>
                      </a:endParaRPr>
                    </a:p>
                  </a:txBody>
                  <a:tcPr marL="0" marR="0" marT="0" marB="0" anchor="ctr" anchorCtr="0">
                    <a:solidFill>
                      <a:srgbClr val="AE192C"/>
                    </a:solidFill>
                  </a:tcPr>
                </a:tc>
                <a:tc>
                  <a:txBody>
                    <a:bodyPr/>
                    <a:p>
                      <a:pPr algn="ctr"/>
                      <a:r>
                        <a:rPr lang="en-US" altLang="zh-CN" sz="1400" b="0" i="0">
                          <a:solidFill>
                            <a:schemeClr val="bg1"/>
                          </a:solidFill>
                          <a:latin typeface="Times New Roman Regular" panose="02020503050405090304" charset="0"/>
                          <a:cs typeface="Times New Roman Regular" panose="02020503050405090304" charset="0"/>
                        </a:rPr>
                        <a:t>Significant negative correlation probes (FDR&lt;0.05)</a:t>
                      </a:r>
                      <a:endParaRPr lang="en-US" altLang="zh-CN" sz="1400" b="0" i="0">
                        <a:solidFill>
                          <a:schemeClr val="bg1"/>
                        </a:solidFill>
                        <a:latin typeface="Times New Roman Regular" panose="02020503050405090304" charset="0"/>
                        <a:cs typeface="Times New Roman Regular" panose="02020503050405090304" charset="0"/>
                      </a:endParaRPr>
                    </a:p>
                  </a:txBody>
                  <a:tcPr marL="0" marR="0" marT="0" marB="0" anchor="ctr" anchorCtr="0">
                    <a:solidFill>
                      <a:srgbClr val="AE192C"/>
                    </a:solidFill>
                  </a:tcPr>
                </a:tc>
                <a:tc>
                  <a:txBody>
                    <a:bodyPr/>
                    <a:p>
                      <a:pPr algn="ctr"/>
                      <a:r>
                        <a:rPr lang="en-US" altLang="zh-CN" sz="1400" b="0" i="0">
                          <a:solidFill>
                            <a:schemeClr val="bg1"/>
                          </a:solidFill>
                          <a:latin typeface="Times New Roman Regular" panose="02020503050405090304" charset="0"/>
                          <a:cs typeface="Times New Roman Regular" panose="02020503050405090304" charset="0"/>
                        </a:rPr>
                        <a:t>Significant positive correlation probes (FDR&lt;0.05)</a:t>
                      </a:r>
                      <a:endParaRPr lang="en-US" altLang="zh-CN" sz="1400" b="0" i="0">
                        <a:solidFill>
                          <a:schemeClr val="bg1"/>
                        </a:solidFill>
                        <a:latin typeface="Times New Roman Regular" panose="02020503050405090304" charset="0"/>
                        <a:cs typeface="Times New Roman Regular" panose="02020503050405090304" charset="0"/>
                      </a:endParaRPr>
                    </a:p>
                  </a:txBody>
                  <a:tcPr marL="0" marR="0" marT="0" marB="0" anchor="ctr" anchorCtr="0">
                    <a:solidFill>
                      <a:srgbClr val="AE192C"/>
                    </a:solidFill>
                  </a:tcPr>
                </a:tc>
                <a:tc>
                  <a:txBody>
                    <a:bodyPr/>
                    <a:p>
                      <a:pPr algn="ctr"/>
                      <a:r>
                        <a:rPr lang="en-US" altLang="zh-CN" sz="1400" b="0" i="0">
                          <a:solidFill>
                            <a:schemeClr val="bg1"/>
                          </a:solidFill>
                          <a:latin typeface="Times New Roman Regular" panose="02020503050405090304" charset="0"/>
                          <a:cs typeface="Times New Roman Regular" panose="02020503050405090304" charset="0"/>
                        </a:rPr>
                        <a:t>Dominant correlation trend</a:t>
                      </a:r>
                      <a:endParaRPr lang="en-US" altLang="zh-CN" sz="1400" b="0" i="0">
                        <a:solidFill>
                          <a:schemeClr val="bg1"/>
                        </a:solidFill>
                        <a:latin typeface="Times New Roman Regular" panose="02020503050405090304" charset="0"/>
                        <a:cs typeface="Times New Roman Regular" panose="02020503050405090304" charset="0"/>
                      </a:endParaRPr>
                    </a:p>
                  </a:txBody>
                  <a:tcPr marL="0" marR="0" marT="0" marB="0" anchor="ctr" anchorCtr="0">
                    <a:solidFill>
                      <a:srgbClr val="AE192C"/>
                    </a:solidFill>
                  </a:tcPr>
                </a:tc>
                <a:tc>
                  <a:txBody>
                    <a:bodyPr/>
                    <a:p>
                      <a:pPr algn="ctr"/>
                      <a:r>
                        <a:rPr lang="en-US" altLang="zh-CN" sz="1400" b="0" i="0">
                          <a:solidFill>
                            <a:schemeClr val="bg1"/>
                          </a:solidFill>
                          <a:latin typeface="Times New Roman Regular" panose="02020503050405090304" charset="0"/>
                          <a:cs typeface="Times New Roman Regular" panose="02020503050405090304" charset="0"/>
                        </a:rPr>
                        <a:t>Sample size</a:t>
                      </a:r>
                      <a:endParaRPr lang="en-US" altLang="zh-CN" sz="1400" b="0" i="0">
                        <a:solidFill>
                          <a:schemeClr val="bg1"/>
                        </a:solidFill>
                        <a:latin typeface="Times New Roman Regular" panose="02020503050405090304" charset="0"/>
                        <a:cs typeface="Times New Roman Regular" panose="02020503050405090304" charset="0"/>
                      </a:endParaRPr>
                    </a:p>
                  </a:txBody>
                  <a:tcPr marL="0" marR="0" marT="0" marB="0" anchor="ctr" anchorCtr="0">
                    <a:solidFill>
                      <a:srgbClr val="AE192C"/>
                    </a:solidFill>
                  </a:tcPr>
                </a:tc>
              </a:tr>
              <a:tr h="522605">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STAD</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16</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2 (12.5%)</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14 (87.5%)</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Primarily positive</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371</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r>
              <a:tr h="689610">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LUAD</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7</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0 (0%)</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7 (100%)</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Primarily positive</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453</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solidFill>
                  </a:tcPr>
                </a:tc>
              </a:tr>
              <a:tr h="688975">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PRAD</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55</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6 (10.9%)</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36 (65.5%)</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Primarily positive</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495</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r>
              <a:tr h="522605">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PAAD</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4</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3 (75%)</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1 (25%)</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Primarily negative</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178</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solidFill>
                  </a:tcPr>
                </a:tc>
              </a:tr>
              <a:tr h="689610">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SKCM</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56</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2 (3.6%)</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5 (8.9%)</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Both minimal</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c>
                  <a:txBody>
                    <a:bodyPr/>
                    <a:p>
                      <a:pPr algn="ctr"/>
                      <a:r>
                        <a:rPr lang="en-US" altLang="zh-CN" sz="1400" b="0" i="0">
                          <a:solidFill>
                            <a:schemeClr val="tx1">
                              <a:lumMod val="65000"/>
                              <a:lumOff val="35000"/>
                            </a:schemeClr>
                          </a:solidFill>
                          <a:latin typeface="Times New Roman Regular" panose="02020503050405090304" charset="0"/>
                          <a:cs typeface="Times New Roman Regular" panose="02020503050405090304" charset="0"/>
                        </a:rPr>
                        <a:t>102</a:t>
                      </a:r>
                      <a:endParaRPr lang="en-US" altLang="zh-CN" sz="1400" b="0" i="0">
                        <a:solidFill>
                          <a:schemeClr val="tx1">
                            <a:lumMod val="65000"/>
                            <a:lumOff val="35000"/>
                          </a:schemeClr>
                        </a:solidFill>
                        <a:latin typeface="Times New Roman Regular" panose="02020503050405090304" charset="0"/>
                        <a:cs typeface="Times New Roman Regular" panose="02020503050405090304" charset="0"/>
                      </a:endParaRPr>
                    </a:p>
                  </a:txBody>
                  <a:tcPr marL="0" marR="0" marT="0" marB="0" anchor="ctr" anchorCtr="0">
                    <a:solidFill>
                      <a:schemeClr val="bg1">
                        <a:lumMod val="8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advClick="0" advTm="3000">
        <p:random/>
      </p:transition>
    </mc:Choice>
    <mc:Fallback>
      <p:transition spd="slow" advClick="0" advTm="3000">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3"/>
          <p:cNvSpPr/>
          <p:nvPr userDrawn="1"/>
        </p:nvSpPr>
        <p:spPr>
          <a:xfrm flipV="1">
            <a:off x="2170803" y="709685"/>
            <a:ext cx="9743364" cy="45719"/>
          </a:xfrm>
          <a:prstGeom prst="roundRect">
            <a:avLst/>
          </a:prstGeom>
          <a:solidFill>
            <a:srgbClr val="AF1E2F"/>
          </a:solidFill>
          <a:ln>
            <a:solidFill>
              <a:srgbClr val="AF1E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28C"/>
              </a:solidFill>
              <a:latin typeface="Times New Roman Regular" panose="02020503050405090304" charset="0"/>
              <a:ea typeface="等线" panose="02010600030101010101" charset="-122"/>
              <a:cs typeface="Times New Roman Regular" panose="02020503050405090304" charset="0"/>
            </a:endParaRPr>
          </a:p>
        </p:txBody>
      </p:sp>
      <p:sp>
        <p:nvSpPr>
          <p:cNvPr id="20" name="矩形: 对角圆角 19"/>
          <p:cNvSpPr/>
          <p:nvPr userDrawn="1"/>
        </p:nvSpPr>
        <p:spPr>
          <a:xfrm>
            <a:off x="301059" y="259551"/>
            <a:ext cx="1801505" cy="359073"/>
          </a:xfrm>
          <a:prstGeom prst="round2DiagRect">
            <a:avLst>
              <a:gd name="adj1" fmla="val 33096"/>
              <a:gd name="adj2" fmla="val 0"/>
            </a:avLst>
          </a:prstGeom>
          <a:solidFill>
            <a:srgbClr val="AF1E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latin typeface="Times New Roman Regular" panose="02020503050405090304" charset="0"/>
                <a:cs typeface="Times New Roman Regular" panose="02020503050405090304" charset="0"/>
                <a:sym typeface="+mn-ea"/>
              </a:rPr>
              <a:t>Group M-28</a:t>
            </a:r>
            <a:endParaRPr lang="en-US" altLang="zh-CN" b="1">
              <a:solidFill>
                <a:srgbClr val="FFFFFF"/>
              </a:solidFill>
              <a:latin typeface="Times New Roman Regular" panose="02020503050405090304" charset="0"/>
              <a:ea typeface="等线" panose="02010600030101010101" charset="-122"/>
              <a:cs typeface="Times New Roman Regular" panose="02020503050405090304" charset="0"/>
              <a:sym typeface="+mn-ea"/>
            </a:endParaRPr>
          </a:p>
        </p:txBody>
      </p:sp>
      <p:sp>
        <p:nvSpPr>
          <p:cNvPr id="22" name="Venn diagram"/>
          <p:cNvSpPr txBox="1"/>
          <p:nvPr userDrawn="1"/>
        </p:nvSpPr>
        <p:spPr>
          <a:xfrm>
            <a:off x="2292350" y="259715"/>
            <a:ext cx="6139180" cy="35814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r>
              <a:rPr lang="en-US" sz="2000" b="1" dirty="0">
                <a:solidFill>
                  <a:srgbClr val="AF1E2F"/>
                </a:solidFill>
                <a:latin typeface="Times New Roman Regular" panose="02020503050405090304" charset="0"/>
                <a:ea typeface="MiSans" panose="00000800000000000000" pitchFamily="2" charset="-122"/>
                <a:cs typeface="Times New Roman Regular" panose="02020503050405090304" charset="0"/>
              </a:rPr>
              <a:t>Task2: N</a:t>
            </a:r>
            <a:r>
              <a:rPr lang="en-US" altLang="zh-CN" sz="2000" b="1" dirty="0">
                <a:solidFill>
                  <a:srgbClr val="AF1E2F"/>
                </a:solidFill>
                <a:latin typeface="Times New Roman Regular" panose="02020503050405090304" charset="0"/>
                <a:ea typeface="MiSans" panose="00000800000000000000" pitchFamily="2" charset="-122"/>
                <a:cs typeface="Times New Roman Regular" panose="02020503050405090304" charset="0"/>
              </a:rPr>
              <a:t>ormal Tissue Analysis Conclusion</a:t>
            </a:r>
            <a:endParaRPr lang="en-US" altLang="zh-CN" sz="2000" b="1" dirty="0">
              <a:solidFill>
                <a:srgbClr val="AF1E2F"/>
              </a:solidFill>
              <a:latin typeface="Times New Roman Regular" panose="02020503050405090304" charset="0"/>
              <a:ea typeface="MiSans" panose="00000800000000000000" pitchFamily="2" charset="-122"/>
              <a:cs typeface="Times New Roman Regular" panose="02020503050405090304" charset="0"/>
            </a:endParaRPr>
          </a:p>
        </p:txBody>
      </p:sp>
      <p:sp>
        <p:nvSpPr>
          <p:cNvPr id="64" name="Rectangle: Rounded Corners 84"/>
          <p:cNvSpPr/>
          <p:nvPr>
            <p:custDataLst>
              <p:tags r:id="rId1"/>
            </p:custDataLst>
          </p:nvPr>
        </p:nvSpPr>
        <p:spPr>
          <a:xfrm>
            <a:off x="6554470" y="4476115"/>
            <a:ext cx="5356225" cy="1924685"/>
          </a:xfrm>
          <a:prstGeom prst="roundRect">
            <a:avLst>
              <a:gd name="adj" fmla="val 2745"/>
            </a:avLst>
          </a:prstGeom>
          <a:solidFill>
            <a:schemeClr val="bg1"/>
          </a:solidFill>
          <a:ln>
            <a:noFill/>
          </a:ln>
          <a:effectLst>
            <a:outerShdw blurRad="762000" dist="139700" dir="5400000" sx="93000" sy="93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285750" indent="-285750" algn="l">
              <a:buFont typeface="Arial" panose="020B0604020202090204" pitchFamily="34" charset="0"/>
              <a:buChar char="•"/>
            </a:pPr>
            <a:endPar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endParaRPr>
          </a:p>
          <a:p>
            <a:pPr marL="285750" indent="-285750" algn="l">
              <a:buFont typeface="Arial" panose="020B0604020202090204" pitchFamily="34" charset="0"/>
              <a:buChar char="•"/>
            </a:pPr>
            <a:r>
              <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rPr>
              <a:t>PAAD</a:t>
            </a:r>
            <a:r>
              <a:rPr lang="zh-CN" altLang="en-US" sz="1600" dirty="0">
                <a:solidFill>
                  <a:srgbClr val="AF1E2F"/>
                </a:solidFill>
                <a:latin typeface="Times New Roman Regular" panose="02020503050405090304" charset="0"/>
                <a:ea typeface="OPPOSans H" panose="00020600040101010101" charset="-122"/>
                <a:cs typeface="Times New Roman Regular" panose="02020503050405090304" charset="0"/>
              </a:rPr>
              <a:t>：</a:t>
            </a:r>
            <a:r>
              <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rPr>
              <a:t>reactome_unwinding_of_dna and kegg_type_i_diabetes_mellitus  </a:t>
            </a:r>
            <a:endPar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endParaRPr>
          </a:p>
          <a:p>
            <a:pPr marL="285750" indent="-285750" algn="l">
              <a:buFont typeface="Arial" panose="020B0604020202090204" pitchFamily="34" charset="0"/>
              <a:buChar char="•"/>
            </a:pPr>
            <a:r>
              <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rPr>
              <a:t>STAD: RNA interference, pulmonary pathology-related pathway</a:t>
            </a:r>
            <a:endPar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endParaRPr>
          </a:p>
          <a:p>
            <a:pPr marL="285750" indent="-285750" algn="l">
              <a:buFont typeface="Arial" panose="020B0604020202090204" pitchFamily="34" charset="0"/>
              <a:buChar char="•"/>
            </a:pPr>
            <a:r>
              <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rPr>
              <a:t>SKCM: Prolactin receptor and IRS activation pathway were significantly inhibited</a:t>
            </a:r>
            <a:br>
              <a:rPr lang="en-US" altLang="zh-CN" sz="1400" dirty="0">
                <a:solidFill>
                  <a:srgbClr val="AF1E2F"/>
                </a:solidFill>
                <a:latin typeface="Times New Roman Regular" panose="02020503050405090304" charset="0"/>
                <a:ea typeface="OPPOSans H" panose="00020600040101010101" charset="-122"/>
                <a:cs typeface="Times New Roman Regular" panose="02020503050405090304" charset="0"/>
              </a:rPr>
            </a:br>
            <a:endParaRPr lang="en-US" altLang="zh-CN" sz="1400" dirty="0">
              <a:solidFill>
                <a:srgbClr val="AF1E2F"/>
              </a:solidFill>
              <a:latin typeface="Times New Roman Regular" panose="02020503050405090304" charset="0"/>
              <a:ea typeface="OPPOSans H" panose="00020600040101010101" charset="-122"/>
              <a:cs typeface="Times New Roman Regular" panose="02020503050405090304" charset="0"/>
            </a:endParaRPr>
          </a:p>
        </p:txBody>
      </p:sp>
      <p:sp>
        <p:nvSpPr>
          <p:cNvPr id="82" name="Rectangle: Rounded Corners 84"/>
          <p:cNvSpPr/>
          <p:nvPr>
            <p:custDataLst>
              <p:tags r:id="rId2"/>
            </p:custDataLst>
          </p:nvPr>
        </p:nvSpPr>
        <p:spPr>
          <a:xfrm>
            <a:off x="6555105" y="1108710"/>
            <a:ext cx="5360670" cy="1432560"/>
          </a:xfrm>
          <a:prstGeom prst="roundRect">
            <a:avLst>
              <a:gd name="adj" fmla="val 2745"/>
            </a:avLst>
          </a:prstGeom>
          <a:solidFill>
            <a:schemeClr val="bg1"/>
          </a:solidFill>
          <a:ln>
            <a:noFill/>
          </a:ln>
          <a:effectLst>
            <a:outerShdw blurRad="762000" dist="139700" dir="5400000" sx="93000" sy="93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285750" indent="-285750" algn="l">
              <a:buFont typeface="Arial" panose="020B0604020202090204" pitchFamily="34" charset="0"/>
              <a:buChar char="•"/>
            </a:pPr>
            <a:r>
              <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rPr>
              <a:t>PRAD, LUAD and SKCM: expression down-regulated.</a:t>
            </a:r>
            <a:endPar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endParaRPr>
          </a:p>
          <a:p>
            <a:pPr marL="285750" indent="-285750" algn="l">
              <a:buFont typeface="Arial" panose="020B0604020202090204" pitchFamily="34" charset="0"/>
              <a:buChar char="•"/>
            </a:pPr>
            <a:r>
              <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rPr>
              <a:t>PAAD: expression up-regulated expression.</a:t>
            </a:r>
            <a:endPar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endParaRPr>
          </a:p>
          <a:p>
            <a:pPr marL="285750" indent="-285750" algn="l">
              <a:buFont typeface="Arial" panose="020B0604020202090204" pitchFamily="34" charset="0"/>
              <a:buChar char="•"/>
            </a:pPr>
            <a:r>
              <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sym typeface="+mn-ea"/>
              </a:rPr>
              <a:t>STAD: </a:t>
            </a:r>
            <a:r>
              <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rPr>
              <a:t>No significant difference (p=0.0967).</a:t>
            </a:r>
            <a:endPar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endParaRPr>
          </a:p>
        </p:txBody>
      </p:sp>
      <p:sp>
        <p:nvSpPr>
          <p:cNvPr id="83" name="Rectangle: Rounded Corners 84"/>
          <p:cNvSpPr/>
          <p:nvPr>
            <p:custDataLst>
              <p:tags r:id="rId3"/>
            </p:custDataLst>
          </p:nvPr>
        </p:nvSpPr>
        <p:spPr>
          <a:xfrm>
            <a:off x="6553200" y="2785110"/>
            <a:ext cx="5360670" cy="1433195"/>
          </a:xfrm>
          <a:prstGeom prst="roundRect">
            <a:avLst>
              <a:gd name="adj" fmla="val 2745"/>
            </a:avLst>
          </a:prstGeom>
          <a:solidFill>
            <a:schemeClr val="bg1"/>
          </a:solidFill>
          <a:ln>
            <a:noFill/>
          </a:ln>
          <a:effectLst>
            <a:outerShdw blurRad="762000" dist="139700" dir="5400000" sx="93000" sy="93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285750" indent="-285750" algn="l">
              <a:buFont typeface="Arial" panose="020B0604020202090204" pitchFamily="34" charset="0"/>
              <a:buChar char="•"/>
            </a:pPr>
            <a:r>
              <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rPr>
              <a:t>PAAD and STAD: pathways are significantly up-regulated.</a:t>
            </a:r>
            <a:endPar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endParaRPr>
          </a:p>
          <a:p>
            <a:pPr marL="285750" indent="-285750" algn="l">
              <a:buFont typeface="Arial" panose="020B0604020202090204" pitchFamily="34" charset="0"/>
              <a:buChar char="•"/>
            </a:pPr>
            <a:r>
              <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rPr>
              <a:t>LUAD, PRAD and SKCM: </a:t>
            </a:r>
            <a:r>
              <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sym typeface="+mn-ea"/>
              </a:rPr>
              <a:t>pathways</a:t>
            </a:r>
            <a:r>
              <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rPr>
              <a:t> are mainly down-regulated.</a:t>
            </a:r>
            <a:endParaRPr lang="en-US" altLang="zh-CN" sz="1600" dirty="0">
              <a:solidFill>
                <a:srgbClr val="AF1E2F"/>
              </a:solidFill>
              <a:latin typeface="Times New Roman Regular" panose="02020503050405090304" charset="0"/>
              <a:ea typeface="OPPOSans H" panose="00020600040101010101" charset="-122"/>
              <a:cs typeface="Times New Roman Regular" panose="02020503050405090304" charset="0"/>
            </a:endParaRPr>
          </a:p>
        </p:txBody>
      </p:sp>
      <p:pic>
        <p:nvPicPr>
          <p:cNvPr id="86" name="图片 85" descr="1fb514cb1a5e54e89daecde6a77344a3"/>
          <p:cNvPicPr>
            <a:picLocks noChangeAspect="1"/>
          </p:cNvPicPr>
          <p:nvPr/>
        </p:nvPicPr>
        <p:blipFill>
          <a:blip r:embed="rId4"/>
          <a:stretch>
            <a:fillRect/>
          </a:stretch>
        </p:blipFill>
        <p:spPr>
          <a:xfrm>
            <a:off x="10278745" y="144780"/>
            <a:ext cx="1635125" cy="473710"/>
          </a:xfrm>
          <a:prstGeom prst="rect">
            <a:avLst/>
          </a:prstGeom>
        </p:spPr>
      </p:pic>
      <p:grpSp>
        <p:nvGrpSpPr>
          <p:cNvPr id="9" name="组合 8"/>
          <p:cNvGrpSpPr/>
          <p:nvPr/>
        </p:nvGrpSpPr>
        <p:grpSpPr>
          <a:xfrm>
            <a:off x="569595" y="1200785"/>
            <a:ext cx="5423535" cy="4776470"/>
            <a:chOff x="613" y="1916"/>
            <a:chExt cx="8541" cy="7522"/>
          </a:xfrm>
        </p:grpSpPr>
        <p:sp>
          <p:nvSpPr>
            <p:cNvPr id="70" name="Rectangle 40"/>
            <p:cNvSpPr/>
            <p:nvPr>
              <p:custDataLst>
                <p:tags r:id="rId5"/>
              </p:custDataLst>
            </p:nvPr>
          </p:nvSpPr>
          <p:spPr>
            <a:xfrm>
              <a:off x="613" y="2373"/>
              <a:ext cx="1295" cy="918"/>
            </a:xfrm>
            <a:prstGeom prst="rect">
              <a:avLst/>
            </a:prstGeom>
          </p:spPr>
          <p:txBody>
            <a:bodyPr wrap="square">
              <a:spAutoFit/>
            </a:bodyPr>
            <a:p>
              <a:r>
                <a:rPr lang="en-US" sz="3200" b="1" spc="100" dirty="0">
                  <a:solidFill>
                    <a:srgbClr val="AF1E2F"/>
                  </a:solidFill>
                  <a:latin typeface="Times New Roman Regular" panose="02020503050405090304" charset="0"/>
                  <a:ea typeface="Open Sans Light" panose="020B0306030504020204" pitchFamily="34" charset="0"/>
                  <a:cs typeface="Times New Roman Regular" panose="02020503050405090304" charset="0"/>
                </a:rPr>
                <a:t>1</a:t>
              </a:r>
              <a:r>
                <a:rPr lang="en-US" sz="1465" b="1" spc="100" dirty="0">
                  <a:solidFill>
                    <a:srgbClr val="AF1E2F"/>
                  </a:solidFill>
                  <a:latin typeface="Times New Roman Regular" panose="02020503050405090304" charset="0"/>
                  <a:ea typeface="Open Sans Light" panose="020B0306030504020204" pitchFamily="34" charset="0"/>
                  <a:cs typeface="Times New Roman Regular" panose="02020503050405090304" charset="0"/>
                </a:rPr>
                <a:t>/</a:t>
              </a:r>
              <a:endParaRPr lang="en-US" sz="1465" b="1" spc="100" dirty="0">
                <a:solidFill>
                  <a:srgbClr val="AF1E2F"/>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71" name="Rectangle 42"/>
            <p:cNvSpPr/>
            <p:nvPr>
              <p:custDataLst>
                <p:tags r:id="rId6"/>
              </p:custDataLst>
            </p:nvPr>
          </p:nvSpPr>
          <p:spPr>
            <a:xfrm>
              <a:off x="1308" y="1916"/>
              <a:ext cx="7847" cy="3030"/>
            </a:xfrm>
            <a:prstGeom prst="rect">
              <a:avLst/>
            </a:prstGeom>
          </p:spPr>
          <p:txBody>
            <a:bodyPr wrap="square">
              <a:noAutofit/>
            </a:bodyPr>
            <a:p>
              <a:pPr>
                <a:lnSpc>
                  <a:spcPct val="150000"/>
                </a:lnSpc>
              </a:pPr>
              <a:r>
                <a:rPr lang="en-US" altLang="zh-CN" b="1" dirty="0">
                  <a:solidFill>
                    <a:srgbClr val="AF1E2F"/>
                  </a:solidFill>
                  <a:latin typeface="Times New Roman Regular" panose="02020503050405090304" charset="0"/>
                  <a:ea typeface="微软雅黑 Light" panose="020B0502040204020203" charset="-122"/>
                  <a:cs typeface="Times New Roman Regular" panose="02020503050405090304" charset="0"/>
                </a:rPr>
                <a:t>Gene Expression Compare</a:t>
              </a:r>
              <a:endParaRPr lang="zh-CN" altLang="en-US"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endParaRPr>
            </a:p>
            <a:p>
              <a:pPr marL="285750" indent="-285750">
                <a:lnSpc>
                  <a:spcPct val="150000"/>
                </a:lnSpc>
                <a:buFont typeface="Arial" panose="020B0604020202090204" pitchFamily="34" charset="0"/>
                <a:buChar char="•"/>
              </a:pPr>
              <a:r>
                <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rPr>
                <a:t>Expression of MIR100HG in cancer tissues </a:t>
              </a:r>
              <a:endPar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endParaRPr>
            </a:p>
            <a:p>
              <a:pPr marL="285750" indent="-285750">
                <a:lnSpc>
                  <a:spcPct val="150000"/>
                </a:lnSpc>
                <a:buFont typeface="Arial" panose="020B0604020202090204" pitchFamily="34" charset="0"/>
                <a:buChar char="•"/>
              </a:pPr>
              <a:r>
                <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rPr>
                <a:t>Expression </a:t>
              </a:r>
              <a:r>
                <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sym typeface="+mn-ea"/>
                </a:rPr>
                <a:t>of MIR100HG in normal tissues</a:t>
              </a:r>
              <a:endPar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sym typeface="+mn-ea"/>
              </a:endParaRPr>
            </a:p>
            <a:p>
              <a:pPr marL="285750" indent="-285750">
                <a:lnSpc>
                  <a:spcPct val="150000"/>
                </a:lnSpc>
                <a:buFont typeface="Arial" panose="020B0604020202090204" pitchFamily="34" charset="0"/>
                <a:buChar char="•"/>
              </a:pPr>
              <a:r>
                <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rPr>
                <a:t>T-values and P-values (significance test)</a:t>
              </a:r>
              <a:endPar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endParaRPr>
            </a:p>
            <a:p>
              <a:pPr marL="285750" indent="-285750">
                <a:lnSpc>
                  <a:spcPct val="110000"/>
                </a:lnSpc>
                <a:buFont typeface="Arial" panose="020B0604020202090204" pitchFamily="34" charset="0"/>
                <a:buChar char="•"/>
              </a:pPr>
              <a:endPar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endParaRPr>
            </a:p>
          </p:txBody>
        </p:sp>
        <p:sp>
          <p:nvSpPr>
            <p:cNvPr id="72" name="Rectangle 43"/>
            <p:cNvSpPr/>
            <p:nvPr>
              <p:custDataLst>
                <p:tags r:id="rId7"/>
              </p:custDataLst>
            </p:nvPr>
          </p:nvSpPr>
          <p:spPr>
            <a:xfrm>
              <a:off x="613" y="5014"/>
              <a:ext cx="1295" cy="918"/>
            </a:xfrm>
            <a:prstGeom prst="rect">
              <a:avLst/>
            </a:prstGeom>
          </p:spPr>
          <p:txBody>
            <a:bodyPr wrap="square">
              <a:spAutoFit/>
            </a:bodyPr>
            <a:p>
              <a:r>
                <a:rPr lang="en-US" sz="3200" b="1" spc="100" dirty="0">
                  <a:solidFill>
                    <a:srgbClr val="AF1E2F"/>
                  </a:solidFill>
                  <a:latin typeface="Times New Roman Regular" panose="02020503050405090304" charset="0"/>
                  <a:ea typeface="Open Sans Light" panose="020B0306030504020204" pitchFamily="34" charset="0"/>
                  <a:cs typeface="Times New Roman Regular" panose="02020503050405090304" charset="0"/>
                </a:rPr>
                <a:t>2</a:t>
              </a:r>
              <a:r>
                <a:rPr lang="en-US" sz="1465" b="1" spc="100" dirty="0">
                  <a:solidFill>
                    <a:srgbClr val="AF1E2F"/>
                  </a:solidFill>
                  <a:latin typeface="Times New Roman Regular" panose="02020503050405090304" charset="0"/>
                  <a:ea typeface="Open Sans Light" panose="020B0306030504020204" pitchFamily="34" charset="0"/>
                  <a:cs typeface="Times New Roman Regular" panose="02020503050405090304" charset="0"/>
                </a:rPr>
                <a:t>/</a:t>
              </a:r>
              <a:endParaRPr lang="en-US" sz="1465" b="1" spc="100" dirty="0">
                <a:solidFill>
                  <a:srgbClr val="AF1E2F"/>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73" name="Rectangle 45"/>
            <p:cNvSpPr/>
            <p:nvPr>
              <p:custDataLst>
                <p:tags r:id="rId8"/>
              </p:custDataLst>
            </p:nvPr>
          </p:nvSpPr>
          <p:spPr>
            <a:xfrm>
              <a:off x="1308" y="5022"/>
              <a:ext cx="7568" cy="1945"/>
            </a:xfrm>
            <a:prstGeom prst="rect">
              <a:avLst/>
            </a:prstGeom>
          </p:spPr>
          <p:txBody>
            <a:bodyPr wrap="square">
              <a:noAutofit/>
            </a:bodyPr>
            <a:p>
              <a:pPr algn="l">
                <a:lnSpc>
                  <a:spcPct val="110000"/>
                </a:lnSpc>
                <a:buClrTx/>
                <a:buSzTx/>
                <a:buNone/>
              </a:pPr>
              <a:r>
                <a:rPr lang="en-US" altLang="zh-CN" b="1" dirty="0">
                  <a:solidFill>
                    <a:srgbClr val="AF1E2F"/>
                  </a:solidFill>
                  <a:latin typeface="Times New Roman Regular" panose="02020503050405090304" charset="0"/>
                  <a:ea typeface="微软雅黑 Light" panose="020B0502040204020203" charset="-122"/>
                  <a:cs typeface="Times New Roman Regular" panose="02020503050405090304" charset="0"/>
                </a:rPr>
                <a:t>Pathway Expression Compare</a:t>
              </a:r>
              <a:endParaRPr b="1" dirty="0">
                <a:solidFill>
                  <a:srgbClr val="AF1E2F"/>
                </a:solidFill>
                <a:latin typeface="Times New Roman Regular" panose="02020503050405090304" charset="0"/>
                <a:ea typeface="微软雅黑 Light" panose="020B0502040204020203" charset="-122"/>
                <a:cs typeface="Times New Roman Regular" panose="02020503050405090304" charset="0"/>
              </a:endParaRPr>
            </a:p>
            <a:p>
              <a:pPr marL="171450" indent="-171450" algn="l">
                <a:lnSpc>
                  <a:spcPct val="150000"/>
                </a:lnSpc>
                <a:buClrTx/>
                <a:buSzTx/>
                <a:buFont typeface="Arial" panose="020B0604020202090204" pitchFamily="34" charset="0"/>
                <a:buChar char="•"/>
              </a:pPr>
              <a:r>
                <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rPr>
                <a:t>Pathway expression patterns in five cancer tissues</a:t>
              </a:r>
              <a:endPar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endParaRPr>
            </a:p>
            <a:p>
              <a:pPr marL="171450" indent="-171450" algn="l">
                <a:lnSpc>
                  <a:spcPct val="110000"/>
                </a:lnSpc>
                <a:buClrTx/>
                <a:buSzTx/>
                <a:buFont typeface="Arial" panose="020B0604020202090204" pitchFamily="34" charset="0"/>
                <a:buChar char="•"/>
              </a:pPr>
              <a:r>
                <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rPr>
                <a:t>The level of regulation that MIR100HG may participate in</a:t>
              </a:r>
              <a:endPar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endParaRPr>
            </a:p>
          </p:txBody>
        </p:sp>
        <p:cxnSp>
          <p:nvCxnSpPr>
            <p:cNvPr id="68" name="Straight Connector 9"/>
            <p:cNvCxnSpPr/>
            <p:nvPr/>
          </p:nvCxnSpPr>
          <p:spPr>
            <a:xfrm>
              <a:off x="1308" y="1989"/>
              <a:ext cx="7113" cy="28"/>
            </a:xfrm>
            <a:prstGeom prst="line">
              <a:avLst/>
            </a:prstGeom>
            <a:ln>
              <a:solidFill>
                <a:schemeClr val="bg1">
                  <a:lumMod val="85000"/>
                  <a:alpha val="58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21"/>
            <p:cNvCxnSpPr/>
            <p:nvPr>
              <p:custDataLst>
                <p:tags r:id="rId9"/>
              </p:custDataLst>
            </p:nvPr>
          </p:nvCxnSpPr>
          <p:spPr>
            <a:xfrm>
              <a:off x="1371" y="4772"/>
              <a:ext cx="7141" cy="0"/>
            </a:xfrm>
            <a:prstGeom prst="line">
              <a:avLst/>
            </a:prstGeom>
            <a:ln>
              <a:solidFill>
                <a:schemeClr val="bg1">
                  <a:lumMod val="85000"/>
                  <a:alpha val="58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9"/>
            <p:cNvCxnSpPr/>
            <p:nvPr>
              <p:custDataLst>
                <p:tags r:id="rId10"/>
              </p:custDataLst>
            </p:nvPr>
          </p:nvCxnSpPr>
          <p:spPr>
            <a:xfrm>
              <a:off x="1466" y="7308"/>
              <a:ext cx="7061" cy="0"/>
            </a:xfrm>
            <a:prstGeom prst="line">
              <a:avLst/>
            </a:prstGeom>
            <a:ln>
              <a:solidFill>
                <a:schemeClr val="bg1">
                  <a:lumMod val="85000"/>
                  <a:alpha val="58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21"/>
            <p:cNvCxnSpPr/>
            <p:nvPr>
              <p:custDataLst>
                <p:tags r:id="rId11"/>
              </p:custDataLst>
            </p:nvPr>
          </p:nvCxnSpPr>
          <p:spPr>
            <a:xfrm>
              <a:off x="1350" y="9438"/>
              <a:ext cx="7193" cy="0"/>
            </a:xfrm>
            <a:prstGeom prst="line">
              <a:avLst/>
            </a:prstGeom>
            <a:ln>
              <a:solidFill>
                <a:schemeClr val="bg1">
                  <a:lumMod val="85000"/>
                  <a:alpha val="58000"/>
                </a:schemeClr>
              </a:solidFill>
            </a:ln>
          </p:spPr>
          <p:style>
            <a:lnRef idx="1">
              <a:schemeClr val="accent1"/>
            </a:lnRef>
            <a:fillRef idx="0">
              <a:schemeClr val="accent1"/>
            </a:fillRef>
            <a:effectRef idx="0">
              <a:schemeClr val="accent1"/>
            </a:effectRef>
            <a:fontRef idx="minor">
              <a:schemeClr val="tx1"/>
            </a:fontRef>
          </p:style>
        </p:cxnSp>
        <p:sp>
          <p:nvSpPr>
            <p:cNvPr id="76" name="Rectangle 40"/>
            <p:cNvSpPr/>
            <p:nvPr>
              <p:custDataLst>
                <p:tags r:id="rId12"/>
              </p:custDataLst>
            </p:nvPr>
          </p:nvSpPr>
          <p:spPr>
            <a:xfrm>
              <a:off x="613" y="7712"/>
              <a:ext cx="978" cy="919"/>
            </a:xfrm>
            <a:prstGeom prst="rect">
              <a:avLst/>
            </a:prstGeom>
          </p:spPr>
          <p:txBody>
            <a:bodyPr wrap="square">
              <a:spAutoFit/>
            </a:bodyPr>
            <a:p>
              <a:r>
                <a:rPr lang="en-US" altLang="zh-CN" sz="3200" b="1" spc="100" dirty="0">
                  <a:solidFill>
                    <a:srgbClr val="AF1E2F"/>
                  </a:solidFill>
                  <a:latin typeface="Times New Roman Regular" panose="02020503050405090304" charset="0"/>
                  <a:ea typeface="Open Sans Light" panose="020B0306030504020204" pitchFamily="34" charset="0"/>
                  <a:cs typeface="Times New Roman Regular" panose="02020503050405090304" charset="0"/>
                </a:rPr>
                <a:t>3</a:t>
              </a:r>
              <a:r>
                <a:rPr lang="en-US" sz="1465" b="1" spc="100" dirty="0">
                  <a:solidFill>
                    <a:srgbClr val="AF1E2F"/>
                  </a:solidFill>
                  <a:latin typeface="Times New Roman Regular" panose="02020503050405090304" charset="0"/>
                  <a:ea typeface="Open Sans Light" panose="020B0306030504020204" pitchFamily="34" charset="0"/>
                  <a:cs typeface="Times New Roman Regular" panose="02020503050405090304" charset="0"/>
                </a:rPr>
                <a:t>/</a:t>
              </a:r>
              <a:endParaRPr lang="en-US" sz="1465" b="1" spc="100" dirty="0">
                <a:solidFill>
                  <a:srgbClr val="AF1E2F"/>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77" name="Rectangle 42"/>
            <p:cNvSpPr/>
            <p:nvPr>
              <p:custDataLst>
                <p:tags r:id="rId13"/>
              </p:custDataLst>
            </p:nvPr>
          </p:nvSpPr>
          <p:spPr>
            <a:xfrm>
              <a:off x="1308" y="7520"/>
              <a:ext cx="7034" cy="1537"/>
            </a:xfrm>
            <a:prstGeom prst="rect">
              <a:avLst/>
            </a:prstGeom>
          </p:spPr>
          <p:txBody>
            <a:bodyPr wrap="square">
              <a:noAutofit/>
            </a:bodyPr>
            <a:p>
              <a:pPr>
                <a:lnSpc>
                  <a:spcPct val="110000"/>
                </a:lnSpc>
              </a:pPr>
              <a:r>
                <a:rPr lang="en-US" altLang="zh-CN" b="1" dirty="0">
                  <a:solidFill>
                    <a:srgbClr val="AF1E2F"/>
                  </a:solidFill>
                  <a:latin typeface="Times New Roman Regular" panose="02020503050405090304" charset="0"/>
                  <a:ea typeface="微软雅黑 Light" panose="020B0502040204020203" charset="-122"/>
                  <a:cs typeface="Times New Roman Regular" panose="02020503050405090304" charset="0"/>
                </a:rPr>
                <a:t>Biomarker Discussion</a:t>
              </a:r>
              <a:endParaRPr lang="en-US" altLang="zh-CN" b="1" dirty="0">
                <a:solidFill>
                  <a:srgbClr val="AF1E2F"/>
                </a:solidFill>
                <a:latin typeface="Times New Roman Regular" panose="02020503050405090304" charset="0"/>
                <a:ea typeface="微软雅黑 Light" panose="020B0502040204020203" charset="-122"/>
                <a:cs typeface="Times New Roman Regular" panose="02020503050405090304" charset="0"/>
              </a:endParaRPr>
            </a:p>
            <a:p>
              <a:pPr>
                <a:lnSpc>
                  <a:spcPct val="110000"/>
                </a:lnSpc>
              </a:pPr>
              <a:endParaRPr lang="en-US" altLang="zh-CN" sz="600" b="1" dirty="0">
                <a:solidFill>
                  <a:srgbClr val="AF1E2F"/>
                </a:solidFill>
                <a:latin typeface="Times New Roman Regular" panose="02020503050405090304" charset="0"/>
                <a:ea typeface="微软雅黑 Light" panose="020B0502040204020203" charset="-122"/>
                <a:cs typeface="Times New Roman Regular" panose="02020503050405090304" charset="0"/>
              </a:endParaRPr>
            </a:p>
            <a:p>
              <a:pPr marL="285750" indent="-285750">
                <a:lnSpc>
                  <a:spcPct val="110000"/>
                </a:lnSpc>
                <a:buFont typeface="Arial" panose="020B0604020202090204" pitchFamily="34" charset="0"/>
                <a:buChar char="•"/>
              </a:pPr>
              <a:r>
                <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rPr>
                <a:t>Several candidate pathways with potential for cancer diagnosis or typing</a:t>
              </a:r>
              <a:endPar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endParaRPr>
            </a:p>
            <a:p>
              <a:pPr indent="0">
                <a:lnSpc>
                  <a:spcPct val="110000"/>
                </a:lnSpc>
                <a:buFont typeface="Arial" panose="020B0604020202090204" pitchFamily="34" charset="0"/>
                <a:buNone/>
              </a:pPr>
              <a:endParaRPr lang="en-US" altLang="zh-CN" sz="16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endParaRPr>
            </a:p>
          </p:txBody>
        </p:sp>
      </p:grpSp>
      <p:cxnSp>
        <p:nvCxnSpPr>
          <p:cNvPr id="79" name="直接箭头连接符 78"/>
          <p:cNvCxnSpPr/>
          <p:nvPr>
            <p:custDataLst>
              <p:tags r:id="rId14"/>
            </p:custDataLst>
          </p:nvPr>
        </p:nvCxnSpPr>
        <p:spPr>
          <a:xfrm>
            <a:off x="5761673" y="2073275"/>
            <a:ext cx="475615" cy="635"/>
          </a:xfrm>
          <a:prstGeom prst="straightConnector1">
            <a:avLst/>
          </a:prstGeom>
          <a:ln w="28575" cmpd="sng">
            <a:solidFill>
              <a:srgbClr val="AF1E2F"/>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3" name="直接箭头连接符 2"/>
          <p:cNvCxnSpPr/>
          <p:nvPr>
            <p:custDataLst>
              <p:tags r:id="rId15"/>
            </p:custDataLst>
          </p:nvPr>
        </p:nvCxnSpPr>
        <p:spPr>
          <a:xfrm>
            <a:off x="5761673" y="5253355"/>
            <a:ext cx="476885" cy="0"/>
          </a:xfrm>
          <a:prstGeom prst="straightConnector1">
            <a:avLst/>
          </a:prstGeom>
          <a:ln w="28575" cmpd="sng">
            <a:solidFill>
              <a:srgbClr val="AF1E2F"/>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4" name="直接箭头连接符 3"/>
          <p:cNvCxnSpPr/>
          <p:nvPr>
            <p:custDataLst>
              <p:tags r:id="rId16"/>
            </p:custDataLst>
          </p:nvPr>
        </p:nvCxnSpPr>
        <p:spPr>
          <a:xfrm>
            <a:off x="5761673" y="3663315"/>
            <a:ext cx="476885" cy="0"/>
          </a:xfrm>
          <a:prstGeom prst="straightConnector1">
            <a:avLst/>
          </a:prstGeom>
          <a:ln w="28575" cmpd="sng">
            <a:solidFill>
              <a:srgbClr val="AF1E2F"/>
            </a:solidFill>
            <a:prstDash val="solid"/>
            <a:tailEnd type="arrow"/>
          </a:ln>
        </p:spPr>
        <p:style>
          <a:lnRef idx="2">
            <a:schemeClr val="accent1"/>
          </a:lnRef>
          <a:fillRef idx="0">
            <a:srgbClr val="FFFFFF"/>
          </a:fillRef>
          <a:effectRef idx="0">
            <a:srgbClr val="FFFFFF"/>
          </a:effectRef>
          <a:fontRef idx="minor">
            <a:schemeClr val="tx1"/>
          </a:fontRef>
        </p:style>
      </p:cxnSp>
      <p:sp>
        <p:nvSpPr>
          <p:cNvPr id="13" name="矩形: 圆角 12"/>
          <p:cNvSpPr/>
          <p:nvPr userDrawn="1"/>
        </p:nvSpPr>
        <p:spPr>
          <a:xfrm flipV="1">
            <a:off x="300990" y="709930"/>
            <a:ext cx="1801495" cy="45720"/>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Regular" panose="02020503050405090304" charset="0"/>
              <a:cs typeface="Times New Roman Regular" panose="02020503050405090304" charset="0"/>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3000"/>
    </mc:Choice>
    <mc:Fallback>
      <p:transition spd="slow" advClick="0" advTm="3000"/>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p:cNvSpPr/>
          <p:nvPr/>
        </p:nvSpPr>
        <p:spPr>
          <a:xfrm>
            <a:off x="3" y="0"/>
            <a:ext cx="164956" cy="6858000"/>
          </a:xfrm>
          <a:prstGeom prst="rect">
            <a:avLst/>
          </a:prstGeom>
          <a:solidFill>
            <a:srgbClr val="F0E1DB">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1350">
              <a:solidFill>
                <a:prstClr val="white"/>
              </a:solidFill>
              <a:latin typeface="Calibri" panose="020F0502020204030204"/>
              <a:ea typeface="宋体" pitchFamily="2" charset="-122"/>
            </a:endParaRPr>
          </a:p>
        </p:txBody>
      </p:sp>
      <p:sp>
        <p:nvSpPr>
          <p:cNvPr id="42" name="文本框 41"/>
          <p:cNvSpPr txBox="1"/>
          <p:nvPr/>
        </p:nvSpPr>
        <p:spPr>
          <a:xfrm>
            <a:off x="657860" y="5677535"/>
            <a:ext cx="11092180" cy="658495"/>
          </a:xfrm>
          <a:prstGeom prst="rect">
            <a:avLst/>
          </a:prstGeom>
          <a:noFill/>
        </p:spPr>
        <p:txBody>
          <a:bodyPr wrap="square" rtlCol="0">
            <a:noAutofit/>
          </a:bodyPr>
          <a:lstStyle/>
          <a:p>
            <a:pPr indent="0" defTabSz="914400">
              <a:buFont typeface="Arial" panose="020B0604020202090204" pitchFamily="34" charset="0"/>
              <a:buNone/>
            </a:pPr>
            <a:r>
              <a:rPr lang="en-US" altLang="zh-CN" sz="1400">
                <a:solidFill>
                  <a:srgbClr val="AE1A2C"/>
                </a:solidFill>
                <a:latin typeface="Times New Roman Regular" panose="02020503050405090304" charset="0"/>
                <a:ea typeface="MiSans Heavy" panose="00000A00000000000000" pitchFamily="2" charset="-122"/>
                <a:cs typeface="Times New Roman Regular" panose="02020503050405090304" charset="0"/>
              </a:rPr>
              <a:t>These findings highlight the importance of cancer-type-specific biomarker validation in translational oncology.MIR100HG’s prognostic role appears highly context-dependent, warranting further mechanistic and clinical investigation, especially in gastric cancer.</a:t>
            </a:r>
            <a:endParaRPr lang="en-US" altLang="zh-CN" sz="1400">
              <a:solidFill>
                <a:srgbClr val="AE1A2C"/>
              </a:solidFill>
              <a:latin typeface="Times New Roman Regular" panose="02020503050405090304" charset="0"/>
              <a:ea typeface="MiSans Heavy" panose="00000A00000000000000" pitchFamily="2" charset="-122"/>
              <a:cs typeface="Times New Roman Regular" panose="02020503050405090304" charset="0"/>
            </a:endParaRPr>
          </a:p>
        </p:txBody>
      </p:sp>
      <p:sp>
        <p:nvSpPr>
          <p:cNvPr id="4" name="标题 3"/>
          <p:cNvSpPr txBox="1"/>
          <p:nvPr/>
        </p:nvSpPr>
        <p:spPr>
          <a:xfrm>
            <a:off x="657860" y="793750"/>
            <a:ext cx="11256010" cy="1474470"/>
          </a:xfrm>
          <a:prstGeom prst="rect">
            <a:avLst/>
          </a:prstGeom>
        </p:spPr>
        <p:txBody>
          <a:bodyPr>
            <a:normAutofit fontScale="6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914400">
              <a:lnSpc>
                <a:spcPct val="150000"/>
              </a:lnSpc>
            </a:pPr>
            <a:r>
              <a:rPr lang="en-US" altLang="zh-CN" sz="4600" b="1">
                <a:solidFill>
                  <a:srgbClr val="B71A2B"/>
                </a:solidFill>
                <a:latin typeface="Times New Roman Bold" panose="02020503050405090304" charset="0"/>
                <a:ea typeface="等线 Light" panose="02010600030101010101" pitchFamily="2" charset="-122"/>
                <a:cs typeface="Times New Roman Bold" panose="02020503050405090304" charset="0"/>
              </a:rPr>
              <a:t>Kaplan–Meier Curves Log-Rank Tests </a:t>
            </a:r>
            <a:r>
              <a:rPr lang="en-US" altLang="zh-CN" sz="4600" b="1">
                <a:solidFill>
                  <a:srgbClr val="B71A2B"/>
                </a:solidFill>
                <a:latin typeface="Times New Roman Bold" panose="02020503050405090304" charset="0"/>
                <a:ea typeface="等线 Light" panose="02010600030101010101" pitchFamily="2" charset="-122"/>
                <a:cs typeface="Times New Roman Bold" panose="02020503050405090304" charset="0"/>
              </a:rPr>
              <a:t>Multivariate Cox Regression</a:t>
            </a:r>
            <a:endParaRPr lang="en-US" altLang="zh-CN" sz="4600" b="1">
              <a:solidFill>
                <a:srgbClr val="B71A2B"/>
              </a:solidFill>
              <a:latin typeface="Times New Roman Bold" panose="02020503050405090304" charset="0"/>
              <a:ea typeface="等线 Light" panose="02010600030101010101" pitchFamily="2" charset="-122"/>
              <a:cs typeface="Times New Roman Bold" panose="02020503050405090304" charset="0"/>
            </a:endParaRPr>
          </a:p>
          <a:p>
            <a:pPr defTabSz="914400">
              <a:lnSpc>
                <a:spcPct val="150000"/>
              </a:lnSpc>
            </a:pPr>
            <a:endParaRPr lang="en-US" altLang="zh-CN" sz="1600">
              <a:solidFill>
                <a:schemeClr val="tx1">
                  <a:lumMod val="75000"/>
                  <a:lumOff val="25000"/>
                </a:schemeClr>
              </a:solidFill>
              <a:latin typeface="Times New Roman Regular" panose="02020503050405090304" charset="0"/>
              <a:ea typeface="等线 Light" panose="02010600030101010101" pitchFamily="2" charset="-122"/>
              <a:cs typeface="Times New Roman Regular" panose="02020503050405090304" charset="0"/>
            </a:endParaRPr>
          </a:p>
          <a:p>
            <a:pPr defTabSz="914400">
              <a:lnSpc>
                <a:spcPct val="150000"/>
              </a:lnSpc>
            </a:pPr>
            <a:endParaRPr lang="en-US" altLang="zh-CN" sz="1600" b="1">
              <a:solidFill>
                <a:schemeClr val="tx1">
                  <a:lumMod val="75000"/>
                  <a:lumOff val="25000"/>
                </a:schemeClr>
              </a:solidFill>
              <a:latin typeface="Times New Roman Regular" panose="02020503050405090304" charset="0"/>
              <a:ea typeface="等线 Light" panose="02010600030101010101" pitchFamily="2" charset="-122"/>
              <a:cs typeface="Times New Roman Regular" panose="02020503050405090304" charset="0"/>
            </a:endParaRPr>
          </a:p>
        </p:txBody>
      </p:sp>
      <p:sp>
        <p:nvSpPr>
          <p:cNvPr id="6" name="文本框 5"/>
          <p:cNvSpPr txBox="1"/>
          <p:nvPr/>
        </p:nvSpPr>
        <p:spPr>
          <a:xfrm>
            <a:off x="657860" y="1940560"/>
            <a:ext cx="4502150" cy="2609215"/>
          </a:xfrm>
          <a:prstGeom prst="rect">
            <a:avLst/>
          </a:prstGeom>
          <a:noFill/>
        </p:spPr>
        <p:txBody>
          <a:bodyPr wrap="square" rtlCol="0">
            <a:noAutofit/>
          </a:bodyPr>
          <a:lstStyle/>
          <a:p>
            <a:pPr marL="285750" indent="-285750" algn="l" defTabSz="914400">
              <a:lnSpc>
                <a:spcPct val="150000"/>
              </a:lnSpc>
              <a:buFont typeface="Arial" panose="020B0604020202090204" pitchFamily="34" charset="0"/>
              <a:buChar char="•"/>
            </a:pPr>
            <a:r>
              <a:rPr lang="en-US" altLang="zh-CN" sz="1400">
                <a:solidFill>
                  <a:srgbClr val="FFFFFF">
                    <a:lumMod val="50000"/>
                  </a:srgbClr>
                </a:solidFill>
                <a:latin typeface="微软雅黑 Light" panose="020B0502040204020203" charset="-122"/>
                <a:ea typeface="微软雅黑 Light" panose="020B0502040204020203" charset="-122"/>
              </a:rPr>
              <a:t>Only in STAD, MIR100HG was a significant prognostic factor (HR = 1.51, p = 0.01).</a:t>
            </a:r>
            <a:endParaRPr lang="en-US" altLang="zh-CN" sz="1400">
              <a:solidFill>
                <a:srgbClr val="FFFFFF">
                  <a:lumMod val="50000"/>
                </a:srgbClr>
              </a:solidFill>
              <a:latin typeface="微软雅黑 Light" panose="020B0502040204020203" charset="-122"/>
              <a:ea typeface="微软雅黑 Light" panose="020B0502040204020203" charset="-122"/>
            </a:endParaRPr>
          </a:p>
          <a:p>
            <a:pPr marL="285750" indent="-285750" algn="l" defTabSz="914400">
              <a:lnSpc>
                <a:spcPct val="150000"/>
              </a:lnSpc>
              <a:buFont typeface="Arial" panose="020B0604020202090204" pitchFamily="34" charset="0"/>
              <a:buChar char="•"/>
            </a:pPr>
            <a:r>
              <a:rPr lang="en-US" altLang="zh-CN" sz="1400">
                <a:solidFill>
                  <a:srgbClr val="FFFFFF">
                    <a:lumMod val="50000"/>
                  </a:srgbClr>
                </a:solidFill>
                <a:latin typeface="微软雅黑 Light" panose="020B0502040204020203" charset="-122"/>
                <a:ea typeface="微软雅黑 Light" panose="020B0502040204020203" charset="-122"/>
              </a:rPr>
              <a:t>In other cancers, </a:t>
            </a:r>
            <a:r>
              <a:rPr lang="en-US" altLang="zh-CN" sz="1400">
                <a:solidFill>
                  <a:srgbClr val="FFFFFF">
                    <a:lumMod val="50000"/>
                  </a:srgbClr>
                </a:solidFill>
                <a:latin typeface="微软雅黑 Light" panose="020B0502040204020203" charset="-122"/>
                <a:ea typeface="微软雅黑 Light" panose="020B0502040204020203" charset="-122"/>
              </a:rPr>
              <a:t>no significant association was found, possibly due to heterogeneity, expression variability, or low event rates.</a:t>
            </a:r>
            <a:endParaRPr lang="en-US" altLang="zh-CN" sz="1400">
              <a:solidFill>
                <a:srgbClr val="FFFFFF">
                  <a:lumMod val="50000"/>
                </a:srgbClr>
              </a:solidFill>
              <a:latin typeface="微软雅黑 Light" panose="020B0502040204020203" charset="-122"/>
              <a:ea typeface="微软雅黑 Light" panose="020B0502040204020203" charset="-122"/>
            </a:endParaRPr>
          </a:p>
          <a:p>
            <a:pPr marL="285750" indent="-285750" algn="l" defTabSz="914400">
              <a:lnSpc>
                <a:spcPct val="150000"/>
              </a:lnSpc>
              <a:buFont typeface="Arial" panose="020B0604020202090204" pitchFamily="34" charset="0"/>
              <a:buChar char="•"/>
            </a:pPr>
            <a:r>
              <a:rPr lang="en-US" altLang="zh-CN" sz="1400">
                <a:solidFill>
                  <a:srgbClr val="FFFFFF">
                    <a:lumMod val="50000"/>
                  </a:srgbClr>
                </a:solidFill>
                <a:latin typeface="微软雅黑 Light" panose="020B0502040204020203" charset="-122"/>
                <a:ea typeface="微软雅黑 Light" panose="020B0502040204020203" charset="-122"/>
              </a:rPr>
              <a:t>Clinical variables like age and cancer stage consistently had higher prognostic value.</a:t>
            </a:r>
            <a:endParaRPr lang="en-US" altLang="zh-CN" sz="1400">
              <a:solidFill>
                <a:srgbClr val="FFFFFF">
                  <a:lumMod val="50000"/>
                </a:srgbClr>
              </a:solidFill>
              <a:latin typeface="微软雅黑 Light" panose="020B0502040204020203" charset="-122"/>
              <a:ea typeface="微软雅黑 Light" panose="020B0502040204020203" charset="-122"/>
            </a:endParaRPr>
          </a:p>
          <a:p>
            <a:pPr marL="285750" indent="-285750" algn="l" defTabSz="914400">
              <a:lnSpc>
                <a:spcPct val="150000"/>
              </a:lnSpc>
              <a:buFont typeface="Arial" panose="020B0604020202090204" pitchFamily="34" charset="0"/>
              <a:buChar char="•"/>
            </a:pPr>
            <a:r>
              <a:rPr lang="en-US" altLang="zh-CN" sz="1400">
                <a:solidFill>
                  <a:srgbClr val="FFFFFF">
                    <a:lumMod val="50000"/>
                  </a:srgbClr>
                </a:solidFill>
                <a:latin typeface="微软雅黑 Light" panose="020B0502040204020203" charset="-122"/>
                <a:ea typeface="微软雅黑 Light" panose="020B0502040204020203" charset="-122"/>
              </a:rPr>
              <a:t>Results suggest context-specific roles of MIR100HG, calling for mechanistic investigation.</a:t>
            </a:r>
            <a:endParaRPr lang="en-US" altLang="zh-CN" sz="1400">
              <a:solidFill>
                <a:srgbClr val="FFFFFF">
                  <a:lumMod val="50000"/>
                </a:srgbClr>
              </a:solidFill>
              <a:latin typeface="微软雅黑 Light" panose="020B0502040204020203" charset="-122"/>
              <a:ea typeface="微软雅黑 Light" panose="020B0502040204020203" charset="-122"/>
            </a:endParaRPr>
          </a:p>
        </p:txBody>
      </p:sp>
      <p:grpSp>
        <p:nvGrpSpPr>
          <p:cNvPr id="3" name="组合 2"/>
          <p:cNvGrpSpPr/>
          <p:nvPr/>
        </p:nvGrpSpPr>
        <p:grpSpPr>
          <a:xfrm>
            <a:off x="301058" y="259550"/>
            <a:ext cx="11613108" cy="495853"/>
            <a:chOff x="301058" y="259550"/>
            <a:chExt cx="11613108" cy="495853"/>
          </a:xfrm>
        </p:grpSpPr>
        <p:sp>
          <p:nvSpPr>
            <p:cNvPr id="5" name="矩形: 圆角 8"/>
            <p:cNvSpPr/>
            <p:nvPr userDrawn="1"/>
          </p:nvSpPr>
          <p:spPr>
            <a:xfrm flipV="1">
              <a:off x="2170802" y="709684"/>
              <a:ext cx="9743364" cy="45719"/>
            </a:xfrm>
            <a:prstGeom prst="roundRect">
              <a:avLst/>
            </a:prstGeom>
            <a:solidFill>
              <a:srgbClr val="8C0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Times New Roman Regular" panose="02020503050405090304" charset="0"/>
                <a:cs typeface="Times New Roman Regular" panose="02020503050405090304" charset="0"/>
              </a:endParaRPr>
            </a:p>
          </p:txBody>
        </p:sp>
        <p:sp>
          <p:nvSpPr>
            <p:cNvPr id="13" name="矩形: 圆角 12"/>
            <p:cNvSpPr/>
            <p:nvPr userDrawn="1"/>
          </p:nvSpPr>
          <p:spPr>
            <a:xfrm flipV="1">
              <a:off x="301058" y="709682"/>
              <a:ext cx="1801505" cy="45719"/>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61" name="矩形: 对角圆角 60"/>
            <p:cNvSpPr/>
            <p:nvPr userDrawn="1"/>
          </p:nvSpPr>
          <p:spPr>
            <a:xfrm>
              <a:off x="301058" y="259550"/>
              <a:ext cx="1801505" cy="359073"/>
            </a:xfrm>
            <a:prstGeom prst="round2DiagRect">
              <a:avLst>
                <a:gd name="adj1" fmla="val 33096"/>
                <a:gd name="adj2" fmla="val 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Times New Roman Regular" panose="02020503050405090304" charset="0"/>
                  <a:cs typeface="Times New Roman Regular" panose="02020503050405090304" charset="0"/>
                </a:rPr>
                <a:t>Group </a:t>
              </a:r>
              <a:r>
                <a:rPr lang="en-US" altLang="zh-CN">
                  <a:latin typeface="Times New Roman Regular" panose="02020503050405090304" charset="0"/>
                  <a:cs typeface="Times New Roman Regular" panose="02020503050405090304" charset="0"/>
                </a:rPr>
                <a:t>M-28</a:t>
              </a:r>
              <a:endParaRPr lang="en-US" altLang="zh-CN">
                <a:latin typeface="Times New Roman Regular" panose="02020503050405090304" charset="0"/>
                <a:cs typeface="Times New Roman Regular" panose="02020503050405090304" charset="0"/>
              </a:endParaRPr>
            </a:p>
          </p:txBody>
        </p:sp>
        <p:sp>
          <p:nvSpPr>
            <p:cNvPr id="62" name="Venn diagram"/>
            <p:cNvSpPr txBox="1"/>
            <p:nvPr userDrawn="1"/>
          </p:nvSpPr>
          <p:spPr>
            <a:xfrm>
              <a:off x="2291783" y="259550"/>
              <a:ext cx="7311390" cy="35814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rPr>
                <a:t>Task 3 Survival Analysis </a:t>
              </a:r>
              <a:endPar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endParaRPr>
            </a:p>
          </p:txBody>
        </p:sp>
      </p:grpSp>
      <p:cxnSp>
        <p:nvCxnSpPr>
          <p:cNvPr id="8" name="直接连接符 7"/>
          <p:cNvCxnSpPr/>
          <p:nvPr userDrawn="1"/>
        </p:nvCxnSpPr>
        <p:spPr>
          <a:xfrm>
            <a:off x="300990" y="6567805"/>
            <a:ext cx="11612880" cy="0"/>
          </a:xfrm>
          <a:prstGeom prst="line">
            <a:avLst/>
          </a:prstGeom>
          <a:ln>
            <a:solidFill>
              <a:srgbClr val="EEB6B0"/>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userDrawn="1"/>
        </p:nvSpPr>
        <p:spPr>
          <a:xfrm>
            <a:off x="266700" y="6604000"/>
            <a:ext cx="10967720" cy="327660"/>
          </a:xfrm>
          <a:prstGeom prst="rect">
            <a:avLst/>
          </a:prstGeom>
          <a:noFill/>
        </p:spPr>
        <p:txBody>
          <a:bodyPr wrap="none" rtlCol="0">
            <a:noAutofit/>
          </a:bodyPr>
          <a:p>
            <a:pPr algn="l"/>
            <a:r>
              <a:rPr lang="en-US" altLang="zh-CN" sz="600" spc="300" dirty="0">
                <a:solidFill>
                  <a:srgbClr val="AE192C"/>
                </a:solidFill>
                <a:latin typeface="Montserrat" panose="00000500000000000000" pitchFamily="2" charset="0"/>
                <a:ea typeface="HarmonyOS Sans SC Light" panose="00000400000000000000" pitchFamily="2" charset="-122"/>
              </a:rPr>
              <a:t>Project Workflow Overview</a:t>
            </a:r>
            <a:endParaRPr lang="en-US" altLang="zh-CN" sz="600" spc="300" dirty="0">
              <a:solidFill>
                <a:srgbClr val="AE192C"/>
              </a:solidFill>
              <a:latin typeface="Montserrat" panose="00000500000000000000" pitchFamily="2" charset="0"/>
              <a:ea typeface="HarmonyOS Sans SC Light" panose="00000400000000000000" pitchFamily="2" charset="-122"/>
            </a:endParaRPr>
          </a:p>
          <a:p>
            <a:pPr algn="l"/>
            <a:endParaRPr lang="en-US" altLang="zh-CN" sz="600" spc="300" dirty="0">
              <a:solidFill>
                <a:srgbClr val="AE192C"/>
              </a:solidFill>
              <a:latin typeface="Montserrat" panose="00000500000000000000" pitchFamily="2" charset="0"/>
              <a:ea typeface="HarmonyOS Sans SC Light" panose="00000400000000000000" pitchFamily="2" charset="-122"/>
            </a:endParaRPr>
          </a:p>
        </p:txBody>
      </p:sp>
      <p:graphicFrame>
        <p:nvGraphicFramePr>
          <p:cNvPr id="2" name="表格 1"/>
          <p:cNvGraphicFramePr/>
          <p:nvPr>
            <p:custDataLst>
              <p:tags r:id="rId1"/>
            </p:custDataLst>
          </p:nvPr>
        </p:nvGraphicFramePr>
        <p:xfrm>
          <a:off x="5304790" y="1927225"/>
          <a:ext cx="5932170" cy="3368040"/>
        </p:xfrm>
        <a:graphic>
          <a:graphicData uri="http://schemas.openxmlformats.org/drawingml/2006/table">
            <a:tbl>
              <a:tblPr/>
              <a:tblGrid>
                <a:gridCol w="988695"/>
                <a:gridCol w="988695"/>
                <a:gridCol w="988695"/>
                <a:gridCol w="988695"/>
                <a:gridCol w="988695"/>
                <a:gridCol w="988695"/>
              </a:tblGrid>
              <a:tr h="561340">
                <a:tc>
                  <a:txBody>
                    <a:bodyPr/>
                    <a:p>
                      <a:pPr algn="ctr" fontAlgn="ctr">
                        <a:buClrTx/>
                        <a:buSzTx/>
                        <a:buFontTx/>
                      </a:pPr>
                      <a:r>
                        <a:rPr lang="en-US" altLang="zh-CN" sz="1400" b="0" i="0">
                          <a:solidFill>
                            <a:schemeClr val="bg1"/>
                          </a:solidFill>
                          <a:latin typeface="Times New Roman" panose="02020503050405090304" charset="0"/>
                          <a:ea typeface="宋体"/>
                          <a:cs typeface="Times New Roman" panose="02020503050405090304" charset="0"/>
                        </a:rPr>
                        <a:t>Cancer Type</a:t>
                      </a:r>
                      <a:endParaRPr lang="en-US" altLang="zh-CN" sz="1400" b="0" i="0">
                        <a:solidFill>
                          <a:schemeClr val="bg1"/>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AE192C"/>
                    </a:solidFill>
                  </a:tcPr>
                </a:tc>
                <a:tc>
                  <a:txBody>
                    <a:bodyPr/>
                    <a:p>
                      <a:pPr algn="ctr" fontAlgn="ctr">
                        <a:buClrTx/>
                        <a:buSzTx/>
                        <a:buFontTx/>
                      </a:pPr>
                      <a:r>
                        <a:rPr lang="en-US" altLang="zh-CN" sz="1400" b="0" i="0">
                          <a:solidFill>
                            <a:schemeClr val="bg1"/>
                          </a:solidFill>
                          <a:latin typeface="Times New Roman" panose="02020503050405090304" charset="0"/>
                          <a:ea typeface="宋体"/>
                          <a:cs typeface="Times New Roman" panose="02020503050405090304" charset="0"/>
                        </a:rPr>
                        <a:t>Sample Size</a:t>
                      </a:r>
                      <a:endParaRPr lang="en-US" altLang="zh-CN" sz="1400" b="0" i="0">
                        <a:solidFill>
                          <a:schemeClr val="bg1"/>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AE192C"/>
                    </a:solidFill>
                  </a:tcPr>
                </a:tc>
                <a:tc>
                  <a:txBody>
                    <a:bodyPr/>
                    <a:p>
                      <a:pPr algn="ctr" fontAlgn="ctr">
                        <a:buClrTx/>
                        <a:buSzTx/>
                        <a:buFontTx/>
                      </a:pPr>
                      <a:r>
                        <a:rPr lang="en-US" altLang="zh-CN" sz="1400" b="0" i="0">
                          <a:solidFill>
                            <a:schemeClr val="bg1"/>
                          </a:solidFill>
                          <a:latin typeface="Times New Roman" panose="02020503050405090304" charset="0"/>
                          <a:ea typeface="宋体"/>
                          <a:cs typeface="Times New Roman" panose="02020503050405090304" charset="0"/>
                        </a:rPr>
                        <a:t>Death Count</a:t>
                      </a:r>
                      <a:endParaRPr lang="en-US" altLang="zh-CN" sz="1400" b="0" i="0">
                        <a:solidFill>
                          <a:schemeClr val="bg1"/>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AE192C"/>
                    </a:solidFill>
                  </a:tcPr>
                </a:tc>
                <a:tc>
                  <a:txBody>
                    <a:bodyPr/>
                    <a:p>
                      <a:pPr algn="ctr" fontAlgn="ctr">
                        <a:buClrTx/>
                        <a:buSzTx/>
                        <a:buFontTx/>
                      </a:pPr>
                      <a:r>
                        <a:rPr lang="en-US" altLang="zh-CN" sz="1400" b="0" i="0">
                          <a:solidFill>
                            <a:schemeClr val="bg1"/>
                          </a:solidFill>
                          <a:latin typeface="Times New Roman" panose="02020503050405090304" charset="0"/>
                          <a:ea typeface="宋体"/>
                          <a:cs typeface="Times New Roman" panose="02020503050405090304" charset="0"/>
                        </a:rPr>
                        <a:t>HR</a:t>
                      </a:r>
                      <a:endParaRPr lang="en-US" altLang="zh-CN" sz="1400" b="0" i="0">
                        <a:solidFill>
                          <a:schemeClr val="bg1"/>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AE192C"/>
                    </a:solidFill>
                  </a:tcPr>
                </a:tc>
                <a:tc>
                  <a:txBody>
                    <a:bodyPr/>
                    <a:p>
                      <a:pPr algn="ctr" fontAlgn="ctr">
                        <a:buClrTx/>
                        <a:buSzTx/>
                        <a:buFontTx/>
                      </a:pPr>
                      <a:r>
                        <a:rPr lang="en-US" altLang="zh-CN" sz="1400" b="0" i="0">
                          <a:solidFill>
                            <a:schemeClr val="bg1"/>
                          </a:solidFill>
                          <a:latin typeface="Times New Roman" panose="02020503050405090304" charset="0"/>
                          <a:ea typeface="宋体"/>
                          <a:cs typeface="Times New Roman" panose="02020503050405090304" charset="0"/>
                        </a:rPr>
                        <a:t>P-value</a:t>
                      </a:r>
                      <a:endParaRPr lang="en-US" altLang="zh-CN" sz="1400" b="0" i="0">
                        <a:solidFill>
                          <a:schemeClr val="bg1"/>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AE192C"/>
                    </a:solidFill>
                  </a:tcPr>
                </a:tc>
                <a:tc>
                  <a:txBody>
                    <a:bodyPr/>
                    <a:p>
                      <a:pPr algn="ctr" fontAlgn="ctr">
                        <a:buClrTx/>
                        <a:buSzTx/>
                        <a:buFontTx/>
                      </a:pPr>
                      <a:r>
                        <a:rPr lang="en-US" altLang="zh-CN" sz="1400" b="0" i="0">
                          <a:solidFill>
                            <a:schemeClr val="bg1"/>
                          </a:solidFill>
                          <a:latin typeface="Times New Roman" panose="02020503050405090304" charset="0"/>
                          <a:ea typeface="宋体"/>
                          <a:cs typeface="Times New Roman" panose="02020503050405090304" charset="0"/>
                        </a:rPr>
                        <a:t>Significant</a:t>
                      </a:r>
                      <a:endParaRPr lang="en-US" altLang="zh-CN" sz="1400" b="0" i="0">
                        <a:solidFill>
                          <a:schemeClr val="bg1"/>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AE192C"/>
                    </a:solidFill>
                  </a:tcPr>
                </a:tc>
              </a:tr>
              <a:tr h="561340">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PAAD</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183</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95</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0.98</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0.92</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No</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r>
              <a:tr h="561340">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PRAD</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no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563</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no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10</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no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0.92</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no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0.90</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no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 No</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noFill/>
                  </a:tcPr>
                </a:tc>
              </a:tr>
              <a:tr h="561340">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STAD</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402</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151</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 1.51</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0.01</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Yes</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r>
              <a:tr h="561340">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SKCM</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no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100</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no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28</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no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1.22</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no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0.61</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no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No</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noFill/>
                  </a:tcPr>
                </a:tc>
              </a:tr>
              <a:tr h="561340">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LUAD</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529</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197</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0.95</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0.73</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c>
                  <a:txBody>
                    <a:bodyPr/>
                    <a:p>
                      <a:pPr algn="ctr" fontAlgn="ctr">
                        <a:buClrTx/>
                        <a:buSzTx/>
                        <a:buFontTx/>
                      </a:pPr>
                      <a:r>
                        <a:rPr lang="en-US" altLang="zh-CN" sz="1400" b="0" i="0">
                          <a:solidFill>
                            <a:schemeClr val="tx1">
                              <a:lumMod val="65000"/>
                              <a:lumOff val="35000"/>
                            </a:schemeClr>
                          </a:solidFill>
                          <a:latin typeface="Times New Roman" panose="02020503050405090304" charset="0"/>
                          <a:ea typeface="宋体"/>
                          <a:cs typeface="Times New Roman" panose="02020503050405090304" charset="0"/>
                        </a:rPr>
                        <a:t> No</a:t>
                      </a:r>
                      <a:endParaRPr lang="en-US" altLang="zh-CN" sz="1400" b="0" i="0">
                        <a:solidFill>
                          <a:schemeClr val="tx1">
                            <a:lumMod val="65000"/>
                            <a:lumOff val="35000"/>
                          </a:schemeClr>
                        </a:solidFill>
                        <a:latin typeface="Times New Roman" panose="02020503050405090304" charset="0"/>
                        <a:ea typeface="宋体"/>
                        <a:cs typeface="Times New Roman" panose="02020503050405090304" charset="0"/>
                      </a:endParaRPr>
                    </a:p>
                  </a:txBody>
                  <a:tcPr marL="0" marR="0" marT="0" marB="0" anchor="ctr" anchorCtr="0">
                    <a:lnL>
                      <a:noFill/>
                    </a:lnL>
                    <a:lnR>
                      <a:noFill/>
                    </a:lnR>
                    <a:lnT>
                      <a:noFill/>
                    </a:lnT>
                    <a:lnB>
                      <a:noFill/>
                    </a:lnB>
                    <a:solidFill>
                      <a:srgbClr val="D9D9D9"/>
                    </a:solidFill>
                  </a:tcPr>
                </a:tc>
              </a:tr>
            </a:tbl>
          </a:graphicData>
        </a:graphic>
      </p:graphicFrame>
      <p:pic>
        <p:nvPicPr>
          <p:cNvPr id="7" name="图片 6" descr="1fb514cb1a5e54e89daecde6a77344a3"/>
          <p:cNvPicPr>
            <a:picLocks noChangeAspect="1"/>
          </p:cNvPicPr>
          <p:nvPr/>
        </p:nvPicPr>
        <p:blipFill>
          <a:blip r:embed="rId2"/>
          <a:stretch>
            <a:fillRect/>
          </a:stretch>
        </p:blipFill>
        <p:spPr>
          <a:xfrm>
            <a:off x="10278745" y="144780"/>
            <a:ext cx="1635125" cy="4737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Click="0" advTm="3000">
        <p:random/>
      </p:transition>
    </mc:Choice>
    <mc:Fallback>
      <p:transition spd="slow" advClick="0" advTm="3000">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1395413"/>
            <a:ext cx="12192000" cy="4392612"/>
            <a:chOff x="0" y="1395413"/>
            <a:chExt cx="12192000" cy="4392612"/>
          </a:xfrm>
          <a:solidFill>
            <a:srgbClr val="AF1E2F"/>
          </a:solidFill>
        </p:grpSpPr>
        <p:sp>
          <p:nvSpPr>
            <p:cNvPr id="8" name="Freeform 5"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3308645" y="1395413"/>
              <a:ext cx="8883355" cy="1881187"/>
            </a:xfrm>
            <a:custGeom>
              <a:avLst/>
              <a:gdLst>
                <a:gd name="T0" fmla="*/ 11567 w 11567"/>
                <a:gd name="T1" fmla="*/ 2441 h 2441"/>
                <a:gd name="T2" fmla="*/ 0 w 11567"/>
                <a:gd name="T3" fmla="*/ 2441 h 2441"/>
                <a:gd name="T4" fmla="*/ 1542 w 11567"/>
                <a:gd name="T5" fmla="*/ 0 h 2441"/>
                <a:gd name="T6" fmla="*/ 11567 w 11567"/>
                <a:gd name="T7" fmla="*/ 0 h 2441"/>
                <a:gd name="T8" fmla="*/ 11567 w 11567"/>
                <a:gd name="T9" fmla="*/ 2441 h 2441"/>
              </a:gdLst>
              <a:ahLst/>
              <a:cxnLst>
                <a:cxn ang="0">
                  <a:pos x="T0" y="T1"/>
                </a:cxn>
                <a:cxn ang="0">
                  <a:pos x="T2" y="T3"/>
                </a:cxn>
                <a:cxn ang="0">
                  <a:pos x="T4" y="T5"/>
                </a:cxn>
                <a:cxn ang="0">
                  <a:pos x="T6" y="T7"/>
                </a:cxn>
                <a:cxn ang="0">
                  <a:pos x="T8" y="T9"/>
                </a:cxn>
              </a:cxnLst>
              <a:rect l="0" t="0" r="r" b="b"/>
              <a:pathLst>
                <a:path w="11567" h="2441">
                  <a:moveTo>
                    <a:pt x="11567" y="2441"/>
                  </a:moveTo>
                  <a:lnTo>
                    <a:pt x="0" y="2441"/>
                  </a:lnTo>
                  <a:lnTo>
                    <a:pt x="1542" y="0"/>
                  </a:lnTo>
                  <a:lnTo>
                    <a:pt x="11567" y="0"/>
                  </a:lnTo>
                  <a:lnTo>
                    <a:pt x="11567" y="2441"/>
                  </a:lnTo>
                  <a:close/>
                </a:path>
              </a:pathLst>
            </a:custGeom>
            <a:solidFill>
              <a:srgbClr val="831723"/>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0" name="Freeform 6"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0" y="4075113"/>
              <a:ext cx="5693725" cy="1712912"/>
            </a:xfrm>
            <a:custGeom>
              <a:avLst/>
              <a:gdLst>
                <a:gd name="T0" fmla="*/ 0 w 7413"/>
                <a:gd name="T1" fmla="*/ 0 h 2222"/>
                <a:gd name="T2" fmla="*/ 7413 w 7413"/>
                <a:gd name="T3" fmla="*/ 0 h 2222"/>
                <a:gd name="T4" fmla="*/ 6010 w 7413"/>
                <a:gd name="T5" fmla="*/ 2222 h 2222"/>
                <a:gd name="T6" fmla="*/ 0 w 7413"/>
                <a:gd name="T7" fmla="*/ 2222 h 2222"/>
                <a:gd name="T8" fmla="*/ 0 w 7413"/>
                <a:gd name="T9" fmla="*/ 0 h 2222"/>
              </a:gdLst>
              <a:ahLst/>
              <a:cxnLst>
                <a:cxn ang="0">
                  <a:pos x="T0" y="T1"/>
                </a:cxn>
                <a:cxn ang="0">
                  <a:pos x="T2" y="T3"/>
                </a:cxn>
                <a:cxn ang="0">
                  <a:pos x="T4" y="T5"/>
                </a:cxn>
                <a:cxn ang="0">
                  <a:pos x="T6" y="T7"/>
                </a:cxn>
                <a:cxn ang="0">
                  <a:pos x="T8" y="T9"/>
                </a:cxn>
              </a:cxnLst>
              <a:rect l="0" t="0" r="r" b="b"/>
              <a:pathLst>
                <a:path w="7413" h="2222">
                  <a:moveTo>
                    <a:pt x="0" y="0"/>
                  </a:moveTo>
                  <a:lnTo>
                    <a:pt x="7413" y="0"/>
                  </a:lnTo>
                  <a:lnTo>
                    <a:pt x="6010" y="2222"/>
                  </a:lnTo>
                  <a:lnTo>
                    <a:pt x="0" y="2222"/>
                  </a:lnTo>
                  <a:lnTo>
                    <a:pt x="0" y="0"/>
                  </a:lnTo>
                  <a:close/>
                </a:path>
              </a:pathLst>
            </a:custGeom>
            <a:solidFill>
              <a:srgbClr val="831723"/>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1" name="Freeform 7"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0" y="2052639"/>
              <a:ext cx="10728896" cy="2981325"/>
            </a:xfrm>
            <a:custGeom>
              <a:avLst/>
              <a:gdLst>
                <a:gd name="T0" fmla="*/ 0 w 13970"/>
                <a:gd name="T1" fmla="*/ 0 h 3869"/>
                <a:gd name="T2" fmla="*/ 13970 w 13970"/>
                <a:gd name="T3" fmla="*/ 0 h 3869"/>
                <a:gd name="T4" fmla="*/ 11527 w 13970"/>
                <a:gd name="T5" fmla="*/ 3869 h 3869"/>
                <a:gd name="T6" fmla="*/ 0 w 13970"/>
                <a:gd name="T7" fmla="*/ 3869 h 3869"/>
                <a:gd name="T8" fmla="*/ 0 w 13970"/>
                <a:gd name="T9" fmla="*/ 0 h 3869"/>
              </a:gdLst>
              <a:ahLst/>
              <a:cxnLst>
                <a:cxn ang="0">
                  <a:pos x="T0" y="T1"/>
                </a:cxn>
                <a:cxn ang="0">
                  <a:pos x="T2" y="T3"/>
                </a:cxn>
                <a:cxn ang="0">
                  <a:pos x="T4" y="T5"/>
                </a:cxn>
                <a:cxn ang="0">
                  <a:pos x="T6" y="T7"/>
                </a:cxn>
                <a:cxn ang="0">
                  <a:pos x="T8" y="T9"/>
                </a:cxn>
              </a:cxnLst>
              <a:rect l="0" t="0" r="r" b="b"/>
              <a:pathLst>
                <a:path w="13970" h="3869">
                  <a:moveTo>
                    <a:pt x="0" y="0"/>
                  </a:moveTo>
                  <a:lnTo>
                    <a:pt x="13970" y="0"/>
                  </a:lnTo>
                  <a:lnTo>
                    <a:pt x="11527" y="3869"/>
                  </a:lnTo>
                  <a:lnTo>
                    <a:pt x="0" y="3869"/>
                  </a:lnTo>
                  <a:lnTo>
                    <a:pt x="0" y="0"/>
                  </a:lnTo>
                  <a:close/>
                </a:path>
              </a:pathLst>
            </a:custGeom>
            <a:grp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grpSp>
      <p:sp>
        <p:nvSpPr>
          <p:cNvPr id="2" name="e7d195523061f1c0" descr="e7d195523061f1c060910eeaeeff1464599dc3392e14be42F6605DBF3376AA578EAD49A2F34CDE9F8BA873D9FC4305B94F8C98BE913D0BB55B77B4982D855D57316D9666CF50C0C1F882EEA92AB650391898752DC0F28C027E30AABBE39009D367F52CF2EB08CFD5B7F9FB4301E8C18380EF535FE4A4CCCE7A68EA8B854FFF693052B82C6FF16E3D" hidden="1"/>
          <p:cNvSpPr txBox="1"/>
          <p:nvPr/>
        </p:nvSpPr>
        <p:spPr>
          <a:xfrm>
            <a:off x="-355600" y="1803400"/>
            <a:ext cx="262251"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等线"/>
                <a:ea typeface="等线" panose="02010600030101010101" charset="-122"/>
                <a:cs typeface="+mn-cs"/>
              </a:rPr>
              <a:t>e7d195523061f1c060910eeaeeff1464599dc3392e14be42F6605DBF3376AA578EAD49A2F34CDE9F8BA873D9FC4305B94F8C98BE913D0BB55B77B4982D855D57316D9666CF50C0C1F882EEA92AB650391898752DC0F28C027E30AABBE39009D367F52CF2EB08CFD5B7F9FB4301E8C18380EF535FE4A4CCCE7A68EA8B854FFF693052B82C6FF16E3D</a:t>
            </a:r>
            <a:endParaRPr kumimoji="0" lang="zh-CN" altLang="en-US" sz="1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3" name="文本框 12"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txBox="1"/>
          <p:nvPr/>
        </p:nvSpPr>
        <p:spPr>
          <a:xfrm>
            <a:off x="1091479" y="1908176"/>
            <a:ext cx="1508125" cy="31534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900" b="0" i="0" u="none" strike="noStrike" kern="1200" cap="none" spc="0" normalizeH="0" baseline="0" noProof="0" dirty="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rPr>
              <a:t>4</a:t>
            </a:r>
            <a:endParaRPr kumimoji="0" lang="en-US" altLang="zh-CN" sz="19900" b="0" i="0" u="none" strike="noStrike" kern="1200" cap="none" spc="0" normalizeH="0" baseline="0" noProof="0" dirty="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4" name="文本框 13"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txBox="1"/>
          <p:nvPr/>
        </p:nvSpPr>
        <p:spPr>
          <a:xfrm>
            <a:off x="2846705" y="3598545"/>
            <a:ext cx="5693410" cy="2971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35"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rPr>
              <a:t> A Case Study of lncRNA MIR100HG across Five Cancer Types</a:t>
            </a:r>
            <a:endParaRPr kumimoji="0" lang="en-US" altLang="zh-CN" sz="1335"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5" name="文本框 14"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txBox="1"/>
          <p:nvPr/>
        </p:nvSpPr>
        <p:spPr>
          <a:xfrm>
            <a:off x="2846705" y="2668270"/>
            <a:ext cx="8459470" cy="768350"/>
          </a:xfrm>
          <a:prstGeom prst="rect">
            <a:avLst/>
          </a:prstGeom>
          <a:noFill/>
        </p:spPr>
        <p:txBody>
          <a:bodyPr wrap="square" rtlCol="0">
            <a:spAutoFit/>
          </a:bodyPr>
          <a:lstStyle/>
          <a:p>
            <a:pPr lvl="0"/>
            <a:r>
              <a:rPr lang="en-US" altLang="zh-CN" sz="4400" dirty="0">
                <a:solidFill>
                  <a:prstClr val="white"/>
                </a:solidFill>
                <a:latin typeface="Trebuchet MS Regular" panose="020B0703020202090204" charset="0"/>
                <a:ea typeface="华康俪金黑W8" panose="020B0809000000000000" pitchFamily="49" charset="-122"/>
              </a:rPr>
              <a:t>MIR100HG Mechanisms</a:t>
            </a:r>
            <a:endParaRPr lang="en-US" altLang="zh-CN" sz="4400" dirty="0">
              <a:solidFill>
                <a:prstClr val="white"/>
              </a:solidFill>
              <a:latin typeface="Trebuchet MS Regular" panose="020B0703020202090204" charset="0"/>
              <a:ea typeface="华康俪金黑W8" panose="020B0809000000000000" pitchFamily="49" charset="-122"/>
            </a:endParaRPr>
          </a:p>
        </p:txBody>
      </p:sp>
      <p:sp>
        <p:nvSpPr>
          <p:cNvPr id="16" name="矩形 15"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p:nvPr/>
        </p:nvSpPr>
        <p:spPr>
          <a:xfrm>
            <a:off x="2956407" y="3466746"/>
            <a:ext cx="566069" cy="60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7" name="Freeform 8"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11227177" y="1908176"/>
            <a:ext cx="556995" cy="900113"/>
          </a:xfrm>
          <a:custGeom>
            <a:avLst/>
            <a:gdLst>
              <a:gd name="T0" fmla="*/ 584 w 725"/>
              <a:gd name="T1" fmla="*/ 443 h 1169"/>
              <a:gd name="T2" fmla="*/ 725 w 725"/>
              <a:gd name="T3" fmla="*/ 585 h 1169"/>
              <a:gd name="T4" fmla="*/ 584 w 725"/>
              <a:gd name="T5" fmla="*/ 726 h 1169"/>
              <a:gd name="T6" fmla="*/ 141 w 725"/>
              <a:gd name="T7" fmla="*/ 1169 h 1169"/>
              <a:gd name="T8" fmla="*/ 0 w 725"/>
              <a:gd name="T9" fmla="*/ 1028 h 1169"/>
              <a:gd name="T10" fmla="*/ 443 w 725"/>
              <a:gd name="T11" fmla="*/ 585 h 1169"/>
              <a:gd name="T12" fmla="*/ 0 w 725"/>
              <a:gd name="T13" fmla="*/ 141 h 1169"/>
              <a:gd name="T14" fmla="*/ 141 w 725"/>
              <a:gd name="T15" fmla="*/ 0 h 1169"/>
              <a:gd name="T16" fmla="*/ 584 w 725"/>
              <a:gd name="T17" fmla="*/ 44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3000"/>
    </mc:Choice>
    <mc:Fallback>
      <p:transition spd="slow" advClick="0" advTm="3000"/>
    </mc:Fallback>
  </mc:AlternateContent>
  <p:timing>
    <p:tnLst>
      <p:par>
        <p:cTn id="1" dur="indefinite" restart="never" nodeType="tmRoot"/>
      </p:par>
    </p:tnLst>
    <p:bldLst>
      <p:bldP spid="13" grpId="0"/>
      <p:bldP spid="14" grpId="0"/>
      <p:bldP spid="15" grpId="0"/>
      <p:bldP spid="16" grpId="0" bldLvl="0" animBg="1"/>
      <p:bldP spid="17"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1755"/>
            <a:ext cx="4876165" cy="6929755"/>
          </a:xfrm>
          <a:prstGeom prst="rect">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Regular" panose="02020503050405090304" charset="0"/>
              <a:cs typeface="Times New Roman Regular" panose="02020503050405090304" charset="0"/>
            </a:endParaRPr>
          </a:p>
        </p:txBody>
      </p:sp>
      <p:sp>
        <p:nvSpPr>
          <p:cNvPr id="9" name="Rectangle 8"/>
          <p:cNvSpPr/>
          <p:nvPr/>
        </p:nvSpPr>
        <p:spPr>
          <a:xfrm>
            <a:off x="6776720" y="3784600"/>
            <a:ext cx="4157345" cy="1356360"/>
          </a:xfrm>
          <a:prstGeom prst="rect">
            <a:avLst/>
          </a:prstGeom>
        </p:spPr>
        <p:txBody>
          <a:bodyPr wrap="square">
            <a:noAutofit/>
          </a:bodyPr>
          <a:lstStyle/>
          <a:p>
            <a:pPr algn="just">
              <a:lnSpc>
                <a:spcPct val="110000"/>
              </a:lnSpc>
            </a:pPr>
            <a:r>
              <a:rPr lang="en-US" altLang="zh-CN" sz="1200" dirty="0">
                <a:solidFill>
                  <a:schemeClr val="tx1">
                    <a:lumMod val="75000"/>
                    <a:lumOff val="25000"/>
                  </a:schemeClr>
                </a:solidFill>
                <a:latin typeface="Times New Roman Regular" panose="02020503050405090304" charset="0"/>
                <a:ea typeface="Open Sans Light" panose="020B0306030504020204" pitchFamily="34" charset="0"/>
                <a:cs typeface="Times New Roman Regular" panose="02020503050405090304" charset="0"/>
              </a:rPr>
              <a:t>In conclusion, MIR100HG is involved in regulating cancer phenotypes through an integrated mechanism consisting of transcriptional regulation, epigenetic modification and pathway activation, and possesses both cross-cancer versatility and tissue specificity, which has the potential to be used as a diagnostic marker and intervention target in the future.</a:t>
            </a:r>
            <a:endParaRPr lang="en-US" altLang="zh-CN" sz="1200" dirty="0">
              <a:solidFill>
                <a:schemeClr val="tx1">
                  <a:lumMod val="75000"/>
                  <a:lumOff val="25000"/>
                </a:schemeClr>
              </a:solidFill>
              <a:latin typeface="Times New Roman Regular" panose="02020503050405090304" charset="0"/>
              <a:ea typeface="Open Sans Light" panose="020B0306030504020204" pitchFamily="34" charset="0"/>
              <a:cs typeface="Times New Roman Regular" panose="02020503050405090304" charset="0"/>
            </a:endParaRPr>
          </a:p>
        </p:txBody>
      </p:sp>
      <p:sp>
        <p:nvSpPr>
          <p:cNvPr id="23" name="Rectangle 22"/>
          <p:cNvSpPr/>
          <p:nvPr/>
        </p:nvSpPr>
        <p:spPr>
          <a:xfrm>
            <a:off x="6776720" y="3140075"/>
            <a:ext cx="4013835" cy="533400"/>
          </a:xfrm>
          <a:prstGeom prst="rect">
            <a:avLst/>
          </a:prstGeom>
        </p:spPr>
        <p:txBody>
          <a:bodyPr wrap="square">
            <a:spAutoFit/>
          </a:bodyPr>
          <a:lstStyle/>
          <a:p>
            <a:pPr algn="l">
              <a:lnSpc>
                <a:spcPct val="90000"/>
              </a:lnSpc>
            </a:pPr>
            <a:r>
              <a:rPr lang="en-US" altLang="zh-CN" sz="1600" dirty="0">
                <a:solidFill>
                  <a:schemeClr val="tx1">
                    <a:lumMod val="75000"/>
                    <a:lumOff val="25000"/>
                  </a:schemeClr>
                </a:solidFill>
                <a:latin typeface="Times New Roman Regular" panose="02020503050405090304" charset="0"/>
                <a:cs typeface="Times New Roman Regular" panose="02020503050405090304" charset="0"/>
              </a:rPr>
              <a:t>Suggesting that it may affect tumour development through multilevel regulation.</a:t>
            </a:r>
            <a:endParaRPr lang="en-US" altLang="zh-CN" sz="1600" dirty="0">
              <a:solidFill>
                <a:schemeClr val="tx1">
                  <a:lumMod val="75000"/>
                  <a:lumOff val="25000"/>
                </a:schemeClr>
              </a:solidFill>
              <a:latin typeface="Times New Roman Regular" panose="02020503050405090304" charset="0"/>
              <a:cs typeface="Times New Roman Regular" panose="02020503050405090304" charset="0"/>
            </a:endParaRPr>
          </a:p>
        </p:txBody>
      </p:sp>
      <p:sp>
        <p:nvSpPr>
          <p:cNvPr id="14" name="Rectangle: Rounded Corners 13"/>
          <p:cNvSpPr/>
          <p:nvPr/>
        </p:nvSpPr>
        <p:spPr>
          <a:xfrm rot="5400000">
            <a:off x="6173470" y="1038860"/>
            <a:ext cx="160655" cy="160655"/>
          </a:xfrm>
          <a:prstGeom prst="roundRect">
            <a:avLst>
              <a:gd name="adj" fmla="val 50000"/>
            </a:avLst>
          </a:prstGeom>
          <a:solidFill>
            <a:srgbClr val="AE192C"/>
          </a:solidFill>
          <a:ln w="177800">
            <a:solidFill>
              <a:srgbClr val="DD919A">
                <a:alpha val="21000"/>
              </a:srgbClr>
            </a:solidFill>
          </a:ln>
          <a:effectLst>
            <a:outerShdw blurRad="469900" dist="38100" dir="2700000" sx="121000" sy="121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latin typeface="Times New Roman Regular" panose="02020503050405090304" charset="0"/>
              <a:cs typeface="Times New Roman Regular" panose="02020503050405090304" charset="0"/>
            </a:endParaRPr>
          </a:p>
        </p:txBody>
      </p:sp>
      <p:cxnSp>
        <p:nvCxnSpPr>
          <p:cNvPr id="13" name="Straight Connector 12"/>
          <p:cNvCxnSpPr>
            <a:stCxn id="14" idx="3"/>
          </p:cNvCxnSpPr>
          <p:nvPr/>
        </p:nvCxnSpPr>
        <p:spPr>
          <a:xfrm>
            <a:off x="6253480" y="1199515"/>
            <a:ext cx="0" cy="5961380"/>
          </a:xfrm>
          <a:prstGeom prst="line">
            <a:avLst/>
          </a:prstGeom>
          <a:ln w="15875" cap="flat" cmpd="sng">
            <a:solidFill>
              <a:srgbClr val="AE192C"/>
            </a:solidFill>
            <a:prstDash val="solid"/>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15" name="Rectangle: Rounded Corners 14"/>
          <p:cNvSpPr/>
          <p:nvPr/>
        </p:nvSpPr>
        <p:spPr>
          <a:xfrm rot="5400000">
            <a:off x="6173470" y="3025775"/>
            <a:ext cx="160655" cy="160655"/>
          </a:xfrm>
          <a:prstGeom prst="roundRect">
            <a:avLst>
              <a:gd name="adj" fmla="val 50000"/>
            </a:avLst>
          </a:prstGeom>
          <a:solidFill>
            <a:srgbClr val="AE192C"/>
          </a:solidFill>
          <a:ln w="177800">
            <a:solidFill>
              <a:srgbClr val="DD919A">
                <a:alpha val="21000"/>
              </a:srgbClr>
            </a:solidFill>
          </a:ln>
          <a:effectLst>
            <a:outerShdw blurRad="469900" dist="38100" dir="2700000" sx="121000" sy="121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latin typeface="Times New Roman Regular" panose="02020503050405090304" charset="0"/>
              <a:cs typeface="Times New Roman Regular" panose="02020503050405090304" charset="0"/>
            </a:endParaRPr>
          </a:p>
        </p:txBody>
      </p:sp>
      <p:sp>
        <p:nvSpPr>
          <p:cNvPr id="16" name="Rectangle: Rounded Corners 15"/>
          <p:cNvSpPr/>
          <p:nvPr/>
        </p:nvSpPr>
        <p:spPr>
          <a:xfrm rot="5400000">
            <a:off x="6173470" y="5013325"/>
            <a:ext cx="160655" cy="160655"/>
          </a:xfrm>
          <a:prstGeom prst="roundRect">
            <a:avLst>
              <a:gd name="adj" fmla="val 50000"/>
            </a:avLst>
          </a:prstGeom>
          <a:solidFill>
            <a:srgbClr val="AE192C"/>
          </a:solidFill>
          <a:ln w="177800">
            <a:solidFill>
              <a:srgbClr val="DD919A">
                <a:alpha val="21000"/>
              </a:srgbClr>
            </a:solidFill>
          </a:ln>
          <a:effectLst>
            <a:outerShdw blurRad="469900" dist="38100" dir="2700000" sx="121000" sy="121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latin typeface="Times New Roman Regular" panose="02020503050405090304" charset="0"/>
              <a:cs typeface="Times New Roman Regular" panose="02020503050405090304" charset="0"/>
            </a:endParaRPr>
          </a:p>
        </p:txBody>
      </p:sp>
      <p:sp>
        <p:nvSpPr>
          <p:cNvPr id="19" name="Rectangle: Rounded Corners 18"/>
          <p:cNvSpPr/>
          <p:nvPr/>
        </p:nvSpPr>
        <p:spPr>
          <a:xfrm rot="5400000">
            <a:off x="6173470" y="7000240"/>
            <a:ext cx="160655" cy="160655"/>
          </a:xfrm>
          <a:prstGeom prst="roundRect">
            <a:avLst>
              <a:gd name="adj" fmla="val 50000"/>
            </a:avLst>
          </a:prstGeom>
          <a:solidFill>
            <a:srgbClr val="AE192C"/>
          </a:solidFill>
          <a:ln w="177800">
            <a:solidFill>
              <a:srgbClr val="DD919A">
                <a:alpha val="21000"/>
              </a:srgbClr>
            </a:solidFill>
          </a:ln>
          <a:effectLst>
            <a:outerShdw blurRad="469900" dist="38100" dir="2700000" sx="121000" sy="121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bg1"/>
              </a:solidFill>
              <a:latin typeface="Times New Roman Regular" panose="02020503050405090304" charset="0"/>
              <a:cs typeface="Times New Roman Regular" panose="02020503050405090304" charset="0"/>
            </a:endParaRPr>
          </a:p>
        </p:txBody>
      </p:sp>
      <p:grpSp>
        <p:nvGrpSpPr>
          <p:cNvPr id="17" name="组合 16"/>
          <p:cNvGrpSpPr/>
          <p:nvPr/>
        </p:nvGrpSpPr>
        <p:grpSpPr>
          <a:xfrm>
            <a:off x="646430" y="735330"/>
            <a:ext cx="5049520" cy="5676900"/>
            <a:chOff x="676" y="287"/>
            <a:chExt cx="9489" cy="10193"/>
          </a:xfrm>
        </p:grpSpPr>
        <p:grpSp>
          <p:nvGrpSpPr>
            <p:cNvPr id="4" name="Group 3"/>
            <p:cNvGrpSpPr/>
            <p:nvPr/>
          </p:nvGrpSpPr>
          <p:grpSpPr>
            <a:xfrm rot="0">
              <a:off x="677" y="287"/>
              <a:ext cx="9378" cy="2611"/>
              <a:chOff x="609600" y="571500"/>
              <a:chExt cx="4612317" cy="1504869"/>
            </a:xfrm>
          </p:grpSpPr>
          <p:sp>
            <p:nvSpPr>
              <p:cNvPr id="3" name="Rectangle 2"/>
              <p:cNvSpPr/>
              <p:nvPr/>
            </p:nvSpPr>
            <p:spPr>
              <a:xfrm>
                <a:off x="609600" y="571500"/>
                <a:ext cx="4612317" cy="1504869"/>
              </a:xfrm>
              <a:prstGeom prst="rect">
                <a:avLst/>
              </a:prstGeom>
              <a:solidFill>
                <a:schemeClr val="bg1"/>
              </a:solidFill>
              <a:ln>
                <a:noFill/>
              </a:ln>
              <a:effectLst>
                <a:outerShdw blurRad="546100" dist="152400" dir="2700000" sx="97000" sy="97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Regular" panose="02020503050405090304" charset="0"/>
                  <a:cs typeface="Times New Roman Regular" panose="02020503050405090304" charset="0"/>
                </a:endParaRPr>
              </a:p>
            </p:txBody>
          </p:sp>
          <p:grpSp>
            <p:nvGrpSpPr>
              <p:cNvPr id="35" name="Group 34"/>
              <p:cNvGrpSpPr/>
              <p:nvPr/>
            </p:nvGrpSpPr>
            <p:grpSpPr>
              <a:xfrm>
                <a:off x="757194" y="719644"/>
                <a:ext cx="4330531" cy="1078705"/>
                <a:chOff x="757194" y="719644"/>
                <a:chExt cx="4330531" cy="1078705"/>
              </a:xfrm>
            </p:grpSpPr>
            <p:sp>
              <p:nvSpPr>
                <p:cNvPr id="27" name="Rectangle 26"/>
                <p:cNvSpPr/>
                <p:nvPr/>
              </p:nvSpPr>
              <p:spPr>
                <a:xfrm>
                  <a:off x="757194" y="1088083"/>
                  <a:ext cx="713079" cy="667652"/>
                </a:xfrm>
                <a:prstGeom prst="rect">
                  <a:avLst/>
                </a:prstGeom>
              </p:spPr>
              <p:txBody>
                <a:bodyPr wrap="square">
                  <a:spAutoFit/>
                </a:bodyPr>
                <a:lstStyle/>
                <a:p>
                  <a:r>
                    <a:rPr lang="en-US" sz="36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rPr>
                    <a:t>01</a:t>
                  </a:r>
                  <a:endParaRPr lang="en-US" sz="36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endParaRPr>
                </a:p>
              </p:txBody>
            </p:sp>
            <p:grpSp>
              <p:nvGrpSpPr>
                <p:cNvPr id="33" name="Group 32"/>
                <p:cNvGrpSpPr/>
                <p:nvPr/>
              </p:nvGrpSpPr>
              <p:grpSpPr>
                <a:xfrm>
                  <a:off x="1338905" y="719644"/>
                  <a:ext cx="3748820" cy="1078705"/>
                  <a:chOff x="1338905" y="867660"/>
                  <a:chExt cx="3748820" cy="1078705"/>
                </a:xfrm>
              </p:grpSpPr>
              <p:sp>
                <p:nvSpPr>
                  <p:cNvPr id="26" name="Rectangle 25"/>
                  <p:cNvSpPr/>
                  <p:nvPr/>
                </p:nvSpPr>
                <p:spPr>
                  <a:xfrm>
                    <a:off x="1396016" y="867660"/>
                    <a:ext cx="2945737" cy="323312"/>
                  </a:xfrm>
                  <a:prstGeom prst="rect">
                    <a:avLst/>
                  </a:prstGeom>
                </p:spPr>
                <p:txBody>
                  <a:bodyPr wrap="square">
                    <a:spAutoFit/>
                  </a:bodyPr>
                  <a:lstStyle/>
                  <a:p>
                    <a:pPr algn="l">
                      <a:lnSpc>
                        <a:spcPct val="90000"/>
                      </a:lnSpc>
                      <a:buClrTx/>
                      <a:buSzTx/>
                      <a:buFontTx/>
                    </a:pPr>
                    <a:r>
                      <a:rPr lang="en-US" altLang="zh-CN" sz="1600" b="1" dirty="0">
                        <a:solidFill>
                          <a:srgbClr val="B71A2B"/>
                        </a:solidFill>
                        <a:latin typeface="Times New Roman Bold" panose="02020503050405090304" charset="0"/>
                        <a:ea typeface="微软雅黑 Light" panose="020B0502040204020203" charset="-122"/>
                        <a:cs typeface="Times New Roman Bold" panose="02020503050405090304" charset="0"/>
                        <a:sym typeface="+mn-ea"/>
                      </a:rPr>
                      <a:t>Ranscriptional Regulation</a:t>
                    </a:r>
                    <a:endParaRPr lang="en-US" altLang="zh-CN" sz="1600" b="1" dirty="0">
                      <a:solidFill>
                        <a:srgbClr val="B71A2B"/>
                      </a:solidFill>
                      <a:latin typeface="Times New Roman Bold" panose="02020503050405090304" charset="0"/>
                      <a:ea typeface="微软雅黑 Light" panose="020B0502040204020203" charset="-122"/>
                      <a:cs typeface="Times New Roman Bold" panose="02020503050405090304" charset="0"/>
                      <a:sym typeface="+mn-ea"/>
                    </a:endParaRPr>
                  </a:p>
                </p:txBody>
              </p:sp>
              <p:sp>
                <p:nvSpPr>
                  <p:cNvPr id="31" name="Rectangle 30"/>
                  <p:cNvSpPr/>
                  <p:nvPr/>
                </p:nvSpPr>
                <p:spPr>
                  <a:xfrm>
                    <a:off x="1338905" y="1151228"/>
                    <a:ext cx="3748820" cy="795137"/>
                  </a:xfrm>
                  <a:prstGeom prst="rect">
                    <a:avLst/>
                  </a:prstGeom>
                </p:spPr>
                <p:txBody>
                  <a:bodyPr wrap="square">
                    <a:spAutoFit/>
                  </a:bodyPr>
                  <a:lstStyle/>
                  <a:p>
                    <a:pPr algn="l">
                      <a:lnSpc>
                        <a:spcPct val="110000"/>
                      </a:lnSpc>
                    </a:pPr>
                    <a:r>
                      <a:rPr lang="en-US" altLang="zh-CN" sz="10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rPr>
                      <a:t>MIR100HG activated a group of key TFs (e.g. ZEB1, EBF1, FOXP2) across cancer types, and its target genes were significantly enriched in oncogenic pathways, such as EMT, immune, and stem cell, which showed a coexistence of common and cancer type-specific regulation patterns.</a:t>
                    </a:r>
                    <a:endParaRPr lang="en-US" altLang="zh-CN" sz="10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endParaRPr>
                  </a:p>
                </p:txBody>
              </p:sp>
            </p:grpSp>
          </p:grpSp>
        </p:grpSp>
        <p:grpSp>
          <p:nvGrpSpPr>
            <p:cNvPr id="5" name="Group 4"/>
            <p:cNvGrpSpPr/>
            <p:nvPr/>
          </p:nvGrpSpPr>
          <p:grpSpPr>
            <a:xfrm rot="0">
              <a:off x="676" y="3247"/>
              <a:ext cx="9379" cy="3675"/>
              <a:chOff x="609600" y="2388569"/>
              <a:chExt cx="4612317" cy="1910819"/>
            </a:xfrm>
          </p:grpSpPr>
          <p:sp>
            <p:nvSpPr>
              <p:cNvPr id="6" name="Rectangle 5"/>
              <p:cNvSpPr/>
              <p:nvPr/>
            </p:nvSpPr>
            <p:spPr>
              <a:xfrm>
                <a:off x="609600" y="2388569"/>
                <a:ext cx="4612317" cy="1910819"/>
              </a:xfrm>
              <a:prstGeom prst="rect">
                <a:avLst/>
              </a:prstGeom>
              <a:solidFill>
                <a:schemeClr val="bg1"/>
              </a:solidFill>
              <a:ln>
                <a:noFill/>
              </a:ln>
              <a:effectLst>
                <a:outerShdw blurRad="546100" dist="152400" dir="2700000" sx="97000" sy="97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Regular" panose="02020503050405090304" charset="0"/>
                  <a:cs typeface="Times New Roman Regular" panose="02020503050405090304" charset="0"/>
                </a:endParaRPr>
              </a:p>
            </p:txBody>
          </p:sp>
          <p:grpSp>
            <p:nvGrpSpPr>
              <p:cNvPr id="36" name="Group 35"/>
              <p:cNvGrpSpPr/>
              <p:nvPr/>
            </p:nvGrpSpPr>
            <p:grpSpPr>
              <a:xfrm>
                <a:off x="747920" y="2531337"/>
                <a:ext cx="4326418" cy="1621970"/>
                <a:chOff x="747920" y="544225"/>
                <a:chExt cx="4326418" cy="1621970"/>
              </a:xfrm>
            </p:grpSpPr>
            <p:sp>
              <p:nvSpPr>
                <p:cNvPr id="37" name="Rectangle 36"/>
                <p:cNvSpPr/>
                <p:nvPr/>
              </p:nvSpPr>
              <p:spPr>
                <a:xfrm>
                  <a:off x="747920" y="1088151"/>
                  <a:ext cx="694532" cy="602310"/>
                </a:xfrm>
                <a:prstGeom prst="rect">
                  <a:avLst/>
                </a:prstGeom>
              </p:spPr>
              <p:txBody>
                <a:bodyPr wrap="square">
                  <a:spAutoFit/>
                </a:bodyPr>
                <a:lstStyle/>
                <a:p>
                  <a:r>
                    <a:rPr lang="en-US" sz="36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rPr>
                    <a:t>02</a:t>
                  </a:r>
                  <a:endParaRPr lang="en-US" sz="36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endParaRPr>
                </a:p>
              </p:txBody>
            </p:sp>
            <p:grpSp>
              <p:nvGrpSpPr>
                <p:cNvPr id="38" name="Group 37"/>
                <p:cNvGrpSpPr/>
                <p:nvPr/>
              </p:nvGrpSpPr>
              <p:grpSpPr>
                <a:xfrm>
                  <a:off x="1352124" y="544225"/>
                  <a:ext cx="3722214" cy="1621970"/>
                  <a:chOff x="1352124" y="692241"/>
                  <a:chExt cx="3722214" cy="1621970"/>
                </a:xfrm>
              </p:grpSpPr>
              <p:sp>
                <p:nvSpPr>
                  <p:cNvPr id="39" name="Rectangle 38"/>
                  <p:cNvSpPr/>
                  <p:nvPr/>
                </p:nvSpPr>
                <p:spPr>
                  <a:xfrm>
                    <a:off x="1352124" y="692241"/>
                    <a:ext cx="2945737" cy="291670"/>
                  </a:xfrm>
                  <a:prstGeom prst="rect">
                    <a:avLst/>
                  </a:prstGeom>
                </p:spPr>
                <p:txBody>
                  <a:bodyPr wrap="square">
                    <a:spAutoFit/>
                  </a:bodyPr>
                  <a:lstStyle/>
                  <a:p>
                    <a:pPr algn="l">
                      <a:lnSpc>
                        <a:spcPct val="90000"/>
                      </a:lnSpc>
                      <a:buClrTx/>
                      <a:buSzTx/>
                      <a:buFontTx/>
                    </a:pPr>
                    <a:r>
                      <a:rPr lang="en-US" altLang="zh-CN" sz="1600" b="1" dirty="0">
                        <a:solidFill>
                          <a:srgbClr val="B71A2B"/>
                        </a:solidFill>
                        <a:latin typeface="Times New Roman Bold" panose="02020503050405090304" charset="0"/>
                        <a:ea typeface="微软雅黑 Light" panose="020B0502040204020203" charset="-122"/>
                        <a:cs typeface="Times New Roman Bold" panose="02020503050405090304" charset="0"/>
                        <a:sym typeface="+mn-ea"/>
                      </a:rPr>
                      <a:t>Methylation Level</a:t>
                    </a:r>
                    <a:endParaRPr lang="en-US" altLang="zh-CN" sz="1600" b="1" dirty="0">
                      <a:solidFill>
                        <a:srgbClr val="B71A2B"/>
                      </a:solidFill>
                      <a:latin typeface="Times New Roman Bold" panose="02020503050405090304" charset="0"/>
                      <a:ea typeface="微软雅黑 Light" panose="020B0502040204020203" charset="-122"/>
                      <a:cs typeface="Times New Roman Bold" panose="02020503050405090304" charset="0"/>
                      <a:sym typeface="+mn-ea"/>
                    </a:endParaRPr>
                  </a:p>
                </p:txBody>
              </p:sp>
              <p:sp>
                <p:nvSpPr>
                  <p:cNvPr id="40" name="Rectangle 39"/>
                  <p:cNvSpPr/>
                  <p:nvPr/>
                </p:nvSpPr>
                <p:spPr>
                  <a:xfrm>
                    <a:off x="1365034" y="948342"/>
                    <a:ext cx="3709304" cy="1365869"/>
                  </a:xfrm>
                  <a:prstGeom prst="rect">
                    <a:avLst/>
                  </a:prstGeom>
                </p:spPr>
                <p:txBody>
                  <a:bodyPr wrap="square">
                    <a:noAutofit/>
                  </a:bodyPr>
                  <a:lstStyle/>
                  <a:p>
                    <a:pPr algn="l">
                      <a:lnSpc>
                        <a:spcPct val="110000"/>
                      </a:lnSpc>
                      <a:buClrTx/>
                      <a:buSzTx/>
                      <a:buFontTx/>
                    </a:pPr>
                    <a:r>
                      <a:rPr lang="en-US" altLang="zh-CN" sz="1000" dirty="0">
                        <a:solidFill>
                          <a:schemeClr val="tx1">
                            <a:lumMod val="75000"/>
                            <a:lumOff val="25000"/>
                          </a:schemeClr>
                        </a:solidFill>
                        <a:latin typeface="Times New Roman" panose="02020503050405090304" charset="0"/>
                        <a:ea typeface="微软雅黑 Light" panose="020B0502040204020203" charset="-122"/>
                        <a:cs typeface="Times New Roman" panose="02020503050405090304" charset="0"/>
                      </a:rPr>
                      <a:t>there was significant promoter demethylation in the MIR100HG high-expression group, which was consistent with gene up-regulation, validating the ‘demethylation-activation’ model; meanwhile, the relationship between its own expression and methylation level varied among different cancer types, reflecting that it was regulated by multiple epistemic mechanisms. Meanwhile, the relationship between its own expression and methylation level varied in different cancer types, reflecting that it was regulated by multiple epigenetic mechanisms.</a:t>
                    </a:r>
                    <a:endParaRPr lang="en-US" altLang="zh-CN" sz="1000" dirty="0">
                      <a:solidFill>
                        <a:schemeClr val="tx1">
                          <a:lumMod val="75000"/>
                          <a:lumOff val="25000"/>
                        </a:schemeClr>
                      </a:solidFill>
                      <a:latin typeface="Times New Roman" panose="02020503050405090304" charset="0"/>
                      <a:ea typeface="微软雅黑 Light" panose="020B0502040204020203" charset="-122"/>
                      <a:cs typeface="Times New Roman" panose="02020503050405090304" charset="0"/>
                    </a:endParaRPr>
                  </a:p>
                </p:txBody>
              </p:sp>
            </p:grpSp>
          </p:grpSp>
        </p:grpSp>
        <p:grpSp>
          <p:nvGrpSpPr>
            <p:cNvPr id="10" name="Group 9"/>
            <p:cNvGrpSpPr/>
            <p:nvPr/>
          </p:nvGrpSpPr>
          <p:grpSpPr>
            <a:xfrm rot="0">
              <a:off x="677" y="7174"/>
              <a:ext cx="9488" cy="3306"/>
              <a:chOff x="609599" y="4545724"/>
              <a:chExt cx="4631204" cy="1740776"/>
            </a:xfrm>
          </p:grpSpPr>
          <p:sp>
            <p:nvSpPr>
              <p:cNvPr id="7" name="Rectangle 6"/>
              <p:cNvSpPr/>
              <p:nvPr/>
            </p:nvSpPr>
            <p:spPr>
              <a:xfrm>
                <a:off x="609599" y="4545724"/>
                <a:ext cx="4603531" cy="1740776"/>
              </a:xfrm>
              <a:prstGeom prst="rect">
                <a:avLst/>
              </a:prstGeom>
              <a:solidFill>
                <a:schemeClr val="bg1"/>
              </a:solidFill>
              <a:ln>
                <a:noFill/>
              </a:ln>
              <a:effectLst>
                <a:outerShdw blurRad="546100" dist="152400" dir="2700000" sx="97000" sy="97000" algn="tl"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Times New Roman Regular" panose="02020503050405090304" charset="0"/>
                  <a:cs typeface="Times New Roman Regular" panose="02020503050405090304" charset="0"/>
                </a:endParaRPr>
              </a:p>
            </p:txBody>
          </p:sp>
          <p:grpSp>
            <p:nvGrpSpPr>
              <p:cNvPr id="41" name="Group 40"/>
              <p:cNvGrpSpPr/>
              <p:nvPr/>
            </p:nvGrpSpPr>
            <p:grpSpPr>
              <a:xfrm>
                <a:off x="756706" y="4753753"/>
                <a:ext cx="4484097" cy="1385097"/>
                <a:chOff x="756706" y="779529"/>
                <a:chExt cx="4484097" cy="1385097"/>
              </a:xfrm>
            </p:grpSpPr>
            <p:sp>
              <p:nvSpPr>
                <p:cNvPr id="42" name="Rectangle 41"/>
                <p:cNvSpPr/>
                <p:nvPr/>
              </p:nvSpPr>
              <p:spPr>
                <a:xfrm>
                  <a:off x="756706" y="1088151"/>
                  <a:ext cx="754077" cy="609956"/>
                </a:xfrm>
                <a:prstGeom prst="rect">
                  <a:avLst/>
                </a:prstGeom>
              </p:spPr>
              <p:txBody>
                <a:bodyPr wrap="square">
                  <a:spAutoFit/>
                </a:bodyPr>
                <a:lstStyle/>
                <a:p>
                  <a:r>
                    <a:rPr lang="en-US" sz="36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rPr>
                    <a:t>03</a:t>
                  </a:r>
                  <a:endParaRPr lang="en-US" sz="3600" b="1" spc="100" dirty="0">
                    <a:solidFill>
                      <a:srgbClr val="AE192C"/>
                    </a:solidFill>
                    <a:latin typeface="Times New Roman Regular" panose="02020503050405090304" charset="0"/>
                    <a:ea typeface="Open Sans Light" panose="020B0306030504020204" pitchFamily="34" charset="0"/>
                    <a:cs typeface="Times New Roman Regular" panose="02020503050405090304" charset="0"/>
                  </a:endParaRPr>
                </a:p>
              </p:txBody>
            </p:sp>
            <p:grpSp>
              <p:nvGrpSpPr>
                <p:cNvPr id="43" name="Group 42"/>
                <p:cNvGrpSpPr/>
                <p:nvPr/>
              </p:nvGrpSpPr>
              <p:grpSpPr>
                <a:xfrm>
                  <a:off x="1285925" y="779529"/>
                  <a:ext cx="3954878" cy="1385097"/>
                  <a:chOff x="1285925" y="927545"/>
                  <a:chExt cx="3954878" cy="1385097"/>
                </a:xfrm>
              </p:grpSpPr>
              <p:sp>
                <p:nvSpPr>
                  <p:cNvPr id="44" name="Rectangle 43"/>
                  <p:cNvSpPr/>
                  <p:nvPr/>
                </p:nvSpPr>
                <p:spPr>
                  <a:xfrm>
                    <a:off x="1358641" y="927545"/>
                    <a:ext cx="3283187" cy="295372"/>
                  </a:xfrm>
                  <a:prstGeom prst="rect">
                    <a:avLst/>
                  </a:prstGeom>
                </p:spPr>
                <p:txBody>
                  <a:bodyPr wrap="square">
                    <a:spAutoFit/>
                  </a:bodyPr>
                  <a:lstStyle/>
                  <a:p>
                    <a:pPr>
                      <a:lnSpc>
                        <a:spcPct val="90000"/>
                      </a:lnSpc>
                    </a:pPr>
                    <a:r>
                      <a:rPr lang="en-US" altLang="zh-CN" sz="1600" b="1" dirty="0">
                        <a:solidFill>
                          <a:srgbClr val="AE192C"/>
                        </a:solidFill>
                        <a:latin typeface="Times New Roman Bold" panose="02020503050405090304" charset="0"/>
                        <a:ea typeface="OPPOSans H" panose="00020600040101010101" charset="-122"/>
                        <a:cs typeface="Times New Roman Bold" panose="02020503050405090304" charset="0"/>
                      </a:rPr>
                      <a:t>Pathway Level</a:t>
                    </a:r>
                    <a:endParaRPr lang="en-US" altLang="zh-CN" sz="1600" b="1" dirty="0">
                      <a:solidFill>
                        <a:srgbClr val="AE192C"/>
                      </a:solidFill>
                      <a:latin typeface="Times New Roman Bold" panose="02020503050405090304" charset="0"/>
                      <a:ea typeface="OPPOSans H" panose="00020600040101010101" charset="-122"/>
                      <a:cs typeface="Times New Roman Bold" panose="02020503050405090304" charset="0"/>
                    </a:endParaRPr>
                  </a:p>
                </p:txBody>
              </p:sp>
              <p:sp>
                <p:nvSpPr>
                  <p:cNvPr id="45" name="Rectangle 44"/>
                  <p:cNvSpPr/>
                  <p:nvPr/>
                </p:nvSpPr>
                <p:spPr>
                  <a:xfrm>
                    <a:off x="1285925" y="1173929"/>
                    <a:ext cx="3954878" cy="1138713"/>
                  </a:xfrm>
                  <a:prstGeom prst="rect">
                    <a:avLst/>
                  </a:prstGeom>
                </p:spPr>
                <p:txBody>
                  <a:bodyPr wrap="square">
                    <a:noAutofit/>
                  </a:bodyPr>
                  <a:lstStyle/>
                  <a:p>
                    <a:pPr algn="l">
                      <a:lnSpc>
                        <a:spcPct val="110000"/>
                      </a:lnSpc>
                      <a:buClrTx/>
                      <a:buSzTx/>
                      <a:buFontTx/>
                    </a:pPr>
                    <a:r>
                      <a:rPr lang="en-US" altLang="zh-CN" sz="1000" dirty="0">
                        <a:solidFill>
                          <a:schemeClr val="tx1">
                            <a:lumMod val="75000"/>
                            <a:lumOff val="25000"/>
                          </a:schemeClr>
                        </a:solidFill>
                        <a:latin typeface="Times New Roman" panose="02020503050405090304" charset="0"/>
                        <a:ea typeface="微软雅黑 Light" panose="020B0502040204020203" charset="-122"/>
                        <a:cs typeface="Times New Roman" panose="02020503050405090304" charset="0"/>
                      </a:rPr>
                      <a:t>MIR100HG affects the activity of several core cancer pathways, especially in PAAD and STAD, which are widely activated, while PRAD, LUAD and SKCM are more inclined to be functionally silenced, suggesting that MIR100HG may indirectly shape the downstream pathway response through the ‘regulation of TF network’. suggesting that MIR100HG may indirectly shape downstream pathway responses by ‘regulating the TF network’.</a:t>
                    </a:r>
                    <a:endParaRPr lang="en-US" altLang="zh-CN" sz="1000" dirty="0">
                      <a:solidFill>
                        <a:schemeClr val="tx1">
                          <a:lumMod val="75000"/>
                          <a:lumOff val="25000"/>
                        </a:schemeClr>
                      </a:solidFill>
                      <a:latin typeface="Times New Roman" panose="02020503050405090304" charset="0"/>
                      <a:ea typeface="微软雅黑 Light" panose="020B0502040204020203" charset="-122"/>
                      <a:cs typeface="Times New Roman" panose="02020503050405090304" charset="0"/>
                    </a:endParaRPr>
                  </a:p>
                </p:txBody>
              </p:sp>
            </p:grpSp>
          </p:grpSp>
        </p:grpSp>
      </p:grpSp>
      <p:grpSp>
        <p:nvGrpSpPr>
          <p:cNvPr id="11" name="组合 10"/>
          <p:cNvGrpSpPr/>
          <p:nvPr/>
        </p:nvGrpSpPr>
        <p:grpSpPr>
          <a:xfrm>
            <a:off x="6776720" y="1038860"/>
            <a:ext cx="5049224" cy="1920825"/>
            <a:chOff x="10378" y="2386"/>
            <a:chExt cx="7093" cy="3677"/>
          </a:xfrm>
        </p:grpSpPr>
        <p:sp>
          <p:nvSpPr>
            <p:cNvPr id="12" name="TextBox 34"/>
            <p:cNvSpPr txBox="1"/>
            <p:nvPr>
              <p:custDataLst>
                <p:tags r:id="rId1"/>
              </p:custDataLst>
            </p:nvPr>
          </p:nvSpPr>
          <p:spPr>
            <a:xfrm>
              <a:off x="10378" y="2386"/>
              <a:ext cx="7093" cy="2153"/>
            </a:xfrm>
            <a:prstGeom prst="rect">
              <a:avLst/>
            </a:prstGeom>
            <a:noFill/>
          </p:spPr>
          <p:txBody>
            <a:bodyPr wrap="square" rtlCol="0">
              <a:spAutoFit/>
            </a:bodyPr>
            <a:p>
              <a:pPr>
                <a:lnSpc>
                  <a:spcPct val="120000"/>
                </a:lnSpc>
              </a:pPr>
              <a:r>
                <a:rPr lang="en-US" altLang="zh-CN" sz="3600" dirty="0">
                  <a:solidFill>
                    <a:srgbClr val="AE192C"/>
                  </a:solidFill>
                  <a:latin typeface="Times New Roman Regular" panose="02020503050405090304" charset="0"/>
                  <a:ea typeface="OPPOSans H" panose="00020600040101010101" charset="-122"/>
                  <a:cs typeface="Times New Roman Regular" panose="02020503050405090304" charset="0"/>
                </a:rPr>
                <a:t>MIR100HG Mechanisms</a:t>
              </a:r>
              <a:endParaRPr lang="en-US" altLang="zh-CN" sz="4400" dirty="0">
                <a:solidFill>
                  <a:srgbClr val="AE192C"/>
                </a:solidFill>
                <a:latin typeface="Times New Roman Regular" panose="02020503050405090304" charset="0"/>
                <a:ea typeface="OPPOSans H" panose="00020600040101010101" charset="-122"/>
                <a:cs typeface="Times New Roman Regular" panose="02020503050405090304" charset="0"/>
              </a:endParaRPr>
            </a:p>
            <a:p>
              <a:pPr>
                <a:lnSpc>
                  <a:spcPct val="120000"/>
                </a:lnSpc>
              </a:pPr>
              <a:r>
                <a:rPr lang="en-US" altLang="zh-CN" sz="2000" dirty="0">
                  <a:solidFill>
                    <a:srgbClr val="AE192C"/>
                  </a:solidFill>
                  <a:latin typeface="Times New Roman Regular" panose="02020503050405090304" charset="0"/>
                  <a:ea typeface="微软雅黑 Light" panose="020B0502040204020203" charset="-122"/>
                  <a:cs typeface="Times New Roman Regular" panose="02020503050405090304" charset="0"/>
                </a:rPr>
                <a:t>Spotlight on the MIR100HG</a:t>
              </a:r>
              <a:endParaRPr lang="en-US" altLang="zh-CN" sz="2000" dirty="0">
                <a:solidFill>
                  <a:srgbClr val="AE192C"/>
                </a:solidFill>
                <a:latin typeface="Times New Roman Regular" panose="02020503050405090304" charset="0"/>
                <a:ea typeface="微软雅黑 Light" panose="020B0502040204020203" charset="-122"/>
                <a:cs typeface="Times New Roman Regular" panose="02020503050405090304" charset="0"/>
              </a:endParaRPr>
            </a:p>
          </p:txBody>
        </p:sp>
        <p:sp>
          <p:nvSpPr>
            <p:cNvPr id="135" name="TextBox 134"/>
            <p:cNvSpPr txBox="1"/>
            <p:nvPr>
              <p:custDataLst>
                <p:tags r:id="rId2"/>
              </p:custDataLst>
            </p:nvPr>
          </p:nvSpPr>
          <p:spPr>
            <a:xfrm>
              <a:off x="10428" y="4823"/>
              <a:ext cx="6652" cy="1240"/>
            </a:xfrm>
            <a:prstGeom prst="rect">
              <a:avLst/>
            </a:prstGeom>
            <a:noFill/>
          </p:spPr>
          <p:txBody>
            <a:bodyPr wrap="square" rtlCol="0">
              <a:noAutofit/>
            </a:bodyPr>
            <a:p>
              <a:pPr>
                <a:lnSpc>
                  <a:spcPct val="130000"/>
                </a:lnSpc>
              </a:pPr>
              <a:r>
                <a:rPr lang="en-US" altLang="zh-CN" sz="1200" dirty="0">
                  <a:solidFill>
                    <a:srgbClr val="AE192C"/>
                  </a:solidFill>
                  <a:latin typeface="Times New Roman Regular" panose="02020503050405090304" charset="0"/>
                  <a:ea typeface="OPPOSans H" panose="00020600040101010101" charset="-122"/>
                  <a:cs typeface="Times New Roman Regular" panose="02020503050405090304" charset="0"/>
                </a:rPr>
                <a:t>The results showed that high expression of MIR100HG was significantly associated with a wide range of altered molecular features.</a:t>
              </a:r>
              <a:endParaRPr lang="en-US" altLang="zh-CN" sz="1200" dirty="0">
                <a:solidFill>
                  <a:srgbClr val="AE192C"/>
                </a:solidFill>
                <a:latin typeface="Times New Roman Regular" panose="02020503050405090304" charset="0"/>
                <a:ea typeface="OPPOSans H" panose="00020600040101010101" charset="-122"/>
                <a:cs typeface="Times New Roman Regular" panose="02020503050405090304" charset="0"/>
              </a:endParaRPr>
            </a:p>
          </p:txBody>
        </p:sp>
      </p:grpSp>
      <p:sp>
        <p:nvSpPr>
          <p:cNvPr id="260" name="Rectangle 73"/>
          <p:cNvSpPr/>
          <p:nvPr>
            <p:custDataLst>
              <p:tags r:id="rId3"/>
            </p:custDataLst>
          </p:nvPr>
        </p:nvSpPr>
        <p:spPr>
          <a:xfrm>
            <a:off x="8520430" y="5173980"/>
            <a:ext cx="1931670" cy="312420"/>
          </a:xfrm>
          <a:prstGeom prst="rect">
            <a:avLst/>
          </a:prstGeom>
          <a:ln>
            <a:noFill/>
          </a:ln>
        </p:spPr>
        <p:txBody>
          <a:bodyPr wrap="none">
            <a:spAutoFit/>
          </a:bodyPr>
          <a:p>
            <a:pPr algn="l">
              <a:lnSpc>
                <a:spcPct val="120000"/>
              </a:lnSpc>
            </a:pPr>
            <a:r>
              <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sym typeface="+mn-ea"/>
              </a:rPr>
              <a:t>Spotlight on the MIR100HG</a:t>
            </a:r>
            <a:endParaRPr lang="en-US" altLang="zh-CN" sz="1200" dirty="0">
              <a:solidFill>
                <a:schemeClr val="tx1">
                  <a:lumMod val="75000"/>
                  <a:lumOff val="25000"/>
                </a:schemeClr>
              </a:solidFill>
              <a:latin typeface="Times New Roman Regular" panose="02020503050405090304" charset="0"/>
              <a:ea typeface="微软雅黑 Light" panose="020B0502040204020203" charset="-122"/>
              <a:cs typeface="Times New Roman Regular" panose="02020503050405090304" charset="0"/>
              <a:sym typeface="+mn-ea"/>
            </a:endParaRPr>
          </a:p>
        </p:txBody>
      </p:sp>
      <p:sp>
        <p:nvSpPr>
          <p:cNvPr id="61" name="矩形: 对角圆角 60"/>
          <p:cNvSpPr/>
          <p:nvPr userDrawn="1"/>
        </p:nvSpPr>
        <p:spPr>
          <a:xfrm>
            <a:off x="6845935" y="5173980"/>
            <a:ext cx="1552575" cy="313055"/>
          </a:xfrm>
          <a:prstGeom prst="round2DiagRect">
            <a:avLst>
              <a:gd name="adj1" fmla="val 33096"/>
              <a:gd name="adj2" fmla="val 5000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a:latin typeface="Times New Roman Regular" panose="02020503050405090304" charset="0"/>
                <a:cs typeface="Times New Roman Regular" panose="02020503050405090304" charset="0"/>
              </a:rPr>
              <a:t>Group M-28</a:t>
            </a:r>
            <a:endParaRPr lang="en-US" altLang="zh-CN" sz="1400">
              <a:latin typeface="Times New Roman Regular" panose="02020503050405090304" charset="0"/>
              <a:cs typeface="Times New Roman Regular" panose="020205030504050903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3"/>
          <p:cNvSpPr/>
          <p:nvPr userDrawn="1"/>
        </p:nvSpPr>
        <p:spPr>
          <a:xfrm flipV="1">
            <a:off x="2170803" y="709685"/>
            <a:ext cx="9743364" cy="45719"/>
          </a:xfrm>
          <a:prstGeom prst="roundRect">
            <a:avLst/>
          </a:prstGeom>
          <a:solidFill>
            <a:srgbClr val="AF1E2F"/>
          </a:solidFill>
          <a:ln>
            <a:solidFill>
              <a:srgbClr val="AF1E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2328C"/>
              </a:solidFill>
              <a:latin typeface="Times New Roman Regular" panose="02020503050405090304" charset="0"/>
              <a:ea typeface="等线" panose="02010600030101010101" charset="-122"/>
              <a:cs typeface="Times New Roman Regular" panose="02020503050405090304" charset="0"/>
            </a:endParaRPr>
          </a:p>
        </p:txBody>
      </p:sp>
      <p:sp>
        <p:nvSpPr>
          <p:cNvPr id="20" name="矩形: 对角圆角 19"/>
          <p:cNvSpPr/>
          <p:nvPr userDrawn="1"/>
        </p:nvSpPr>
        <p:spPr>
          <a:xfrm>
            <a:off x="301059" y="259551"/>
            <a:ext cx="1801505" cy="359073"/>
          </a:xfrm>
          <a:prstGeom prst="round2DiagRect">
            <a:avLst>
              <a:gd name="adj1" fmla="val 33096"/>
              <a:gd name="adj2" fmla="val 0"/>
            </a:avLst>
          </a:prstGeom>
          <a:solidFill>
            <a:srgbClr val="AF1E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latin typeface="Times New Roman Regular" panose="02020503050405090304" charset="0"/>
                <a:cs typeface="Times New Roman Regular" panose="02020503050405090304" charset="0"/>
                <a:sym typeface="+mn-ea"/>
              </a:rPr>
              <a:t>Group M-28</a:t>
            </a:r>
            <a:endParaRPr lang="en-US" altLang="zh-CN" b="1">
              <a:solidFill>
                <a:srgbClr val="FFFFFF"/>
              </a:solidFill>
              <a:latin typeface="Times New Roman Regular" panose="02020503050405090304" charset="0"/>
              <a:ea typeface="等线" panose="02010600030101010101" charset="-122"/>
              <a:cs typeface="Times New Roman Regular" panose="02020503050405090304" charset="0"/>
              <a:sym typeface="+mn-ea"/>
            </a:endParaRPr>
          </a:p>
        </p:txBody>
      </p:sp>
      <p:sp>
        <p:nvSpPr>
          <p:cNvPr id="22" name="Venn diagram"/>
          <p:cNvSpPr txBox="1"/>
          <p:nvPr userDrawn="1"/>
        </p:nvSpPr>
        <p:spPr>
          <a:xfrm>
            <a:off x="2292350" y="259715"/>
            <a:ext cx="6139180" cy="35814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r>
              <a:rPr lang="en-US" sz="2000" b="1" dirty="0">
                <a:solidFill>
                  <a:srgbClr val="AF1E2F"/>
                </a:solidFill>
                <a:latin typeface="Times New Roman Regular" panose="02020503050405090304" charset="0"/>
                <a:ea typeface="MiSans" panose="00000800000000000000" pitchFamily="2" charset="-122"/>
                <a:cs typeface="Times New Roman Regular" panose="02020503050405090304" charset="0"/>
              </a:rPr>
              <a:t>Task2: N</a:t>
            </a:r>
            <a:r>
              <a:rPr lang="en-US" altLang="zh-CN" sz="2000" b="1" dirty="0">
                <a:solidFill>
                  <a:srgbClr val="AF1E2F"/>
                </a:solidFill>
                <a:latin typeface="Times New Roman Regular" panose="02020503050405090304" charset="0"/>
                <a:ea typeface="MiSans" panose="00000800000000000000" pitchFamily="2" charset="-122"/>
                <a:cs typeface="Times New Roman Regular" panose="02020503050405090304" charset="0"/>
              </a:rPr>
              <a:t>ormal Tissue Analysis Conclusion</a:t>
            </a:r>
            <a:endParaRPr lang="en-US" altLang="zh-CN" sz="2000" b="1" dirty="0">
              <a:solidFill>
                <a:srgbClr val="AF1E2F"/>
              </a:solidFill>
              <a:latin typeface="Times New Roman Regular" panose="02020503050405090304" charset="0"/>
              <a:ea typeface="MiSans" panose="00000800000000000000" pitchFamily="2" charset="-122"/>
              <a:cs typeface="Times New Roman Regular" panose="02020503050405090304" charset="0"/>
            </a:endParaRPr>
          </a:p>
        </p:txBody>
      </p:sp>
      <p:pic>
        <p:nvPicPr>
          <p:cNvPr id="86" name="图片 85" descr="1fb514cb1a5e54e89daecde6a77344a3"/>
          <p:cNvPicPr>
            <a:picLocks noChangeAspect="1"/>
          </p:cNvPicPr>
          <p:nvPr/>
        </p:nvPicPr>
        <p:blipFill>
          <a:blip r:embed="rId1"/>
          <a:stretch>
            <a:fillRect/>
          </a:stretch>
        </p:blipFill>
        <p:spPr>
          <a:xfrm>
            <a:off x="10278745" y="144780"/>
            <a:ext cx="1635125" cy="473710"/>
          </a:xfrm>
          <a:prstGeom prst="rect">
            <a:avLst/>
          </a:prstGeom>
        </p:spPr>
      </p:pic>
      <p:sp>
        <p:nvSpPr>
          <p:cNvPr id="13" name="矩形: 圆角 12"/>
          <p:cNvSpPr/>
          <p:nvPr userDrawn="1"/>
        </p:nvSpPr>
        <p:spPr>
          <a:xfrm flipV="1">
            <a:off x="300990" y="709930"/>
            <a:ext cx="1801495" cy="45720"/>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Regular" panose="02020503050405090304" charset="0"/>
              <a:cs typeface="Times New Roman Regular" panose="02020503050405090304" charset="0"/>
            </a:endParaRPr>
          </a:p>
        </p:txBody>
      </p:sp>
      <p:sp>
        <p:nvSpPr>
          <p:cNvPr id="17" name="圆角矩形 16"/>
          <p:cNvSpPr/>
          <p:nvPr/>
        </p:nvSpPr>
        <p:spPr>
          <a:xfrm>
            <a:off x="2348865" y="5038090"/>
            <a:ext cx="1017270" cy="1370965"/>
          </a:xfrm>
          <a:prstGeom prst="roundRect">
            <a:avLst/>
          </a:prstGeom>
          <a:solidFill>
            <a:srgbClr val="AF1E2F"/>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b="1">
                <a:latin typeface="Times New Roman Bold" panose="02020503050405090304" charset="0"/>
                <a:cs typeface="Times New Roman Bold" panose="02020503050405090304" charset="0"/>
              </a:rPr>
              <a:t>Pathway</a:t>
            </a:r>
            <a:endParaRPr lang="en-US" altLang="zh-CN" sz="1400" b="1">
              <a:latin typeface="Times New Roman Bold" panose="02020503050405090304" charset="0"/>
              <a:cs typeface="Times New Roman Bold" panose="02020503050405090304" charset="0"/>
            </a:endParaRPr>
          </a:p>
          <a:p>
            <a:pPr algn="ctr"/>
            <a:r>
              <a:rPr lang="en-US" altLang="zh-CN" sz="1400" b="1">
                <a:latin typeface="Times New Roman Bold" panose="02020503050405090304" charset="0"/>
                <a:cs typeface="Times New Roman Bold" panose="02020503050405090304" charset="0"/>
              </a:rPr>
              <a:t>activation</a:t>
            </a:r>
            <a:endParaRPr lang="en-US" altLang="zh-CN" sz="1400" b="1">
              <a:latin typeface="Times New Roman Bold" panose="02020503050405090304" charset="0"/>
              <a:cs typeface="Times New Roman Bold" panose="02020503050405090304" charset="0"/>
            </a:endParaRPr>
          </a:p>
        </p:txBody>
      </p:sp>
      <p:sp>
        <p:nvSpPr>
          <p:cNvPr id="18" name="圆角矩形 17"/>
          <p:cNvSpPr/>
          <p:nvPr/>
        </p:nvSpPr>
        <p:spPr>
          <a:xfrm>
            <a:off x="2348865" y="3123565"/>
            <a:ext cx="1017270" cy="1370965"/>
          </a:xfrm>
          <a:prstGeom prst="roundRect">
            <a:avLst/>
          </a:prstGeom>
          <a:solidFill>
            <a:srgbClr val="AF1E2F"/>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b="1">
                <a:latin typeface="Times New Roman Bold" panose="02020503050405090304" charset="0"/>
                <a:cs typeface="Times New Roman Bold" panose="02020503050405090304" charset="0"/>
              </a:rPr>
              <a:t>DNA Methylation</a:t>
            </a:r>
            <a:endParaRPr lang="en-US" altLang="zh-CN" sz="1400" b="1">
              <a:latin typeface="Times New Roman Bold" panose="02020503050405090304" charset="0"/>
              <a:cs typeface="Times New Roman Bold" panose="02020503050405090304" charset="0"/>
            </a:endParaRPr>
          </a:p>
        </p:txBody>
      </p:sp>
      <p:sp>
        <p:nvSpPr>
          <p:cNvPr id="19" name="圆角矩形 18"/>
          <p:cNvSpPr/>
          <p:nvPr/>
        </p:nvSpPr>
        <p:spPr>
          <a:xfrm>
            <a:off x="2334895" y="1210310"/>
            <a:ext cx="1017270" cy="1370965"/>
          </a:xfrm>
          <a:prstGeom prst="roundRect">
            <a:avLst/>
          </a:prstGeom>
          <a:solidFill>
            <a:srgbClr val="AF1E2F"/>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400" b="1">
                <a:latin typeface="Times New Roman Bold" panose="02020503050405090304" charset="0"/>
                <a:cs typeface="Times New Roman Bold" panose="02020503050405090304" charset="0"/>
              </a:rPr>
              <a:t>TF Regulation</a:t>
            </a:r>
            <a:endParaRPr lang="en-US" altLang="zh-CN" sz="1400" b="1">
              <a:latin typeface="Times New Roman Bold" panose="02020503050405090304" charset="0"/>
              <a:cs typeface="Times New Roman Bold" panose="02020503050405090304" charset="0"/>
            </a:endParaRPr>
          </a:p>
        </p:txBody>
      </p:sp>
      <p:grpSp>
        <p:nvGrpSpPr>
          <p:cNvPr id="2" name="组合 1"/>
          <p:cNvGrpSpPr/>
          <p:nvPr/>
        </p:nvGrpSpPr>
        <p:grpSpPr>
          <a:xfrm>
            <a:off x="3492500" y="996950"/>
            <a:ext cx="8186420" cy="5412105"/>
            <a:chOff x="6219" y="1569"/>
            <a:chExt cx="12384" cy="8523"/>
          </a:xfrm>
        </p:grpSpPr>
        <p:sp>
          <p:nvSpPr>
            <p:cNvPr id="27" name="流程图: 可选过程 26"/>
            <p:cNvSpPr/>
            <p:nvPr/>
          </p:nvSpPr>
          <p:spPr>
            <a:xfrm>
              <a:off x="7159" y="1951"/>
              <a:ext cx="3086" cy="1766"/>
            </a:xfrm>
            <a:prstGeom prst="flowChartAlternateProcess">
              <a:avLst/>
            </a:prstGeom>
            <a:solidFill>
              <a:schemeClr val="bg1"/>
            </a:solidFill>
            <a:ln>
              <a:noFill/>
            </a:ln>
            <a:effectLst>
              <a:outerShdw blurRad="50800" dist="38100" dir="2700000" algn="tl" rotWithShape="0">
                <a:schemeClr val="tx1">
                  <a:lumMod val="50000"/>
                  <a:lumOff val="50000"/>
                  <a:alpha val="5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rgbClr val="AF1E2F"/>
                  </a:solidFill>
                  <a:latin typeface="Times New Roman Regular" panose="02020503050405090304" charset="0"/>
                  <a:cs typeface="Times New Roman Regular" panose="02020503050405090304" charset="0"/>
                </a:rPr>
                <a:t>TF Activated</a:t>
              </a:r>
              <a:endParaRPr lang="en-US" altLang="zh-CN" sz="1600">
                <a:solidFill>
                  <a:srgbClr val="AF1E2F"/>
                </a:solidFill>
                <a:latin typeface="Times New Roman Regular" panose="02020503050405090304" charset="0"/>
                <a:cs typeface="Times New Roman Regular" panose="02020503050405090304" charset="0"/>
              </a:endParaRPr>
            </a:p>
            <a:p>
              <a:pPr algn="ctr"/>
              <a:r>
                <a:rPr lang="en-US" altLang="zh-CN" sz="1600">
                  <a:solidFill>
                    <a:srgbClr val="AF1E2F"/>
                  </a:solidFill>
                  <a:latin typeface="Times New Roman Regular" panose="02020503050405090304" charset="0"/>
                  <a:cs typeface="Times New Roman Regular" panose="02020503050405090304" charset="0"/>
                </a:rPr>
                <a:t>ZEB1EBF1 FOXP2</a:t>
              </a:r>
              <a:endParaRPr lang="en-US" altLang="zh-CN" sz="1600">
                <a:solidFill>
                  <a:srgbClr val="AF1E2F"/>
                </a:solidFill>
                <a:latin typeface="Times New Roman Regular" panose="02020503050405090304" charset="0"/>
                <a:cs typeface="Times New Roman Regular" panose="02020503050405090304" charset="0"/>
              </a:endParaRPr>
            </a:p>
          </p:txBody>
        </p:sp>
        <p:sp>
          <p:nvSpPr>
            <p:cNvPr id="28" name="流程图: 可选过程 27"/>
            <p:cNvSpPr/>
            <p:nvPr/>
          </p:nvSpPr>
          <p:spPr>
            <a:xfrm>
              <a:off x="11200" y="1905"/>
              <a:ext cx="1871" cy="1766"/>
            </a:xfrm>
            <a:prstGeom prst="flowChartAlternateProcess">
              <a:avLst/>
            </a:prstGeom>
            <a:solidFill>
              <a:schemeClr val="bg1"/>
            </a:solidFill>
            <a:ln>
              <a:noFill/>
            </a:ln>
            <a:effectLst>
              <a:outerShdw blurRad="50800" dist="38100" dir="2700000" algn="tl" rotWithShape="0">
                <a:schemeClr val="tx1">
                  <a:lumMod val="50000"/>
                  <a:lumOff val="50000"/>
                  <a:alpha val="5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rgbClr val="AF1E2F"/>
                  </a:solidFill>
                  <a:latin typeface="Times New Roman Regular" panose="02020503050405090304" charset="0"/>
                  <a:cs typeface="Times New Roman Regular" panose="02020503050405090304" charset="0"/>
                </a:rPr>
                <a:t>Target Gene Up-regulation</a:t>
              </a:r>
              <a:endParaRPr lang="en-US" altLang="zh-CN" sz="1600">
                <a:solidFill>
                  <a:srgbClr val="AF1E2F"/>
                </a:solidFill>
                <a:latin typeface="Times New Roman Regular" panose="02020503050405090304" charset="0"/>
                <a:cs typeface="Times New Roman Regular" panose="02020503050405090304" charset="0"/>
              </a:endParaRPr>
            </a:p>
          </p:txBody>
        </p:sp>
        <p:sp>
          <p:nvSpPr>
            <p:cNvPr id="29" name="流程图: 可选过程 28"/>
            <p:cNvSpPr/>
            <p:nvPr/>
          </p:nvSpPr>
          <p:spPr>
            <a:xfrm>
              <a:off x="14221" y="1569"/>
              <a:ext cx="4382" cy="2236"/>
            </a:xfrm>
            <a:prstGeom prst="flowChartAlternateProcess">
              <a:avLst/>
            </a:prstGeom>
            <a:solidFill>
              <a:schemeClr val="bg1"/>
            </a:solidFill>
            <a:ln>
              <a:noFill/>
            </a:ln>
            <a:effectLst>
              <a:outerShdw blurRad="50800" dist="38100" dir="2700000" algn="tl" rotWithShape="0">
                <a:schemeClr val="tx1">
                  <a:lumMod val="50000"/>
                  <a:lumOff val="50000"/>
                  <a:alpha val="5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None/>
              </a:pPr>
              <a:r>
                <a:rPr lang="en-US" altLang="zh-CN" sz="1600">
                  <a:solidFill>
                    <a:srgbClr val="AF1E2F"/>
                  </a:solidFill>
                  <a:latin typeface="Times New Roman Regular" panose="02020503050405090304" charset="0"/>
                  <a:cs typeface="Times New Roman Regular" panose="02020503050405090304" charset="0"/>
                </a:rPr>
                <a:t>Enriched in Carcinogenic Processes(EMT transformation, immuneresponse, stem cell maintenance)</a:t>
              </a:r>
              <a:endParaRPr lang="en-US" altLang="zh-CN" sz="1600">
                <a:solidFill>
                  <a:srgbClr val="AF1E2F"/>
                </a:solidFill>
                <a:latin typeface="Times New Roman Regular" panose="02020503050405090304" charset="0"/>
                <a:cs typeface="Times New Roman Regular" panose="02020503050405090304" charset="0"/>
              </a:endParaRPr>
            </a:p>
          </p:txBody>
        </p:sp>
        <p:sp>
          <p:nvSpPr>
            <p:cNvPr id="32" name="流程图: 可选过程 31"/>
            <p:cNvSpPr/>
            <p:nvPr/>
          </p:nvSpPr>
          <p:spPr>
            <a:xfrm>
              <a:off x="7160" y="6041"/>
              <a:ext cx="3159" cy="1358"/>
            </a:xfrm>
            <a:prstGeom prst="flowChartAlternateProcess">
              <a:avLst/>
            </a:prstGeom>
            <a:solidFill>
              <a:schemeClr val="bg1"/>
            </a:solidFill>
            <a:ln>
              <a:noFill/>
            </a:ln>
            <a:effectLst>
              <a:outerShdw blurRad="50800" dist="38100" dir="2700000" algn="tl" rotWithShape="0">
                <a:schemeClr val="tx1">
                  <a:lumMod val="50000"/>
                  <a:lumOff val="50000"/>
                  <a:alpha val="5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rgbClr val="AF1E2F"/>
                  </a:solidFill>
                  <a:latin typeface="Times New Roman Regular" panose="02020503050405090304" charset="0"/>
                  <a:cs typeface="Times New Roman Regular" panose="02020503050405090304" charset="0"/>
                </a:rPr>
                <a:t>non-ClassicalRegulation(LUAD, STAD)</a:t>
              </a:r>
              <a:endParaRPr lang="en-US" altLang="zh-CN" sz="1600">
                <a:solidFill>
                  <a:srgbClr val="AF1E2F"/>
                </a:solidFill>
                <a:latin typeface="Times New Roman Regular" panose="02020503050405090304" charset="0"/>
                <a:cs typeface="Times New Roman Regular" panose="02020503050405090304" charset="0"/>
              </a:endParaRPr>
            </a:p>
          </p:txBody>
        </p:sp>
        <p:sp>
          <p:nvSpPr>
            <p:cNvPr id="33" name="流程图: 可选过程 32"/>
            <p:cNvSpPr/>
            <p:nvPr/>
          </p:nvSpPr>
          <p:spPr>
            <a:xfrm>
              <a:off x="7182" y="4492"/>
              <a:ext cx="3084" cy="1184"/>
            </a:xfrm>
            <a:prstGeom prst="flowChartAlternateProcess">
              <a:avLst/>
            </a:prstGeom>
            <a:solidFill>
              <a:schemeClr val="bg1"/>
            </a:solidFill>
            <a:ln>
              <a:noFill/>
            </a:ln>
            <a:effectLst>
              <a:outerShdw blurRad="50800" dist="38100" dir="2700000" algn="tl" rotWithShape="0">
                <a:schemeClr val="tx1">
                  <a:lumMod val="50000"/>
                  <a:lumOff val="50000"/>
                  <a:alpha val="5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rgbClr val="AF1E2F"/>
                  </a:solidFill>
                  <a:latin typeface="Times New Roman Regular" panose="02020503050405090304" charset="0"/>
                  <a:cs typeface="Times New Roman Regular" panose="02020503050405090304" charset="0"/>
                </a:rPr>
                <a:t>Cassical Regulation(PAAD)</a:t>
              </a:r>
              <a:endParaRPr lang="en-US" altLang="zh-CN" sz="1600">
                <a:solidFill>
                  <a:srgbClr val="AF1E2F"/>
                </a:solidFill>
                <a:latin typeface="Times New Roman Regular" panose="02020503050405090304" charset="0"/>
                <a:cs typeface="Times New Roman Regular" panose="02020503050405090304" charset="0"/>
              </a:endParaRPr>
            </a:p>
          </p:txBody>
        </p:sp>
        <p:sp>
          <p:nvSpPr>
            <p:cNvPr id="36" name="流程图: 可选过程 35"/>
            <p:cNvSpPr/>
            <p:nvPr/>
          </p:nvSpPr>
          <p:spPr>
            <a:xfrm>
              <a:off x="11370" y="4483"/>
              <a:ext cx="1730" cy="1185"/>
            </a:xfrm>
            <a:prstGeom prst="flowChartAlternateProcess">
              <a:avLst/>
            </a:prstGeom>
            <a:solidFill>
              <a:schemeClr val="bg1"/>
            </a:solidFill>
            <a:ln>
              <a:noFill/>
            </a:ln>
            <a:effectLst>
              <a:outerShdw blurRad="50800" dist="38100" dir="2700000" algn="tl" rotWithShape="0">
                <a:schemeClr val="tx1">
                  <a:lumMod val="50000"/>
                  <a:lumOff val="50000"/>
                  <a:alpha val="5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pPr>
              <a:r>
                <a:rPr lang="en-US" altLang="zh-CN" sz="1600">
                  <a:solidFill>
                    <a:srgbClr val="AF1E2F"/>
                  </a:solidFill>
                  <a:latin typeface="Times New Roman Regular" panose="02020503050405090304" charset="0"/>
                  <a:cs typeface="Times New Roman Regular" panose="02020503050405090304" charset="0"/>
                </a:rPr>
                <a:t>Promoter CpGMethylation </a:t>
              </a:r>
              <a:r>
                <a:rPr lang="en-US" altLang="en-US" sz="1600">
                  <a:solidFill>
                    <a:srgbClr val="AF1E2F"/>
                  </a:solidFill>
                  <a:latin typeface="Times New Roman Regular" panose="02020503050405090304" charset="0"/>
                  <a:cs typeface="Times New Roman Regular" panose="02020503050405090304" charset="0"/>
                </a:rPr>
                <a:t>↑</a:t>
              </a:r>
              <a:endParaRPr lang="en-US" altLang="en-US" sz="1600">
                <a:solidFill>
                  <a:srgbClr val="AF1E2F"/>
                </a:solidFill>
                <a:latin typeface="Times New Roman Regular" panose="02020503050405090304" charset="0"/>
                <a:cs typeface="Times New Roman Regular" panose="02020503050405090304" charset="0"/>
              </a:endParaRPr>
            </a:p>
          </p:txBody>
        </p:sp>
        <p:sp>
          <p:nvSpPr>
            <p:cNvPr id="37" name="流程图: 可选过程 36"/>
            <p:cNvSpPr/>
            <p:nvPr/>
          </p:nvSpPr>
          <p:spPr>
            <a:xfrm>
              <a:off x="11392" y="6108"/>
              <a:ext cx="1730" cy="1185"/>
            </a:xfrm>
            <a:prstGeom prst="flowChartAlternateProcess">
              <a:avLst/>
            </a:prstGeom>
            <a:solidFill>
              <a:schemeClr val="bg1"/>
            </a:solidFill>
            <a:ln>
              <a:noFill/>
            </a:ln>
            <a:effectLst>
              <a:outerShdw blurRad="50800" dist="38100" dir="2700000" algn="tl" rotWithShape="0">
                <a:schemeClr val="tx1">
                  <a:lumMod val="50000"/>
                  <a:lumOff val="50000"/>
                  <a:alpha val="5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pPr>
              <a:r>
                <a:rPr lang="en-US" altLang="zh-CN" sz="1600">
                  <a:solidFill>
                    <a:srgbClr val="AF1E2F"/>
                  </a:solidFill>
                  <a:latin typeface="Times New Roman Regular" panose="02020503050405090304" charset="0"/>
                  <a:cs typeface="Times New Roman Regular" panose="02020503050405090304" charset="0"/>
                </a:rPr>
                <a:t>Promoter CpGMethylation</a:t>
              </a:r>
              <a:r>
                <a:rPr lang="en-US" altLang="zh-CN" sz="1600" b="1">
                  <a:solidFill>
                    <a:srgbClr val="AF1E2F"/>
                  </a:solidFill>
                  <a:latin typeface="Times New Roman Bold" panose="02020503050405090304" charset="0"/>
                  <a:cs typeface="Times New Roman Bold" panose="02020503050405090304" charset="0"/>
                </a:rPr>
                <a:t> </a:t>
              </a:r>
              <a:r>
                <a:rPr lang="en-US" altLang="en-US" sz="1600" b="1">
                  <a:solidFill>
                    <a:srgbClr val="AF1E2F"/>
                  </a:solidFill>
                  <a:latin typeface="Times New Roman Bold" panose="02020503050405090304" charset="0"/>
                  <a:cs typeface="Times New Roman Bold" panose="02020503050405090304" charset="0"/>
                </a:rPr>
                <a:t>↑</a:t>
              </a:r>
              <a:endParaRPr lang="en-US" altLang="en-US" sz="1600" b="1">
                <a:solidFill>
                  <a:srgbClr val="AF1E2F"/>
                </a:solidFill>
                <a:latin typeface="Times New Roman Bold" panose="02020503050405090304" charset="0"/>
                <a:cs typeface="Times New Roman Bold" panose="02020503050405090304" charset="0"/>
              </a:endParaRPr>
            </a:p>
          </p:txBody>
        </p:sp>
        <p:sp>
          <p:nvSpPr>
            <p:cNvPr id="38" name="流程图: 可选过程 37"/>
            <p:cNvSpPr/>
            <p:nvPr/>
          </p:nvSpPr>
          <p:spPr>
            <a:xfrm>
              <a:off x="14323" y="4502"/>
              <a:ext cx="1871" cy="2789"/>
            </a:xfrm>
            <a:prstGeom prst="flowChartAlternateProcess">
              <a:avLst/>
            </a:prstGeom>
            <a:solidFill>
              <a:schemeClr val="bg1"/>
            </a:solidFill>
            <a:ln>
              <a:noFill/>
            </a:ln>
            <a:effectLst>
              <a:outerShdw blurRad="50800" dist="38100" dir="2700000" algn="tl" rotWithShape="0">
                <a:schemeClr val="tx1">
                  <a:lumMod val="50000"/>
                  <a:lumOff val="50000"/>
                  <a:alpha val="5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rgbClr val="AF1E2F"/>
                  </a:solidFill>
                  <a:latin typeface="Times New Roman Regular" panose="02020503050405090304" charset="0"/>
                  <a:cs typeface="Times New Roman Regular" panose="02020503050405090304" charset="0"/>
                </a:rPr>
                <a:t>Target GeneExpressionActivated</a:t>
              </a:r>
              <a:endParaRPr lang="en-US" altLang="zh-CN" sz="1600">
                <a:solidFill>
                  <a:srgbClr val="AF1E2F"/>
                </a:solidFill>
                <a:latin typeface="Times New Roman Regular" panose="02020503050405090304" charset="0"/>
                <a:cs typeface="Times New Roman Regular" panose="02020503050405090304" charset="0"/>
              </a:endParaRPr>
            </a:p>
          </p:txBody>
        </p:sp>
        <p:sp>
          <p:nvSpPr>
            <p:cNvPr id="39" name="流程图: 可选过程 38"/>
            <p:cNvSpPr/>
            <p:nvPr/>
          </p:nvSpPr>
          <p:spPr>
            <a:xfrm>
              <a:off x="16835" y="4505"/>
              <a:ext cx="1661" cy="2788"/>
            </a:xfrm>
            <a:prstGeom prst="flowChartAlternateProcess">
              <a:avLst/>
            </a:prstGeom>
            <a:solidFill>
              <a:schemeClr val="bg1"/>
            </a:solidFill>
            <a:ln>
              <a:noFill/>
            </a:ln>
            <a:effectLst>
              <a:outerShdw blurRad="50800" dist="38100" dir="2700000" algn="tl" rotWithShape="0">
                <a:schemeClr val="tx1">
                  <a:lumMod val="50000"/>
                  <a:lumOff val="50000"/>
                  <a:alpha val="5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rgbClr val="AF1E2F"/>
                  </a:solidFill>
                  <a:latin typeface="Times New Roman Regular" panose="02020503050405090304" charset="0"/>
                  <a:cs typeface="Times New Roman Regular" panose="02020503050405090304" charset="0"/>
                </a:rPr>
                <a:t>Cancer PathwayActivated</a:t>
              </a:r>
              <a:endParaRPr lang="en-US" altLang="zh-CN" sz="1600">
                <a:solidFill>
                  <a:srgbClr val="AF1E2F"/>
                </a:solidFill>
                <a:latin typeface="Times New Roman Regular" panose="02020503050405090304" charset="0"/>
                <a:cs typeface="Times New Roman Regular" panose="02020503050405090304" charset="0"/>
              </a:endParaRPr>
            </a:p>
          </p:txBody>
        </p:sp>
        <p:sp>
          <p:nvSpPr>
            <p:cNvPr id="41" name="流程图: 可选过程 40"/>
            <p:cNvSpPr/>
            <p:nvPr/>
          </p:nvSpPr>
          <p:spPr>
            <a:xfrm>
              <a:off x="7159" y="8158"/>
              <a:ext cx="3159" cy="1639"/>
            </a:xfrm>
            <a:prstGeom prst="flowChartAlternateProcess">
              <a:avLst/>
            </a:prstGeom>
            <a:solidFill>
              <a:schemeClr val="bg1"/>
            </a:solidFill>
            <a:ln>
              <a:noFill/>
            </a:ln>
            <a:effectLst>
              <a:outerShdw blurRad="50800" dist="38100" dir="2700000" algn="tl" rotWithShape="0">
                <a:schemeClr val="tx1">
                  <a:lumMod val="50000"/>
                  <a:lumOff val="50000"/>
                  <a:alpha val="5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a:solidFill>
                    <a:srgbClr val="AF1E2F"/>
                  </a:solidFill>
                  <a:latin typeface="Times New Roman Regular" panose="02020503050405090304" charset="0"/>
                  <a:cs typeface="Times New Roman Regular" panose="02020503050405090304" charset="0"/>
                </a:rPr>
                <a:t>non-ClassicalRegulation(LUAD, STAD)</a:t>
              </a:r>
              <a:endParaRPr lang="en-US" altLang="zh-CN" sz="1600">
                <a:solidFill>
                  <a:srgbClr val="AF1E2F"/>
                </a:solidFill>
                <a:latin typeface="Times New Roman Regular" panose="02020503050405090304" charset="0"/>
                <a:cs typeface="Times New Roman Regular" panose="02020503050405090304" charset="0"/>
              </a:endParaRPr>
            </a:p>
          </p:txBody>
        </p:sp>
        <p:sp>
          <p:nvSpPr>
            <p:cNvPr id="42" name="流程图: 可选过程 41"/>
            <p:cNvSpPr/>
            <p:nvPr/>
          </p:nvSpPr>
          <p:spPr>
            <a:xfrm>
              <a:off x="11222" y="7733"/>
              <a:ext cx="7380" cy="1070"/>
            </a:xfrm>
            <a:prstGeom prst="flowChartAlternateProcess">
              <a:avLst/>
            </a:prstGeom>
            <a:solidFill>
              <a:schemeClr val="bg1"/>
            </a:solidFill>
            <a:ln>
              <a:noFill/>
            </a:ln>
            <a:effectLst>
              <a:outerShdw blurRad="50800" dist="38100" dir="2700000" algn="tl" rotWithShape="0">
                <a:schemeClr val="tx1">
                  <a:lumMod val="50000"/>
                  <a:lumOff val="50000"/>
                  <a:alpha val="5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pPr>
              <a:r>
                <a:rPr lang="en-US" altLang="zh-CN" sz="1600">
                  <a:solidFill>
                    <a:srgbClr val="AF1E2F"/>
                  </a:solidFill>
                  <a:latin typeface="Times New Roman" panose="02020503050405090304" charset="0"/>
                  <a:cs typeface="Times New Roman" panose="02020503050405090304" charset="0"/>
                </a:rPr>
                <a:t>Cancer PathwayActivated(PAAD, STAD)</a:t>
              </a:r>
              <a:endParaRPr lang="en-US" altLang="zh-CN" sz="1600">
                <a:solidFill>
                  <a:srgbClr val="AF1E2F"/>
                </a:solidFill>
                <a:latin typeface="Times New Roman" panose="02020503050405090304" charset="0"/>
                <a:cs typeface="Times New Roman" panose="02020503050405090304" charset="0"/>
              </a:endParaRPr>
            </a:p>
          </p:txBody>
        </p:sp>
        <p:sp>
          <p:nvSpPr>
            <p:cNvPr id="44" name="流程图: 可选过程 43"/>
            <p:cNvSpPr/>
            <p:nvPr/>
          </p:nvSpPr>
          <p:spPr>
            <a:xfrm>
              <a:off x="11222" y="9022"/>
              <a:ext cx="7380" cy="1070"/>
            </a:xfrm>
            <a:prstGeom prst="flowChartAlternateProcess">
              <a:avLst/>
            </a:prstGeom>
            <a:solidFill>
              <a:schemeClr val="bg1"/>
            </a:solidFill>
            <a:ln>
              <a:noFill/>
            </a:ln>
            <a:effectLst>
              <a:outerShdw blurRad="50800" dist="38100" dir="2700000" algn="tl" rotWithShape="0">
                <a:schemeClr val="tx1">
                  <a:lumMod val="50000"/>
                  <a:lumOff val="50000"/>
                  <a:alpha val="5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buClrTx/>
                <a:buSzTx/>
                <a:buFontTx/>
              </a:pPr>
              <a:r>
                <a:rPr lang="en-US" altLang="zh-CN" sz="1600">
                  <a:solidFill>
                    <a:srgbClr val="AF1E2F"/>
                  </a:solidFill>
                  <a:latin typeface="Times New Roman" panose="02020503050405090304" charset="0"/>
                  <a:cs typeface="Times New Roman" panose="02020503050405090304" charset="0"/>
                </a:rPr>
                <a:t>Cancer Pathway Silence(PRAD, SKCM.LUAD)</a:t>
              </a:r>
              <a:endParaRPr lang="en-US" altLang="zh-CN" sz="1600">
                <a:solidFill>
                  <a:srgbClr val="AF1E2F"/>
                </a:solidFill>
                <a:latin typeface="Times New Roman" panose="02020503050405090304" charset="0"/>
                <a:cs typeface="Times New Roman" panose="02020503050405090304" charset="0"/>
              </a:endParaRPr>
            </a:p>
          </p:txBody>
        </p:sp>
        <p:sp>
          <p:nvSpPr>
            <p:cNvPr id="51" name="左大括号 50"/>
            <p:cNvSpPr/>
            <p:nvPr/>
          </p:nvSpPr>
          <p:spPr>
            <a:xfrm>
              <a:off x="6250" y="5124"/>
              <a:ext cx="647" cy="1660"/>
            </a:xfrm>
            <a:prstGeom prst="leftBrace">
              <a:avLst>
                <a:gd name="adj1" fmla="val 8333"/>
                <a:gd name="adj2" fmla="val 48017"/>
              </a:avLst>
            </a:prstGeom>
            <a:ln w="19050" cap="rnd">
              <a:solidFill>
                <a:srgbClr val="AF1E2F"/>
              </a:solidFill>
              <a:roun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3" name="左大括号 52"/>
            <p:cNvSpPr/>
            <p:nvPr/>
          </p:nvSpPr>
          <p:spPr>
            <a:xfrm>
              <a:off x="10446" y="8158"/>
              <a:ext cx="647" cy="1660"/>
            </a:xfrm>
            <a:prstGeom prst="leftBrace">
              <a:avLst>
                <a:gd name="adj1" fmla="val 8333"/>
                <a:gd name="adj2" fmla="val 48017"/>
              </a:avLst>
            </a:prstGeom>
            <a:ln w="19050" cap="rnd">
              <a:solidFill>
                <a:srgbClr val="AF1E2F"/>
              </a:solidFill>
              <a:roun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54" name="直接箭头连接符 53"/>
            <p:cNvCxnSpPr/>
            <p:nvPr/>
          </p:nvCxnSpPr>
          <p:spPr>
            <a:xfrm>
              <a:off x="6219" y="2844"/>
              <a:ext cx="735" cy="0"/>
            </a:xfrm>
            <a:prstGeom prst="straightConnector1">
              <a:avLst/>
            </a:prstGeom>
            <a:ln w="19050">
              <a:solidFill>
                <a:srgbClr val="AF1E2F"/>
              </a:solidFill>
              <a:tailEnd type="arrow"/>
            </a:ln>
          </p:spPr>
          <p:style>
            <a:lnRef idx="2">
              <a:schemeClr val="accent1"/>
            </a:lnRef>
            <a:fillRef idx="0">
              <a:srgbClr val="FFFFFF"/>
            </a:fillRef>
            <a:effectRef idx="0">
              <a:srgbClr val="FFFFFF"/>
            </a:effectRef>
            <a:fontRef idx="minor">
              <a:schemeClr val="tx1"/>
            </a:fontRef>
          </p:style>
        </p:cxnSp>
        <p:cxnSp>
          <p:nvCxnSpPr>
            <p:cNvPr id="55" name="直接箭头连接符 54"/>
            <p:cNvCxnSpPr/>
            <p:nvPr/>
          </p:nvCxnSpPr>
          <p:spPr>
            <a:xfrm>
              <a:off x="10401" y="2789"/>
              <a:ext cx="735" cy="0"/>
            </a:xfrm>
            <a:prstGeom prst="straightConnector1">
              <a:avLst/>
            </a:prstGeom>
            <a:ln w="19050">
              <a:solidFill>
                <a:srgbClr val="AF1E2F"/>
              </a:solidFill>
              <a:tailEnd type="arrow"/>
            </a:ln>
          </p:spPr>
          <p:style>
            <a:lnRef idx="2">
              <a:schemeClr val="accent1"/>
            </a:lnRef>
            <a:fillRef idx="0">
              <a:srgbClr val="FFFFFF"/>
            </a:fillRef>
            <a:effectRef idx="0">
              <a:srgbClr val="FFFFFF"/>
            </a:effectRef>
            <a:fontRef idx="minor">
              <a:schemeClr val="tx1"/>
            </a:fontRef>
          </p:style>
        </p:cxnSp>
        <p:cxnSp>
          <p:nvCxnSpPr>
            <p:cNvPr id="56" name="直接箭头连接符 55"/>
            <p:cNvCxnSpPr/>
            <p:nvPr/>
          </p:nvCxnSpPr>
          <p:spPr>
            <a:xfrm>
              <a:off x="6235" y="8802"/>
              <a:ext cx="735" cy="0"/>
            </a:xfrm>
            <a:prstGeom prst="straightConnector1">
              <a:avLst/>
            </a:prstGeom>
            <a:ln w="19050">
              <a:solidFill>
                <a:srgbClr val="AF1E2F"/>
              </a:solidFill>
              <a:tailEnd type="arrow"/>
            </a:ln>
          </p:spPr>
          <p:style>
            <a:lnRef idx="2">
              <a:schemeClr val="accent1"/>
            </a:lnRef>
            <a:fillRef idx="0">
              <a:srgbClr val="FFFFFF"/>
            </a:fillRef>
            <a:effectRef idx="0">
              <a:srgbClr val="FFFFFF"/>
            </a:effectRef>
            <a:fontRef idx="minor">
              <a:schemeClr val="tx1"/>
            </a:fontRef>
          </p:style>
        </p:cxnSp>
        <p:cxnSp>
          <p:nvCxnSpPr>
            <p:cNvPr id="57" name="直接箭头连接符 56"/>
            <p:cNvCxnSpPr/>
            <p:nvPr/>
          </p:nvCxnSpPr>
          <p:spPr>
            <a:xfrm>
              <a:off x="13335" y="2782"/>
              <a:ext cx="735" cy="0"/>
            </a:xfrm>
            <a:prstGeom prst="straightConnector1">
              <a:avLst/>
            </a:prstGeom>
            <a:ln w="19050">
              <a:solidFill>
                <a:srgbClr val="AF1E2F"/>
              </a:solidFill>
              <a:tailEnd type="arrow"/>
            </a:ln>
          </p:spPr>
          <p:style>
            <a:lnRef idx="2">
              <a:schemeClr val="accent1"/>
            </a:lnRef>
            <a:fillRef idx="0">
              <a:srgbClr val="FFFFFF"/>
            </a:fillRef>
            <a:effectRef idx="0">
              <a:srgbClr val="FFFFFF"/>
            </a:effectRef>
            <a:fontRef idx="minor">
              <a:schemeClr val="tx1"/>
            </a:fontRef>
          </p:style>
        </p:cxnSp>
        <p:cxnSp>
          <p:nvCxnSpPr>
            <p:cNvPr id="58" name="直接箭头连接符 57"/>
            <p:cNvCxnSpPr/>
            <p:nvPr/>
          </p:nvCxnSpPr>
          <p:spPr>
            <a:xfrm>
              <a:off x="10409" y="5139"/>
              <a:ext cx="735" cy="0"/>
            </a:xfrm>
            <a:prstGeom prst="straightConnector1">
              <a:avLst/>
            </a:prstGeom>
            <a:ln w="19050">
              <a:solidFill>
                <a:srgbClr val="AF1E2F"/>
              </a:solidFill>
              <a:tailEnd type="arrow"/>
            </a:ln>
          </p:spPr>
          <p:style>
            <a:lnRef idx="2">
              <a:schemeClr val="accent1"/>
            </a:lnRef>
            <a:fillRef idx="0">
              <a:srgbClr val="FFFFFF"/>
            </a:fillRef>
            <a:effectRef idx="0">
              <a:srgbClr val="FFFFFF"/>
            </a:effectRef>
            <a:fontRef idx="minor">
              <a:schemeClr val="tx1"/>
            </a:fontRef>
          </p:style>
        </p:cxnSp>
        <p:cxnSp>
          <p:nvCxnSpPr>
            <p:cNvPr id="59" name="直接箭头连接符 58"/>
            <p:cNvCxnSpPr/>
            <p:nvPr/>
          </p:nvCxnSpPr>
          <p:spPr>
            <a:xfrm>
              <a:off x="10424" y="6747"/>
              <a:ext cx="735" cy="0"/>
            </a:xfrm>
            <a:prstGeom prst="straightConnector1">
              <a:avLst/>
            </a:prstGeom>
            <a:ln w="19050">
              <a:solidFill>
                <a:srgbClr val="AF1E2F"/>
              </a:solidFill>
              <a:tailEnd type="arrow"/>
            </a:ln>
          </p:spPr>
          <p:style>
            <a:lnRef idx="2">
              <a:schemeClr val="accent1"/>
            </a:lnRef>
            <a:fillRef idx="0">
              <a:srgbClr val="FFFFFF"/>
            </a:fillRef>
            <a:effectRef idx="0">
              <a:srgbClr val="FFFFFF"/>
            </a:effectRef>
            <a:fontRef idx="minor">
              <a:schemeClr val="tx1"/>
            </a:fontRef>
          </p:style>
        </p:cxnSp>
        <p:cxnSp>
          <p:nvCxnSpPr>
            <p:cNvPr id="60" name="直接箭头连接符 59"/>
            <p:cNvCxnSpPr/>
            <p:nvPr/>
          </p:nvCxnSpPr>
          <p:spPr>
            <a:xfrm>
              <a:off x="13335" y="5903"/>
              <a:ext cx="735" cy="0"/>
            </a:xfrm>
            <a:prstGeom prst="straightConnector1">
              <a:avLst/>
            </a:prstGeom>
            <a:ln w="19050">
              <a:solidFill>
                <a:srgbClr val="AF1E2F"/>
              </a:solidFill>
              <a:tailEnd type="arrow"/>
            </a:ln>
          </p:spPr>
          <p:style>
            <a:lnRef idx="2">
              <a:schemeClr val="accent1"/>
            </a:lnRef>
            <a:fillRef idx="0">
              <a:srgbClr val="FFFFFF"/>
            </a:fillRef>
            <a:effectRef idx="0">
              <a:srgbClr val="FFFFFF"/>
            </a:effectRef>
            <a:fontRef idx="minor">
              <a:schemeClr val="tx1"/>
            </a:fontRef>
          </p:style>
        </p:cxnSp>
        <p:cxnSp>
          <p:nvCxnSpPr>
            <p:cNvPr id="63" name="直接箭头连接符 62"/>
            <p:cNvCxnSpPr/>
            <p:nvPr/>
          </p:nvCxnSpPr>
          <p:spPr>
            <a:xfrm>
              <a:off x="16349" y="5903"/>
              <a:ext cx="485" cy="0"/>
            </a:xfrm>
            <a:prstGeom prst="straightConnector1">
              <a:avLst/>
            </a:prstGeom>
            <a:ln w="19050">
              <a:solidFill>
                <a:srgbClr val="AF1E2F"/>
              </a:solidFill>
              <a:tailEnd type="arrow"/>
            </a:ln>
          </p:spPr>
          <p:style>
            <a:lnRef idx="2">
              <a:schemeClr val="accent1"/>
            </a:lnRef>
            <a:fillRef idx="0">
              <a:srgbClr val="FFFFFF"/>
            </a:fillRef>
            <a:effectRef idx="0">
              <a:srgbClr val="FFFFFF"/>
            </a:effectRef>
            <a:fontRef idx="minor">
              <a:schemeClr val="tx1"/>
            </a:fontRef>
          </p:style>
        </p:cxnSp>
      </p:grpSp>
      <p:sp>
        <p:nvSpPr>
          <p:cNvPr id="66" name="左大括号 65"/>
          <p:cNvSpPr/>
          <p:nvPr/>
        </p:nvSpPr>
        <p:spPr>
          <a:xfrm>
            <a:off x="1958340" y="1766570"/>
            <a:ext cx="305435" cy="3962400"/>
          </a:xfrm>
          <a:prstGeom prst="leftBrace">
            <a:avLst>
              <a:gd name="adj1" fmla="val 8333"/>
              <a:gd name="adj2" fmla="val 48017"/>
            </a:avLst>
          </a:prstGeom>
          <a:ln w="19050" cap="rnd">
            <a:solidFill>
              <a:srgbClr val="AF1E2F"/>
            </a:solidFill>
            <a:roun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sz="1600"/>
          </a:p>
        </p:txBody>
      </p:sp>
      <p:sp>
        <p:nvSpPr>
          <p:cNvPr id="67" name="圆角矩形 66"/>
          <p:cNvSpPr/>
          <p:nvPr/>
        </p:nvSpPr>
        <p:spPr>
          <a:xfrm>
            <a:off x="300355" y="3394710"/>
            <a:ext cx="1471295" cy="593090"/>
          </a:xfrm>
          <a:prstGeom prst="roundRect">
            <a:avLst/>
          </a:prstGeom>
          <a:solidFill>
            <a:srgbClr val="AF1E2F"/>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a:latin typeface="Times New Roman Bold" panose="02020503050405090304" charset="0"/>
                <a:cs typeface="Times New Roman Bold" panose="02020503050405090304" charset="0"/>
                <a:sym typeface="+mn-ea"/>
              </a:rPr>
              <a:t>MIR100HG </a:t>
            </a:r>
            <a:r>
              <a:rPr lang="en-US" altLang="en-US" sz="1600" b="1">
                <a:latin typeface="Times New Roman Bold" panose="02020503050405090304" charset="0"/>
                <a:cs typeface="Times New Roman Bold" panose="02020503050405090304" charset="0"/>
                <a:sym typeface="+mn-ea"/>
              </a:rPr>
              <a:t>↑</a:t>
            </a:r>
            <a:endParaRPr lang="en-US" altLang="zh-CN" sz="1600" b="1">
              <a:latin typeface="Times New Roman Bold" panose="02020503050405090304" charset="0"/>
              <a:cs typeface="Times New Roman Bold" panose="02020503050405090304" charset="0"/>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3000"/>
    </mc:Choice>
    <mc:Fallback>
      <p:transition spd="slow" advClick="0" advTm="3000"/>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1395413"/>
            <a:ext cx="12192000" cy="4392612"/>
            <a:chOff x="0" y="1395413"/>
            <a:chExt cx="12192000" cy="4392612"/>
          </a:xfrm>
          <a:solidFill>
            <a:srgbClr val="AF1E2F"/>
          </a:solidFill>
        </p:grpSpPr>
        <p:sp>
          <p:nvSpPr>
            <p:cNvPr id="8" name="Freeform 5"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3308645" y="1395413"/>
              <a:ext cx="8883355" cy="1881187"/>
            </a:xfrm>
            <a:custGeom>
              <a:avLst/>
              <a:gdLst>
                <a:gd name="T0" fmla="*/ 11567 w 11567"/>
                <a:gd name="T1" fmla="*/ 2441 h 2441"/>
                <a:gd name="T2" fmla="*/ 0 w 11567"/>
                <a:gd name="T3" fmla="*/ 2441 h 2441"/>
                <a:gd name="T4" fmla="*/ 1542 w 11567"/>
                <a:gd name="T5" fmla="*/ 0 h 2441"/>
                <a:gd name="T6" fmla="*/ 11567 w 11567"/>
                <a:gd name="T7" fmla="*/ 0 h 2441"/>
                <a:gd name="T8" fmla="*/ 11567 w 11567"/>
                <a:gd name="T9" fmla="*/ 2441 h 2441"/>
              </a:gdLst>
              <a:ahLst/>
              <a:cxnLst>
                <a:cxn ang="0">
                  <a:pos x="T0" y="T1"/>
                </a:cxn>
                <a:cxn ang="0">
                  <a:pos x="T2" y="T3"/>
                </a:cxn>
                <a:cxn ang="0">
                  <a:pos x="T4" y="T5"/>
                </a:cxn>
                <a:cxn ang="0">
                  <a:pos x="T6" y="T7"/>
                </a:cxn>
                <a:cxn ang="0">
                  <a:pos x="T8" y="T9"/>
                </a:cxn>
              </a:cxnLst>
              <a:rect l="0" t="0" r="r" b="b"/>
              <a:pathLst>
                <a:path w="11567" h="2441">
                  <a:moveTo>
                    <a:pt x="11567" y="2441"/>
                  </a:moveTo>
                  <a:lnTo>
                    <a:pt x="0" y="2441"/>
                  </a:lnTo>
                  <a:lnTo>
                    <a:pt x="1542" y="0"/>
                  </a:lnTo>
                  <a:lnTo>
                    <a:pt x="11567" y="0"/>
                  </a:lnTo>
                  <a:lnTo>
                    <a:pt x="11567" y="2441"/>
                  </a:lnTo>
                  <a:close/>
                </a:path>
              </a:pathLst>
            </a:custGeom>
            <a:solidFill>
              <a:srgbClr val="831723"/>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0" name="Freeform 6"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0" y="4075113"/>
              <a:ext cx="5693725" cy="1712912"/>
            </a:xfrm>
            <a:custGeom>
              <a:avLst/>
              <a:gdLst>
                <a:gd name="T0" fmla="*/ 0 w 7413"/>
                <a:gd name="T1" fmla="*/ 0 h 2222"/>
                <a:gd name="T2" fmla="*/ 7413 w 7413"/>
                <a:gd name="T3" fmla="*/ 0 h 2222"/>
                <a:gd name="T4" fmla="*/ 6010 w 7413"/>
                <a:gd name="T5" fmla="*/ 2222 h 2222"/>
                <a:gd name="T6" fmla="*/ 0 w 7413"/>
                <a:gd name="T7" fmla="*/ 2222 h 2222"/>
                <a:gd name="T8" fmla="*/ 0 w 7413"/>
                <a:gd name="T9" fmla="*/ 0 h 2222"/>
              </a:gdLst>
              <a:ahLst/>
              <a:cxnLst>
                <a:cxn ang="0">
                  <a:pos x="T0" y="T1"/>
                </a:cxn>
                <a:cxn ang="0">
                  <a:pos x="T2" y="T3"/>
                </a:cxn>
                <a:cxn ang="0">
                  <a:pos x="T4" y="T5"/>
                </a:cxn>
                <a:cxn ang="0">
                  <a:pos x="T6" y="T7"/>
                </a:cxn>
                <a:cxn ang="0">
                  <a:pos x="T8" y="T9"/>
                </a:cxn>
              </a:cxnLst>
              <a:rect l="0" t="0" r="r" b="b"/>
              <a:pathLst>
                <a:path w="7413" h="2222">
                  <a:moveTo>
                    <a:pt x="0" y="0"/>
                  </a:moveTo>
                  <a:lnTo>
                    <a:pt x="7413" y="0"/>
                  </a:lnTo>
                  <a:lnTo>
                    <a:pt x="6010" y="2222"/>
                  </a:lnTo>
                  <a:lnTo>
                    <a:pt x="0" y="2222"/>
                  </a:lnTo>
                  <a:lnTo>
                    <a:pt x="0" y="0"/>
                  </a:lnTo>
                  <a:close/>
                </a:path>
              </a:pathLst>
            </a:custGeom>
            <a:solidFill>
              <a:srgbClr val="831723"/>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1" name="Freeform 7"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0" y="2052639"/>
              <a:ext cx="10728896" cy="2981325"/>
            </a:xfrm>
            <a:custGeom>
              <a:avLst/>
              <a:gdLst>
                <a:gd name="T0" fmla="*/ 0 w 13970"/>
                <a:gd name="T1" fmla="*/ 0 h 3869"/>
                <a:gd name="T2" fmla="*/ 13970 w 13970"/>
                <a:gd name="T3" fmla="*/ 0 h 3869"/>
                <a:gd name="T4" fmla="*/ 11527 w 13970"/>
                <a:gd name="T5" fmla="*/ 3869 h 3869"/>
                <a:gd name="T6" fmla="*/ 0 w 13970"/>
                <a:gd name="T7" fmla="*/ 3869 h 3869"/>
                <a:gd name="T8" fmla="*/ 0 w 13970"/>
                <a:gd name="T9" fmla="*/ 0 h 3869"/>
              </a:gdLst>
              <a:ahLst/>
              <a:cxnLst>
                <a:cxn ang="0">
                  <a:pos x="T0" y="T1"/>
                </a:cxn>
                <a:cxn ang="0">
                  <a:pos x="T2" y="T3"/>
                </a:cxn>
                <a:cxn ang="0">
                  <a:pos x="T4" y="T5"/>
                </a:cxn>
                <a:cxn ang="0">
                  <a:pos x="T6" y="T7"/>
                </a:cxn>
                <a:cxn ang="0">
                  <a:pos x="T8" y="T9"/>
                </a:cxn>
              </a:cxnLst>
              <a:rect l="0" t="0" r="r" b="b"/>
              <a:pathLst>
                <a:path w="13970" h="3869">
                  <a:moveTo>
                    <a:pt x="0" y="0"/>
                  </a:moveTo>
                  <a:lnTo>
                    <a:pt x="13970" y="0"/>
                  </a:lnTo>
                  <a:lnTo>
                    <a:pt x="11527" y="3869"/>
                  </a:lnTo>
                  <a:lnTo>
                    <a:pt x="0" y="3869"/>
                  </a:lnTo>
                  <a:lnTo>
                    <a:pt x="0" y="0"/>
                  </a:lnTo>
                  <a:close/>
                </a:path>
              </a:pathLst>
            </a:custGeom>
            <a:grp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grpSp>
      <p:sp>
        <p:nvSpPr>
          <p:cNvPr id="2" name="e7d195523061f1c0" descr="e7d195523061f1c060910eeaeeff1464599dc3392e14be42F6605DBF3376AA578EAD49A2F34CDE9F8BA873D9FC4305B94F8C98BE913D0BB55B77B4982D855D57316D9666CF50C0C1F882EEA92AB650391898752DC0F28C027E30AABBE39009D367F52CF2EB08CFD5B7F9FB4301E8C18380EF535FE4A4CCCE7A68EA8B854FFF693052B82C6FF16E3D" hidden="1"/>
          <p:cNvSpPr txBox="1"/>
          <p:nvPr/>
        </p:nvSpPr>
        <p:spPr>
          <a:xfrm>
            <a:off x="-355600" y="1803400"/>
            <a:ext cx="262251"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 b="0" i="0" u="none" strike="noStrike" kern="1200" cap="none" spc="0" normalizeH="0" baseline="0" noProof="0">
                <a:ln>
                  <a:noFill/>
                </a:ln>
                <a:solidFill>
                  <a:prstClr val="black"/>
                </a:solidFill>
                <a:effectLst/>
                <a:uLnTx/>
                <a:uFillTx/>
                <a:latin typeface="等线"/>
                <a:ea typeface="等线" panose="02010600030101010101" charset="-122"/>
                <a:cs typeface="+mn-cs"/>
              </a:rPr>
              <a:t>e7d195523061f1c060910eeaeeff1464599dc3392e14be42F6605DBF3376AA578EAD49A2F34CDE9F8BA873D9FC4305B94F8C98BE913D0BB55B77B4982D855D57316D9666CF50C0C1F882EEA92AB650391898752DC0F28C027E30AABBE39009D367F52CF2EB08CFD5B7F9FB4301E8C18380EF535FE4A4CCCE7A68EA8B854FFF693052B82C6FF16E3D</a:t>
            </a:r>
            <a:endParaRPr kumimoji="0" lang="zh-CN" altLang="en-US" sz="1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
        <p:nvSpPr>
          <p:cNvPr id="13" name="文本框 12"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txBox="1"/>
          <p:nvPr/>
        </p:nvSpPr>
        <p:spPr>
          <a:xfrm>
            <a:off x="1091479" y="1908176"/>
            <a:ext cx="1508125" cy="31534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900" b="0" i="0" u="none" strike="noStrike" kern="1200" cap="none" spc="0" normalizeH="0" baseline="0" noProof="0" dirty="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rPr>
              <a:t>5</a:t>
            </a:r>
            <a:endParaRPr kumimoji="0" lang="en-US" altLang="zh-CN" sz="19900" b="0" i="0" u="none" strike="noStrike" kern="1200" cap="none" spc="0" normalizeH="0" baseline="0" noProof="0" dirty="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4" name="文本框 13"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txBox="1"/>
          <p:nvPr/>
        </p:nvSpPr>
        <p:spPr>
          <a:xfrm>
            <a:off x="2846705" y="3598545"/>
            <a:ext cx="5693410" cy="2971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35"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rPr>
              <a:t> A Case Study of lncRNA MIR100HG across Five Cancer Types</a:t>
            </a:r>
            <a:endParaRPr kumimoji="0" lang="en-US" altLang="zh-CN" sz="1335"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5" name="文本框 14"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txBox="1"/>
          <p:nvPr/>
        </p:nvSpPr>
        <p:spPr>
          <a:xfrm>
            <a:off x="2846705" y="2668270"/>
            <a:ext cx="7514590" cy="1445260"/>
          </a:xfrm>
          <a:prstGeom prst="rect">
            <a:avLst/>
          </a:prstGeom>
          <a:noFill/>
        </p:spPr>
        <p:txBody>
          <a:bodyPr wrap="square" rtlCol="0">
            <a:spAutoFit/>
          </a:bodyPr>
          <a:lstStyle/>
          <a:p>
            <a:pPr lvl="0"/>
            <a:r>
              <a:rPr lang="en-US" altLang="zh-CN" sz="4400" dirty="0">
                <a:solidFill>
                  <a:prstClr val="white"/>
                </a:solidFill>
                <a:latin typeface="Trebuchet MS Regular" panose="020B0703020202090204" charset="0"/>
                <a:ea typeface="华康俪金黑W8" panose="020B0809000000000000" pitchFamily="49" charset="-122"/>
              </a:rPr>
              <a:t>Future work</a:t>
            </a:r>
            <a:endParaRPr lang="en-US" altLang="zh-CN" sz="4400" dirty="0">
              <a:solidFill>
                <a:prstClr val="white"/>
              </a:solidFill>
              <a:latin typeface="Trebuchet MS Regular" panose="020B0703020202090204" charset="0"/>
              <a:ea typeface="华康俪金黑W8" panose="020B0809000000000000" pitchFamily="49" charset="-122"/>
            </a:endParaRPr>
          </a:p>
          <a:p>
            <a:pPr lvl="0"/>
            <a:endParaRPr lang="en-US" altLang="zh-CN" sz="4400" dirty="0">
              <a:solidFill>
                <a:prstClr val="white"/>
              </a:solidFill>
              <a:latin typeface="Trebuchet MS Regular" panose="020B0703020202090204" charset="0"/>
              <a:ea typeface="华康俪金黑W8" panose="020B0809000000000000" pitchFamily="49" charset="-122"/>
            </a:endParaRPr>
          </a:p>
        </p:txBody>
      </p:sp>
      <p:sp>
        <p:nvSpPr>
          <p:cNvPr id="16" name="矩形 15" descr="e7d195523061f1c060910eeaeeff1464599dc3392e14be42F6605DBF3376AA578EAD49A2F34CDE9F8BA873D9FC4305B94F8C98BE913D0BB55B77B4982D855D57316D9666CF50C0C1F882EEA92AB650396E1778977ABF941FB65177D6883232DFBC3F3168BD9BD0485E96A7ADBC6152F51AEFDD4DC1585EA5788F3B2196A7697FB05ACDF1C9823A42"/>
          <p:cNvSpPr/>
          <p:nvPr/>
        </p:nvSpPr>
        <p:spPr>
          <a:xfrm>
            <a:off x="2956407" y="3466746"/>
            <a:ext cx="566069" cy="60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Trebuchet MS Regular" panose="020B0703020202090204" charset="0"/>
              <a:ea typeface="等线" panose="02010600030101010101" charset="-122"/>
              <a:cs typeface="Trebuchet MS Regular" panose="020B0703020202090204" charset="0"/>
            </a:endParaRPr>
          </a:p>
        </p:txBody>
      </p:sp>
      <p:sp>
        <p:nvSpPr>
          <p:cNvPr id="17" name="Freeform 8"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p:nvPr/>
        </p:nvSpPr>
        <p:spPr bwMode="auto">
          <a:xfrm>
            <a:off x="11227177" y="1908176"/>
            <a:ext cx="556995" cy="900113"/>
          </a:xfrm>
          <a:custGeom>
            <a:avLst/>
            <a:gdLst>
              <a:gd name="T0" fmla="*/ 584 w 725"/>
              <a:gd name="T1" fmla="*/ 443 h 1169"/>
              <a:gd name="T2" fmla="*/ 725 w 725"/>
              <a:gd name="T3" fmla="*/ 585 h 1169"/>
              <a:gd name="T4" fmla="*/ 584 w 725"/>
              <a:gd name="T5" fmla="*/ 726 h 1169"/>
              <a:gd name="T6" fmla="*/ 141 w 725"/>
              <a:gd name="T7" fmla="*/ 1169 h 1169"/>
              <a:gd name="T8" fmla="*/ 0 w 725"/>
              <a:gd name="T9" fmla="*/ 1028 h 1169"/>
              <a:gd name="T10" fmla="*/ 443 w 725"/>
              <a:gd name="T11" fmla="*/ 585 h 1169"/>
              <a:gd name="T12" fmla="*/ 0 w 725"/>
              <a:gd name="T13" fmla="*/ 141 h 1169"/>
              <a:gd name="T14" fmla="*/ 141 w 725"/>
              <a:gd name="T15" fmla="*/ 0 h 1169"/>
              <a:gd name="T16" fmla="*/ 584 w 725"/>
              <a:gd name="T17" fmla="*/ 44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等线"/>
              <a:ea typeface="等线" panose="02010600030101010101"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advClick="0" advTm="3000"/>
    </mc:Choice>
    <mc:Fallback>
      <p:transition spd="slow" advClick="0" advTm="3000"/>
    </mc:Fallback>
  </mc:AlternateContent>
  <p:timing>
    <p:tnLst>
      <p:par>
        <p:cTn id="1" dur="indefinite" restart="never" nodeType="tmRoot"/>
      </p:par>
    </p:tnLst>
    <p:bldLst>
      <p:bldP spid="13" grpId="0"/>
      <p:bldP spid="14" grpId="0"/>
      <p:bldP spid="15" grpId="0"/>
      <p:bldP spid="16" grpId="0" bldLvl="0" animBg="1"/>
      <p:bldP spid="17"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01058" y="259550"/>
            <a:ext cx="11613108" cy="495853"/>
            <a:chOff x="301058" y="259550"/>
            <a:chExt cx="11613108" cy="495853"/>
          </a:xfrm>
        </p:grpSpPr>
        <p:sp>
          <p:nvSpPr>
            <p:cNvPr id="10" name="矩形: 圆角 8"/>
            <p:cNvSpPr/>
            <p:nvPr userDrawn="1"/>
          </p:nvSpPr>
          <p:spPr>
            <a:xfrm flipV="1">
              <a:off x="2170802" y="709684"/>
              <a:ext cx="9743364" cy="45719"/>
            </a:xfrm>
            <a:prstGeom prst="roundRect">
              <a:avLst/>
            </a:prstGeom>
            <a:solidFill>
              <a:srgbClr val="8C0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Times New Roman Regular" panose="02020503050405090304" charset="0"/>
                <a:cs typeface="Times New Roman Regular" panose="02020503050405090304" charset="0"/>
              </a:endParaRPr>
            </a:p>
          </p:txBody>
        </p:sp>
        <p:sp>
          <p:nvSpPr>
            <p:cNvPr id="13" name="矩形: 圆角 12"/>
            <p:cNvSpPr/>
            <p:nvPr userDrawn="1"/>
          </p:nvSpPr>
          <p:spPr>
            <a:xfrm flipV="1">
              <a:off x="301058" y="709682"/>
              <a:ext cx="1801505" cy="45719"/>
            </a:xfrm>
            <a:prstGeom prst="roundRect">
              <a:avLst/>
            </a:prstGeom>
            <a:solidFill>
              <a:srgbClr val="F0E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Regular" panose="02020503050405090304" charset="0"/>
                <a:cs typeface="Times New Roman Regular" panose="02020503050405090304" charset="0"/>
              </a:endParaRPr>
            </a:p>
          </p:txBody>
        </p:sp>
        <p:sp>
          <p:nvSpPr>
            <p:cNvPr id="61" name="矩形: 对角圆角 60"/>
            <p:cNvSpPr/>
            <p:nvPr userDrawn="1"/>
          </p:nvSpPr>
          <p:spPr>
            <a:xfrm>
              <a:off x="301058" y="259550"/>
              <a:ext cx="1801505" cy="359073"/>
            </a:xfrm>
            <a:prstGeom prst="round2DiagRect">
              <a:avLst>
                <a:gd name="adj1" fmla="val 33096"/>
                <a:gd name="adj2" fmla="val 0"/>
              </a:avLst>
            </a:prstGeom>
            <a:solidFill>
              <a:srgbClr val="AE19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Times New Roman Regular" panose="02020503050405090304" charset="0"/>
                  <a:cs typeface="Times New Roman Regular" panose="02020503050405090304" charset="0"/>
                </a:rPr>
                <a:t>Group </a:t>
              </a:r>
              <a:r>
                <a:rPr lang="en-US" altLang="zh-CN">
                  <a:latin typeface="Times New Roman Regular" panose="02020503050405090304" charset="0"/>
                  <a:cs typeface="Times New Roman Regular" panose="02020503050405090304" charset="0"/>
                </a:rPr>
                <a:t>M-28</a:t>
              </a:r>
              <a:endParaRPr lang="en-US" altLang="zh-CN">
                <a:latin typeface="Times New Roman Regular" panose="02020503050405090304" charset="0"/>
                <a:cs typeface="Times New Roman Regular" panose="02020503050405090304" charset="0"/>
              </a:endParaRPr>
            </a:p>
          </p:txBody>
        </p:sp>
        <p:sp>
          <p:nvSpPr>
            <p:cNvPr id="62" name="Venn diagram"/>
            <p:cNvSpPr txBox="1"/>
            <p:nvPr userDrawn="1"/>
          </p:nvSpPr>
          <p:spPr>
            <a:xfrm>
              <a:off x="2292091" y="259551"/>
              <a:ext cx="4118542" cy="358140"/>
            </a:xfrm>
            <a:prstGeom prst="rect">
              <a:avLst/>
            </a:prstGeom>
            <a:ln w="12700">
              <a:miter lim="400000"/>
            </a:ln>
          </p:spPr>
          <p:txBody>
            <a:bodyPr wrap="square" lIns="25400" tIns="25400" rIns="25400" bIns="25400">
              <a:spAutoFit/>
            </a:bodyPr>
            <a:lstStyle>
              <a:lvl1pPr algn="l">
                <a:defRPr sz="6000">
                  <a:solidFill>
                    <a:srgbClr val="060708"/>
                  </a:solidFill>
                </a:defRPr>
              </a:lvl1pPr>
            </a:lstStyle>
            <a:p>
              <a:pPr algn="l"/>
              <a:r>
                <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sym typeface="+mn-ea"/>
                </a:rPr>
                <a:t>Future work</a:t>
              </a:r>
              <a:endParaRPr lang="en-US" altLang="zh-CN" sz="2000" b="1" dirty="0">
                <a:solidFill>
                  <a:srgbClr val="AE192C"/>
                </a:solidFill>
                <a:latin typeface="Times New Roman Regular" panose="02020503050405090304" charset="0"/>
                <a:ea typeface="MiSans" panose="00000800000000000000" pitchFamily="2" charset="-122"/>
                <a:cs typeface="Times New Roman Regular" panose="02020503050405090304" charset="0"/>
              </a:endParaRPr>
            </a:p>
          </p:txBody>
        </p:sp>
      </p:grpSp>
      <p:pic>
        <p:nvPicPr>
          <p:cNvPr id="86" name="图片 85" descr="1fb514cb1a5e54e89daecde6a77344a3"/>
          <p:cNvPicPr>
            <a:picLocks noChangeAspect="1"/>
          </p:cNvPicPr>
          <p:nvPr/>
        </p:nvPicPr>
        <p:blipFill>
          <a:blip r:embed="rId1"/>
          <a:stretch>
            <a:fillRect/>
          </a:stretch>
        </p:blipFill>
        <p:spPr>
          <a:xfrm>
            <a:off x="10278745" y="144780"/>
            <a:ext cx="1635125" cy="473710"/>
          </a:xfrm>
          <a:prstGeom prst="rect">
            <a:avLst/>
          </a:prstGeom>
        </p:spPr>
      </p:pic>
      <p:grpSp>
        <p:nvGrpSpPr>
          <p:cNvPr id="11" name="组合 10"/>
          <p:cNvGrpSpPr/>
          <p:nvPr/>
        </p:nvGrpSpPr>
        <p:grpSpPr>
          <a:xfrm>
            <a:off x="361315" y="2561590"/>
            <a:ext cx="3429000" cy="3717290"/>
            <a:chOff x="1560" y="4606"/>
            <a:chExt cx="7594" cy="5368"/>
          </a:xfrm>
        </p:grpSpPr>
        <p:sp>
          <p:nvSpPr>
            <p:cNvPr id="44" name="Oval 43"/>
            <p:cNvSpPr/>
            <p:nvPr/>
          </p:nvSpPr>
          <p:spPr>
            <a:xfrm rot="15019129">
              <a:off x="7639" y="7920"/>
              <a:ext cx="416" cy="427"/>
            </a:xfrm>
            <a:prstGeom prst="ellipse">
              <a:avLst/>
            </a:prstGeom>
            <a:solidFill>
              <a:schemeClr val="accent2"/>
            </a:solidFill>
            <a:ln>
              <a:solidFill>
                <a:schemeClr val="accent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d-ID" sz="1400">
                <a:solidFill>
                  <a:srgbClr val="FFFFFF"/>
                </a:solidFill>
                <a:latin typeface="Times New Roman Regular" panose="02020503050405090304" charset="0"/>
                <a:cs typeface="Times New Roman Regular" panose="02020503050405090304" charset="0"/>
              </a:endParaRPr>
            </a:p>
          </p:txBody>
        </p:sp>
        <p:sp>
          <p:nvSpPr>
            <p:cNvPr id="66" name="Rectangle: Rounded Corners 21"/>
            <p:cNvSpPr/>
            <p:nvPr/>
          </p:nvSpPr>
          <p:spPr>
            <a:xfrm>
              <a:off x="1560" y="4606"/>
              <a:ext cx="7517" cy="5368"/>
            </a:xfrm>
            <a:prstGeom prst="roundRect">
              <a:avLst>
                <a:gd name="adj" fmla="val 4393"/>
              </a:avLst>
            </a:prstGeom>
            <a:solidFill>
              <a:schemeClr val="bg1"/>
            </a:solidFill>
            <a:ln>
              <a:noFill/>
            </a:ln>
            <a:effectLst>
              <a:outerShdw blurRad="685800" dist="3302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d-ID" sz="1400">
                <a:solidFill>
                  <a:srgbClr val="FFFFFF"/>
                </a:solidFill>
                <a:latin typeface="Times New Roman Regular" panose="02020503050405090304" charset="0"/>
                <a:cs typeface="Times New Roman Regular" panose="02020503050405090304" charset="0"/>
              </a:endParaRPr>
            </a:p>
          </p:txBody>
        </p:sp>
        <p:grpSp>
          <p:nvGrpSpPr>
            <p:cNvPr id="67" name="Group 22"/>
            <p:cNvGrpSpPr/>
            <p:nvPr/>
          </p:nvGrpSpPr>
          <p:grpSpPr>
            <a:xfrm rot="0">
              <a:off x="1914" y="4911"/>
              <a:ext cx="7240" cy="4646"/>
              <a:chOff x="-541455" y="4308013"/>
              <a:chExt cx="2496269" cy="610066"/>
            </a:xfrm>
          </p:grpSpPr>
          <p:sp>
            <p:nvSpPr>
              <p:cNvPr id="70" name="Rectangle 23"/>
              <p:cNvSpPr/>
              <p:nvPr/>
            </p:nvSpPr>
            <p:spPr>
              <a:xfrm>
                <a:off x="-541455" y="4518204"/>
                <a:ext cx="2496269" cy="399875"/>
              </a:xfrm>
              <a:prstGeom prst="rect">
                <a:avLst/>
              </a:prstGeom>
            </p:spPr>
            <p:txBody>
              <a:bodyPr wrap="square">
                <a:noAutofit/>
              </a:bodyPr>
              <a:lstStyle/>
              <a:p>
                <a:pPr marL="171450" indent="-171450" algn="l" defTabSz="914400">
                  <a:lnSpc>
                    <a:spcPct val="150000"/>
                  </a:lnSpc>
                  <a:buClrTx/>
                  <a:buSzTx/>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Issue: May miss cancer-specific regulation (e.g., SKCM shows flat feature importance </a:t>
                </a:r>
                <a:r>
                  <a:rPr lang="en-US" altLang="en-US"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a:t>
                </a: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 polygenic pattern)</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a:p>
                <a:pPr marL="171450" indent="-171450" algn="l" defTabSz="914400">
                  <a:lnSpc>
                    <a:spcPct val="150000"/>
                  </a:lnSpc>
                  <a:buClrTx/>
                  <a:buSzTx/>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Suggestion: Use multi-label, hierarchical, or meta-learning frameworks for better adaptability</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p:txBody>
          </p:sp>
          <p:sp>
            <p:nvSpPr>
              <p:cNvPr id="71" name="Rectangle 24"/>
              <p:cNvSpPr/>
              <p:nvPr/>
            </p:nvSpPr>
            <p:spPr>
              <a:xfrm>
                <a:off x="-541455" y="4308013"/>
                <a:ext cx="2473341" cy="210214"/>
              </a:xfrm>
              <a:prstGeom prst="rect">
                <a:avLst/>
              </a:prstGeom>
            </p:spPr>
            <p:txBody>
              <a:bodyPr wrap="square">
                <a:noAutofit/>
              </a:bodyPr>
              <a:lstStyle/>
              <a:p>
                <a:pPr algn="l" defTabSz="914400">
                  <a:lnSpc>
                    <a:spcPct val="130000"/>
                  </a:lnSpc>
                  <a:buClrTx/>
                  <a:buSzTx/>
                  <a:buFontTx/>
                </a:pPr>
                <a:r>
                  <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rPr>
                  <a:t>Current: "Single-cancer optimization, cross-cancer transfer" (PRAD </a:t>
                </a:r>
                <a:r>
                  <a:rPr lang="en-US" altLang="en-US"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rPr>
                  <a:t>→</a:t>
                </a:r>
                <a:r>
                  <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rPr>
                  <a:t> others)</a:t>
                </a:r>
                <a:endPar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endParaRPr>
              </a:p>
              <a:p>
                <a:pPr algn="l" defTabSz="914400">
                  <a:lnSpc>
                    <a:spcPct val="130000"/>
                  </a:lnSpc>
                  <a:buClrTx/>
                  <a:buSzTx/>
                  <a:buFontTx/>
                </a:pPr>
                <a:endPar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endParaRPr>
              </a:p>
            </p:txBody>
          </p:sp>
        </p:grpSp>
      </p:grpSp>
      <p:sp>
        <p:nvSpPr>
          <p:cNvPr id="4" name="Rectangle: Rounded Corners 6"/>
          <p:cNvSpPr/>
          <p:nvPr/>
        </p:nvSpPr>
        <p:spPr>
          <a:xfrm>
            <a:off x="7009765" y="937895"/>
            <a:ext cx="4449445" cy="730885"/>
          </a:xfrm>
          <a:prstGeom prst="roundRect">
            <a:avLst>
              <a:gd name="adj" fmla="val 4393"/>
            </a:avLst>
          </a:prstGeom>
          <a:solidFill>
            <a:srgbClr val="AE192C"/>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a:r>
              <a:rPr lang="en-US" altLang="zh-CN" sz="1600" b="1" dirty="0">
                <a:solidFill>
                  <a:srgbClr val="FFFFFF"/>
                </a:solidFill>
                <a:latin typeface="Times New Roman Regular" panose="02020503050405090304" charset="0"/>
                <a:ea typeface="Yuanti SC" panose="02010600040101010101" pitchFamily="2" charset="-122"/>
                <a:cs typeface="Times New Roman Regular" panose="02020503050405090304" charset="0"/>
              </a:rPr>
              <a:t>Improve Interpretability &amp; Automation</a:t>
            </a:r>
            <a:endParaRPr lang="en-US" altLang="zh-CN" sz="1600" b="1" dirty="0">
              <a:solidFill>
                <a:srgbClr val="FFFFFF"/>
              </a:solidFill>
              <a:latin typeface="Times New Roman Regular" panose="02020503050405090304" charset="0"/>
              <a:ea typeface="Yuanti SC" panose="02010600040101010101" pitchFamily="2" charset="-122"/>
              <a:cs typeface="Times New Roman Regular" panose="02020503050405090304" charset="0"/>
            </a:endParaRPr>
          </a:p>
        </p:txBody>
      </p:sp>
      <p:grpSp>
        <p:nvGrpSpPr>
          <p:cNvPr id="3" name="组合 2"/>
          <p:cNvGrpSpPr/>
          <p:nvPr/>
        </p:nvGrpSpPr>
        <p:grpSpPr>
          <a:xfrm>
            <a:off x="3971925" y="2560955"/>
            <a:ext cx="2638425" cy="3688080"/>
            <a:chOff x="10482" y="4713"/>
            <a:chExt cx="5842" cy="6502"/>
          </a:xfrm>
        </p:grpSpPr>
        <p:sp>
          <p:nvSpPr>
            <p:cNvPr id="5" name="Rectangle: Rounded Corners 6"/>
            <p:cNvSpPr/>
            <p:nvPr/>
          </p:nvSpPr>
          <p:spPr>
            <a:xfrm>
              <a:off x="10482" y="4713"/>
              <a:ext cx="5842" cy="6502"/>
            </a:xfrm>
            <a:prstGeom prst="roundRect">
              <a:avLst>
                <a:gd name="adj" fmla="val 4393"/>
              </a:avLst>
            </a:prstGeom>
            <a:solidFill>
              <a:schemeClr val="bg1"/>
            </a:solidFill>
            <a:ln>
              <a:noFill/>
            </a:ln>
            <a:effectLst>
              <a:outerShdw blurRad="685800" dist="3302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id-ID" sz="1400">
                <a:solidFill>
                  <a:srgbClr val="FFFFFF"/>
                </a:solidFill>
                <a:latin typeface="Times New Roman Regular" panose="02020503050405090304" charset="0"/>
                <a:cs typeface="Times New Roman Regular" panose="02020503050405090304" charset="0"/>
              </a:endParaRPr>
            </a:p>
          </p:txBody>
        </p:sp>
        <p:grpSp>
          <p:nvGrpSpPr>
            <p:cNvPr id="6" name="Group 20"/>
            <p:cNvGrpSpPr/>
            <p:nvPr/>
          </p:nvGrpSpPr>
          <p:grpSpPr>
            <a:xfrm rot="0">
              <a:off x="10898" y="5019"/>
              <a:ext cx="5270" cy="4730"/>
              <a:chOff x="1681595" y="4298059"/>
              <a:chExt cx="2207662" cy="621013"/>
            </a:xfrm>
          </p:grpSpPr>
          <p:sp>
            <p:nvSpPr>
              <p:cNvPr id="8" name="Rectangle 18"/>
              <p:cNvSpPr/>
              <p:nvPr/>
            </p:nvSpPr>
            <p:spPr>
              <a:xfrm>
                <a:off x="1681595" y="4482117"/>
                <a:ext cx="2207662" cy="436955"/>
              </a:xfrm>
              <a:prstGeom prst="rect">
                <a:avLst/>
              </a:prstGeom>
            </p:spPr>
            <p:txBody>
              <a:bodyPr wrap="square">
                <a:noAutofit/>
              </a:bodyPr>
              <a:lstStyle/>
              <a:p>
                <a:pPr marL="171450" indent="-171450" defTabSz="914400">
                  <a:lnSpc>
                    <a:spcPct val="150000"/>
                  </a:lnSpc>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Models achieved high AUC (&gt; 0.96) with default parameters</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a:p>
                <a:pPr marL="171450" indent="-171450" defTabSz="914400">
                  <a:lnSpc>
                    <a:spcPct val="150000"/>
                  </a:lnSpc>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Future: Tune hyperparameters to boost robustness and generalization, especially for borderline cases</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p:txBody>
          </p:sp>
          <p:sp>
            <p:nvSpPr>
              <p:cNvPr id="9" name="Rectangle 19"/>
              <p:cNvSpPr/>
              <p:nvPr/>
            </p:nvSpPr>
            <p:spPr>
              <a:xfrm>
                <a:off x="1691020" y="4298059"/>
                <a:ext cx="2151116" cy="165098"/>
              </a:xfrm>
              <a:prstGeom prst="rect">
                <a:avLst/>
              </a:prstGeom>
            </p:spPr>
            <p:txBody>
              <a:bodyPr wrap="square">
                <a:noAutofit/>
              </a:bodyPr>
              <a:lstStyle/>
              <a:p>
                <a:pPr algn="l" defTabSz="914400">
                  <a:lnSpc>
                    <a:spcPct val="130000"/>
                  </a:lnSpc>
                  <a:buClrTx/>
                  <a:buSzTx/>
                  <a:buFontTx/>
                </a:pPr>
                <a:r>
                  <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rPr>
                  <a:t>Enhance Model Performance</a:t>
                </a:r>
                <a:endPar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endParaRPr>
              </a:p>
              <a:p>
                <a:pPr algn="l" defTabSz="914400">
                  <a:lnSpc>
                    <a:spcPct val="130000"/>
                  </a:lnSpc>
                  <a:buClrTx/>
                  <a:buSzTx/>
                  <a:buFontTx/>
                </a:pPr>
                <a:endPar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endParaRPr>
              </a:p>
            </p:txBody>
          </p:sp>
        </p:grpSp>
      </p:grpSp>
      <p:sp>
        <p:nvSpPr>
          <p:cNvPr id="16" name="下箭头 15"/>
          <p:cNvSpPr/>
          <p:nvPr/>
        </p:nvSpPr>
        <p:spPr>
          <a:xfrm>
            <a:off x="5236845" y="1833880"/>
            <a:ext cx="262890" cy="423545"/>
          </a:xfrm>
          <a:prstGeom prst="downArrow">
            <a:avLst/>
          </a:prstGeom>
          <a:solidFill>
            <a:srgbClr val="AE192C"/>
          </a:solidFill>
          <a:ln>
            <a:solidFill>
              <a:srgbClr val="AE192C"/>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endParaRPr lang="zh-CN" altLang="en-US" sz="1350">
              <a:solidFill>
                <a:srgbClr val="FFFFFF"/>
              </a:solidFill>
              <a:latin typeface="Times New Roman Regular" panose="02020503050405090304" charset="0"/>
              <a:ea typeface="等线" panose="02010600030101010101" charset="-122"/>
              <a:cs typeface="Times New Roman Regular" panose="02020503050405090304" charset="0"/>
            </a:endParaRPr>
          </a:p>
        </p:txBody>
      </p:sp>
      <p:cxnSp>
        <p:nvCxnSpPr>
          <p:cNvPr id="20" name="直接连接符 19"/>
          <p:cNvCxnSpPr/>
          <p:nvPr userDrawn="1"/>
        </p:nvCxnSpPr>
        <p:spPr>
          <a:xfrm>
            <a:off x="0" y="6603683"/>
            <a:ext cx="13362940" cy="0"/>
          </a:xfrm>
          <a:prstGeom prst="line">
            <a:avLst/>
          </a:prstGeom>
          <a:ln>
            <a:solidFill>
              <a:srgbClr val="EEB6B0"/>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userDrawn="1"/>
        </p:nvSpPr>
        <p:spPr>
          <a:xfrm>
            <a:off x="266700" y="6604000"/>
            <a:ext cx="10967720" cy="327660"/>
          </a:xfrm>
          <a:prstGeom prst="rect">
            <a:avLst/>
          </a:prstGeom>
          <a:noFill/>
        </p:spPr>
        <p:txBody>
          <a:bodyPr wrap="none" rtlCol="0">
            <a:noAutofit/>
          </a:bodyPr>
          <a:p>
            <a:pPr algn="l"/>
            <a:r>
              <a:rPr lang="en-US" altLang="zh-CN" sz="600" spc="300" dirty="0">
                <a:solidFill>
                  <a:srgbClr val="AE192C"/>
                </a:solidFill>
                <a:latin typeface="Montserrat" panose="00000500000000000000" pitchFamily="2" charset="0"/>
                <a:ea typeface="HarmonyOS Sans SC Light" panose="00000400000000000000" pitchFamily="2" charset="-122"/>
              </a:rPr>
              <a:t>Project Future work</a:t>
            </a:r>
            <a:endParaRPr lang="en-US" altLang="zh-CN" sz="600" spc="300" dirty="0">
              <a:solidFill>
                <a:srgbClr val="AE192C"/>
              </a:solidFill>
              <a:latin typeface="Montserrat" panose="00000500000000000000" pitchFamily="2" charset="0"/>
              <a:ea typeface="HarmonyOS Sans SC Light" panose="00000400000000000000" pitchFamily="2" charset="-122"/>
            </a:endParaRPr>
          </a:p>
          <a:p>
            <a:pPr algn="l"/>
            <a:endParaRPr lang="en-US" altLang="zh-CN" sz="600" spc="300" dirty="0">
              <a:solidFill>
                <a:srgbClr val="AE192C"/>
              </a:solidFill>
              <a:latin typeface="Montserrat" panose="00000500000000000000" pitchFamily="2" charset="0"/>
              <a:ea typeface="HarmonyOS Sans SC Light" panose="00000400000000000000" pitchFamily="2" charset="-122"/>
            </a:endParaRPr>
          </a:p>
          <a:p>
            <a:pPr algn="l"/>
            <a:endParaRPr lang="en-US" altLang="zh-CN" sz="600" spc="300" dirty="0">
              <a:solidFill>
                <a:srgbClr val="AE192C"/>
              </a:solidFill>
              <a:latin typeface="Montserrat" panose="00000500000000000000" pitchFamily="2" charset="0"/>
              <a:ea typeface="HarmonyOS Sans SC Light" panose="00000400000000000000" pitchFamily="2" charset="-122"/>
            </a:endParaRPr>
          </a:p>
        </p:txBody>
      </p:sp>
      <p:sp>
        <p:nvSpPr>
          <p:cNvPr id="38" name="矩形 37" descr="e7d195523061f1c0f0ec610a92cff745ee13794c7b8d98f8E73673273C9E8BE17CC3D63B9B1D6426C348A354AD505654C28F453CD7C8F90EADD06C08281DAED7140E5AAAED5880ECE414DFB6A93B82BE163F12A16A2F7E5CA866BD8D1BE2DF3D0FFB12D23FAF5821CB9F1F392B7320627FA8E703253ECABD4FC5D80B64DCF9CDC1037D297C7DC636"/>
          <p:cNvSpPr/>
          <p:nvPr/>
        </p:nvSpPr>
        <p:spPr>
          <a:xfrm>
            <a:off x="3" y="0"/>
            <a:ext cx="164956" cy="6858000"/>
          </a:xfrm>
          <a:prstGeom prst="rect">
            <a:avLst/>
          </a:prstGeom>
          <a:solidFill>
            <a:srgbClr val="F0E1DB">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914400">
              <a:defRPr/>
            </a:pPr>
            <a:endParaRPr lang="zh-CN" altLang="en-US" sz="1350">
              <a:solidFill>
                <a:prstClr val="white"/>
              </a:solidFill>
              <a:latin typeface="Calibri" panose="020F0502020204030204"/>
              <a:ea typeface="宋体" pitchFamily="2" charset="-122"/>
            </a:endParaRPr>
          </a:p>
        </p:txBody>
      </p:sp>
      <p:grpSp>
        <p:nvGrpSpPr>
          <p:cNvPr id="12" name="组合 11"/>
          <p:cNvGrpSpPr/>
          <p:nvPr/>
        </p:nvGrpSpPr>
        <p:grpSpPr>
          <a:xfrm>
            <a:off x="6909435" y="2561590"/>
            <a:ext cx="4768215" cy="3717290"/>
            <a:chOff x="9606" y="4713"/>
            <a:chExt cx="7933" cy="5368"/>
          </a:xfrm>
        </p:grpSpPr>
        <p:sp>
          <p:nvSpPr>
            <p:cNvPr id="14" name="Oval 44"/>
            <p:cNvSpPr/>
            <p:nvPr/>
          </p:nvSpPr>
          <p:spPr>
            <a:xfrm rot="15019129">
              <a:off x="9975" y="6641"/>
              <a:ext cx="416" cy="447"/>
            </a:xfrm>
            <a:prstGeom prst="ellipse">
              <a:avLst/>
            </a:prstGeom>
            <a:solidFill>
              <a:schemeClr val="accent2"/>
            </a:solidFill>
            <a:ln>
              <a:solidFill>
                <a:schemeClr val="accent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914400"/>
              <a:endParaRPr lang="id-ID" sz="1400">
                <a:solidFill>
                  <a:srgbClr val="FFFFFF"/>
                </a:solidFill>
                <a:latin typeface="Times New Roman Regular" panose="02020503050405090304" charset="0"/>
                <a:cs typeface="Times New Roman Regular" panose="02020503050405090304" charset="0"/>
              </a:endParaRPr>
            </a:p>
          </p:txBody>
        </p:sp>
        <p:sp>
          <p:nvSpPr>
            <p:cNvPr id="17" name="Oval 51"/>
            <p:cNvSpPr/>
            <p:nvPr/>
          </p:nvSpPr>
          <p:spPr>
            <a:xfrm rot="15019129">
              <a:off x="9856" y="8926"/>
              <a:ext cx="416" cy="447"/>
            </a:xfrm>
            <a:prstGeom prst="ellipse">
              <a:avLst/>
            </a:prstGeom>
            <a:solidFill>
              <a:schemeClr val="accent2"/>
            </a:solidFill>
            <a:ln>
              <a:solidFill>
                <a:schemeClr val="accent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914400"/>
              <a:endParaRPr lang="id-ID" sz="1400">
                <a:solidFill>
                  <a:srgbClr val="FFFFFF"/>
                </a:solidFill>
                <a:latin typeface="Times New Roman Regular" panose="02020503050405090304" charset="0"/>
                <a:cs typeface="Times New Roman Regular" panose="02020503050405090304" charset="0"/>
              </a:endParaRPr>
            </a:p>
          </p:txBody>
        </p:sp>
        <p:sp>
          <p:nvSpPr>
            <p:cNvPr id="18" name="Rectangle: Rounded Corners 6"/>
            <p:cNvSpPr/>
            <p:nvPr/>
          </p:nvSpPr>
          <p:spPr>
            <a:xfrm>
              <a:off x="9606" y="4713"/>
              <a:ext cx="7933" cy="5368"/>
            </a:xfrm>
            <a:prstGeom prst="roundRect">
              <a:avLst>
                <a:gd name="adj" fmla="val 4393"/>
              </a:avLst>
            </a:prstGeom>
            <a:solidFill>
              <a:schemeClr val="bg1"/>
            </a:solidFill>
            <a:ln>
              <a:noFill/>
            </a:ln>
            <a:effectLst>
              <a:outerShdw blurRad="685800" dist="330200" dir="81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914400"/>
              <a:endParaRPr lang="id-ID" sz="1400">
                <a:solidFill>
                  <a:srgbClr val="FFFFFF"/>
                </a:solidFill>
                <a:latin typeface="Times New Roman Regular" panose="02020503050405090304" charset="0"/>
                <a:cs typeface="Times New Roman Regular" panose="02020503050405090304" charset="0"/>
              </a:endParaRPr>
            </a:p>
          </p:txBody>
        </p:sp>
        <p:grpSp>
          <p:nvGrpSpPr>
            <p:cNvPr id="19" name="Group 20"/>
            <p:cNvGrpSpPr/>
            <p:nvPr/>
          </p:nvGrpSpPr>
          <p:grpSpPr>
            <a:xfrm rot="0">
              <a:off x="10056" y="5019"/>
              <a:ext cx="7311" cy="4730"/>
              <a:chOff x="1328770" y="4298060"/>
              <a:chExt cx="3062773" cy="620941"/>
            </a:xfrm>
          </p:grpSpPr>
          <p:sp>
            <p:nvSpPr>
              <p:cNvPr id="23" name="Rectangle 18"/>
              <p:cNvSpPr/>
              <p:nvPr/>
            </p:nvSpPr>
            <p:spPr>
              <a:xfrm>
                <a:off x="1328770" y="4462986"/>
                <a:ext cx="3062773" cy="456015"/>
              </a:xfrm>
              <a:prstGeom prst="rect">
                <a:avLst/>
              </a:prstGeom>
            </p:spPr>
            <p:txBody>
              <a:bodyPr wrap="square">
                <a:noAutofit/>
              </a:bodyPr>
              <a:p>
                <a:pPr marL="171450" indent="-171450" defTabSz="914400">
                  <a:lnSpc>
                    <a:spcPct val="150000"/>
                  </a:lnSpc>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Integrate GSEA, pathway embedding, multi-modal learning</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a:p>
                <a:pPr marL="171450" indent="-171450" defTabSz="914400">
                  <a:lnSpc>
                    <a:spcPct val="150000"/>
                  </a:lnSpc>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Automate chain: "genes </a:t>
                </a:r>
                <a:r>
                  <a:rPr lang="en-US" altLang="en-US"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a:t>
                </a: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 pathways </a:t>
                </a:r>
                <a:r>
                  <a:rPr lang="en-US" altLang="en-US"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a:t>
                </a: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 mechanisms"</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a:p>
                <a:pPr marL="171450" indent="-171450" defTabSz="914400">
                  <a:lnSpc>
                    <a:spcPct val="150000"/>
                  </a:lnSpc>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Propose dual-layer model: capture both cancer-specific and cross-cancer regulation</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a:p>
                <a:pPr marL="171450" indent="-171450" defTabSz="914400">
                  <a:lnSpc>
                    <a:spcPct val="150000"/>
                  </a:lnSpc>
                  <a:buFont typeface="Arial" panose="020B0604020202090204" pitchFamily="34" charset="0"/>
                  <a:buChar char="•"/>
                </a:pPr>
                <a:r>
                  <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rPr>
                  <a:t>Apply transfer learning, attention, and multi-task modeling for deeper insight</a:t>
                </a:r>
                <a:endParaRPr lang="en-US" altLang="zh-CN" sz="1400" dirty="0">
                  <a:solidFill>
                    <a:schemeClr val="tx1">
                      <a:lumMod val="50000"/>
                      <a:lumOff val="50000"/>
                    </a:schemeClr>
                  </a:solidFill>
                  <a:latin typeface="Times New Roman Regular" panose="02020503050405090304" charset="0"/>
                  <a:ea typeface="微软雅黑 Light" panose="020B0502040204020203" charset="-122"/>
                  <a:cs typeface="Times New Roman Regular" panose="02020503050405090304" charset="0"/>
                </a:endParaRPr>
              </a:p>
            </p:txBody>
          </p:sp>
          <p:sp>
            <p:nvSpPr>
              <p:cNvPr id="24" name="Rectangle 19"/>
              <p:cNvSpPr/>
              <p:nvPr/>
            </p:nvSpPr>
            <p:spPr>
              <a:xfrm>
                <a:off x="1328770" y="4298060"/>
                <a:ext cx="2982936" cy="165047"/>
              </a:xfrm>
              <a:prstGeom prst="rect">
                <a:avLst/>
              </a:prstGeom>
            </p:spPr>
            <p:txBody>
              <a:bodyPr wrap="square">
                <a:noAutofit/>
              </a:bodyPr>
              <a:p>
                <a:pPr algn="l" defTabSz="914400">
                  <a:lnSpc>
                    <a:spcPct val="130000"/>
                  </a:lnSpc>
                  <a:buClrTx/>
                  <a:buSzTx/>
                  <a:buFontTx/>
                </a:pPr>
                <a:r>
                  <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rPr>
                  <a:t>Current pathway analysis relies on manual annotation of top features</a:t>
                </a:r>
                <a:endPar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endParaRPr>
              </a:p>
              <a:p>
                <a:pPr algn="l" defTabSz="914400">
                  <a:lnSpc>
                    <a:spcPct val="130000"/>
                  </a:lnSpc>
                  <a:buClrTx/>
                  <a:buSzTx/>
                  <a:buFontTx/>
                </a:pPr>
                <a:endParaRPr lang="en-US" altLang="zh-CN" sz="1600" b="1" dirty="0">
                  <a:solidFill>
                    <a:srgbClr val="AE192C"/>
                  </a:solidFill>
                  <a:latin typeface="Times New Roman Bold" panose="02020503050405090304" charset="0"/>
                  <a:ea typeface="微软雅黑 Light" panose="020B0502040204020203" charset="-122"/>
                  <a:cs typeface="Times New Roman Bold" panose="02020503050405090304" charset="0"/>
                  <a:sym typeface="+mn-ea"/>
                </a:endParaRPr>
              </a:p>
            </p:txBody>
          </p:sp>
        </p:grpSp>
      </p:grpSp>
      <p:sp>
        <p:nvSpPr>
          <p:cNvPr id="25" name="Rectangle: Rounded Corners 6"/>
          <p:cNvSpPr/>
          <p:nvPr/>
        </p:nvSpPr>
        <p:spPr>
          <a:xfrm>
            <a:off x="4114800" y="972185"/>
            <a:ext cx="2379345" cy="730885"/>
          </a:xfrm>
          <a:prstGeom prst="roundRect">
            <a:avLst>
              <a:gd name="adj" fmla="val 4393"/>
            </a:avLst>
          </a:prstGeom>
          <a:solidFill>
            <a:srgbClr val="AE192C"/>
          </a:solidFill>
        </p:spPr>
        <p:style>
          <a:lnRef idx="0">
            <a:srgbClr val="FFFFFF"/>
          </a:lnRef>
          <a:fillRef idx="1">
            <a:schemeClr val="accent1"/>
          </a:fillRef>
          <a:effectRef idx="0">
            <a:srgbClr val="FFFFFF"/>
          </a:effectRef>
          <a:fontRef idx="minor">
            <a:schemeClr val="lt1"/>
          </a:fontRef>
        </p:style>
        <p:txBody>
          <a:bodyPr rtlCol="0" anchor="ctr"/>
          <a:p>
            <a:pPr algn="ctr" defTabSz="914400"/>
            <a:r>
              <a:rPr lang="en-US" altLang="zh-CN" sz="1600" b="1" dirty="0">
                <a:solidFill>
                  <a:srgbClr val="FFFFFF"/>
                </a:solidFill>
                <a:latin typeface="Times New Roman Regular" panose="02020503050405090304" charset="0"/>
                <a:ea typeface="Yuanti SC" panose="02010600040101010101" pitchFamily="2" charset="-122"/>
                <a:cs typeface="Times New Roman Regular" panose="02020503050405090304" charset="0"/>
              </a:rPr>
              <a:t>Enhance Model Performance</a:t>
            </a:r>
            <a:endParaRPr lang="en-US" altLang="zh-CN" sz="1600" b="1" dirty="0">
              <a:solidFill>
                <a:srgbClr val="FFFFFF"/>
              </a:solidFill>
              <a:latin typeface="Times New Roman Regular" panose="02020503050405090304" charset="0"/>
              <a:ea typeface="Yuanti SC" panose="02010600040101010101" pitchFamily="2" charset="-122"/>
              <a:cs typeface="Times New Roman Regular" panose="02020503050405090304" charset="0"/>
            </a:endParaRPr>
          </a:p>
        </p:txBody>
      </p:sp>
      <p:sp>
        <p:nvSpPr>
          <p:cNvPr id="26" name="下箭头 25"/>
          <p:cNvSpPr/>
          <p:nvPr/>
        </p:nvSpPr>
        <p:spPr>
          <a:xfrm>
            <a:off x="9245600" y="1903095"/>
            <a:ext cx="262890" cy="423545"/>
          </a:xfrm>
          <a:prstGeom prst="downArrow">
            <a:avLst/>
          </a:prstGeom>
          <a:solidFill>
            <a:srgbClr val="AE192C"/>
          </a:solidFill>
          <a:ln>
            <a:solidFill>
              <a:srgbClr val="AE192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defTabSz="914400"/>
            <a:endParaRPr lang="zh-CN" altLang="en-US" sz="1350">
              <a:solidFill>
                <a:srgbClr val="FFFFFF"/>
              </a:solidFill>
              <a:latin typeface="Times New Roman Regular" panose="02020503050405090304" charset="0"/>
              <a:ea typeface="等线" panose="02010600030101010101" charset="-122"/>
              <a:cs typeface="Times New Roman Regular" panose="02020503050405090304" charset="0"/>
            </a:endParaRPr>
          </a:p>
        </p:txBody>
      </p:sp>
      <p:sp>
        <p:nvSpPr>
          <p:cNvPr id="27" name="Rectangle: Rounded Corners 6"/>
          <p:cNvSpPr/>
          <p:nvPr/>
        </p:nvSpPr>
        <p:spPr>
          <a:xfrm>
            <a:off x="675640" y="988695"/>
            <a:ext cx="2782570" cy="730885"/>
          </a:xfrm>
          <a:prstGeom prst="roundRect">
            <a:avLst>
              <a:gd name="adj" fmla="val 4393"/>
            </a:avLst>
          </a:prstGeom>
          <a:solidFill>
            <a:srgbClr val="AE192C"/>
          </a:solidFill>
        </p:spPr>
        <p:style>
          <a:lnRef idx="0">
            <a:srgbClr val="FFFFFF"/>
          </a:lnRef>
          <a:fillRef idx="1">
            <a:schemeClr val="accent1"/>
          </a:fillRef>
          <a:effectRef idx="0">
            <a:srgbClr val="FFFFFF"/>
          </a:effectRef>
          <a:fontRef idx="minor">
            <a:schemeClr val="lt1"/>
          </a:fontRef>
        </p:style>
        <p:txBody>
          <a:bodyPr rtlCol="0" anchor="ctr"/>
          <a:lstStyle/>
          <a:p>
            <a:pPr algn="ctr" defTabSz="914400"/>
            <a:r>
              <a:rPr lang="en-US" altLang="zh-CN" sz="1600" b="1" dirty="0">
                <a:solidFill>
                  <a:srgbClr val="FFFFFF"/>
                </a:solidFill>
                <a:latin typeface="Times New Roman Regular" panose="02020503050405090304" charset="0"/>
                <a:ea typeface="Yuanti SC" panose="02010600040101010101" pitchFamily="2" charset="-122"/>
                <a:cs typeface="Times New Roman Regular" panose="02020503050405090304" charset="0"/>
              </a:rPr>
              <a:t>Improve Modeling Strategies</a:t>
            </a:r>
            <a:endParaRPr lang="en-US" altLang="zh-CN" sz="1600" b="1" dirty="0">
              <a:solidFill>
                <a:srgbClr val="FFFFFF"/>
              </a:solidFill>
              <a:latin typeface="Times New Roman Regular" panose="02020503050405090304" charset="0"/>
              <a:ea typeface="Yuanti SC" panose="02010600040101010101" pitchFamily="2" charset="-122"/>
              <a:cs typeface="Times New Roman Regular" panose="02020503050405090304" charset="0"/>
            </a:endParaRPr>
          </a:p>
        </p:txBody>
      </p:sp>
      <p:sp>
        <p:nvSpPr>
          <p:cNvPr id="29" name="下箭头 28"/>
          <p:cNvSpPr/>
          <p:nvPr/>
        </p:nvSpPr>
        <p:spPr>
          <a:xfrm>
            <a:off x="1922780" y="1850390"/>
            <a:ext cx="262890" cy="423545"/>
          </a:xfrm>
          <a:prstGeom prst="downArrow">
            <a:avLst/>
          </a:prstGeom>
          <a:solidFill>
            <a:srgbClr val="AE192C"/>
          </a:solidFill>
          <a:ln>
            <a:solidFill>
              <a:srgbClr val="AE192C"/>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endParaRPr lang="zh-CN" altLang="en-US" sz="1350">
              <a:solidFill>
                <a:srgbClr val="FFFFFF"/>
              </a:solidFill>
              <a:latin typeface="Times New Roman Regular" panose="02020503050405090304" charset="0"/>
              <a:ea typeface="等线" panose="02010600030101010101" charset="-122"/>
              <a:cs typeface="Times New Roman Regular" panose="020205030504050903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p:transition spd="slow">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TABLE_ENDDRAG_ORIGIN_RECT" val="499*265"/>
  <p:tag name="TABLE_ENDDRAG_RECT" val="425*161*499*265"/>
</p:tagLst>
</file>

<file path=ppt/tags/tag8.xml><?xml version="1.0" encoding="utf-8"?>
<p:tagLst xmlns:p="http://schemas.openxmlformats.org/presentationml/2006/main">
  <p:tag name="KSO_WM_DIAGRAM_VIRTUALLY_FRAME" val="{&quot;height&quot;:320.29848526421637,&quot;left&quot;:492.49149606299216,&quot;top&quot;:128.4572440944882,&quot;width&quot;:385.9488976377952}"/>
</p:tagLst>
</file>

<file path=ppt/tags/tag9.xml><?xml version="1.0" encoding="utf-8"?>
<p:tagLst xmlns:p="http://schemas.openxmlformats.org/presentationml/2006/main">
  <p:tag name="KSO_WM_DIAGRAM_VIRTUALLY_FRAME" val="{&quot;height&quot;:320.29848526421637,&quot;left&quot;:492.49149606299216,&quot;top&quot;:128.4572440944882,&quot;width&quot;:385.9488976377952}"/>
</p:tagLst>
</file>

<file path=ppt/tags/tag10.xml><?xml version="1.0" encoding="utf-8"?>
<p:tagLst xmlns:p="http://schemas.openxmlformats.org/presentationml/2006/main">
  <p:tag name="KSO_WM_DIAGRAM_VIRTUALLY_FRAME" val="{&quot;height&quot;:320.29848526421637,&quot;left&quot;:492.49149606299216,&quot;top&quot;:128.4572440944882,&quot;width&quot;:385.9488976377952}"/>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DIAGRAM_VIRTUALLY_FRAME" val="{&quot;height&quot;:320.29848526421637,&quot;left&quot;:492.49149606299216,&quot;top&quot;:128.4572440944882,&quot;width&quot;:385.9488976377952}"/>
</p:tagLst>
</file>

<file path=ppt/tags/tag15.xml><?xml version="1.0" encoding="utf-8"?>
<p:tagLst xmlns:p="http://schemas.openxmlformats.org/presentationml/2006/main">
  <p:tag name="TABLE_ENDDRAG_ORIGIN_RECT" val="521*158"/>
  <p:tag name="TABLE_ENDDRAG_RECT" val="348*350*521*158"/>
</p:tagLst>
</file>

<file path=ppt/tags/tag16.xml><?xml version="1.0" encoding="utf-8"?>
<p:tagLst xmlns:p="http://schemas.openxmlformats.org/presentationml/2006/main">
  <p:tag name="KSO_WM_DIAGRAM_VIRTUALLY_FRAME" val="{&quot;height&quot;:320.29848526421637,&quot;left&quot;:492.49149606299216,&quot;top&quot;:128.4572440944882,&quot;width&quot;:385.9488976377952}"/>
</p:tagLst>
</file>

<file path=ppt/tags/tag17.xml><?xml version="1.0" encoding="utf-8"?>
<p:tagLst xmlns:p="http://schemas.openxmlformats.org/presentationml/2006/main">
  <p:tag name="KSO_WM_DIAGRAM_VIRTUALLY_FRAME" val="{&quot;height&quot;:320.29848526421637,&quot;left&quot;:492.49149606299216,&quot;top&quot;:128.4572440944882,&quot;width&quot;:385.9488976377952}"/>
</p:tagLst>
</file>

<file path=ppt/tags/tag18.xml><?xml version="1.0" encoding="utf-8"?>
<p:tagLst xmlns:p="http://schemas.openxmlformats.org/presentationml/2006/main">
  <p:tag name="TABLE_ENDDRAG_ORIGIN_RECT" val="645*313"/>
  <p:tag name="TABLE_ENDDRAG_RECT" val="276*105*645*313"/>
</p:tagLst>
</file>

<file path=ppt/tags/tag19.xml><?xml version="1.0" encoding="utf-8"?>
<p:tagLst xmlns:p="http://schemas.openxmlformats.org/presentationml/2006/main">
  <p:tag name="KSO_WM_DIAGRAM_VIRTUALLY_FRAME" val="{&quot;height&quot;:404.05700930280244,&quot;left&quot;:23.7,&quot;top&quot;:90.64299069719752,&quot;width&quot;:936.3}"/>
</p:tagLst>
</file>

<file path=ppt/tags/tag20.xml><?xml version="1.0" encoding="utf-8"?>
<p:tagLst xmlns:p="http://schemas.openxmlformats.org/presentationml/2006/main">
  <p:tag name="KSO_WM_DIAGRAM_VIRTUALLY_FRAME" val="{&quot;height&quot;:404.05700930280244,&quot;left&quot;:23.7,&quot;top&quot;:90.64299069719752,&quot;width&quot;:936.3}"/>
</p:tagLst>
</file>

<file path=ppt/tags/tag21.xml><?xml version="1.0" encoding="utf-8"?>
<p:tagLst xmlns:p="http://schemas.openxmlformats.org/presentationml/2006/main">
  <p:tag name="KSO_WM_DIAGRAM_VIRTUALLY_FRAME" val="{&quot;height&quot;:404.05700930280244,&quot;left&quot;:23.7,&quot;top&quot;:90.64299069719752,&quot;width&quot;:936.3}"/>
</p:tagLst>
</file>

<file path=ppt/tags/tag22.xml><?xml version="1.0" encoding="utf-8"?>
<p:tagLst xmlns:p="http://schemas.openxmlformats.org/presentationml/2006/main">
  <p:tag name="KSO_WM_DIAGRAM_VIRTUALLY_FRAME" val="{&quot;height&quot;:404.05700930280244,&quot;left&quot;:23.7,&quot;top&quot;:90.64299069719752,&quot;width&quot;:936.3}"/>
</p:tagLst>
</file>

<file path=ppt/tags/tag23.xml><?xml version="1.0" encoding="utf-8"?>
<p:tagLst xmlns:p="http://schemas.openxmlformats.org/presentationml/2006/main">
  <p:tag name="KSO_WM_DIAGRAM_VIRTUALLY_FRAME" val="{&quot;height&quot;:404.05700930280244,&quot;left&quot;:23.7,&quot;top&quot;:90.64299069719752,&quot;width&quot;:936.3}"/>
</p:tagLst>
</file>

<file path=ppt/tags/tag24.xml><?xml version="1.0" encoding="utf-8"?>
<p:tagLst xmlns:p="http://schemas.openxmlformats.org/presentationml/2006/main">
  <p:tag name="KSO_WM_DIAGRAM_VIRTUALLY_FRAME" val="{&quot;height&quot;:404.05700930280244,&quot;left&quot;:23.7,&quot;top&quot;:90.64299069719752,&quot;width&quot;:936.3}"/>
</p:tagLst>
</file>

<file path=ppt/tags/tag25.xml><?xml version="1.0" encoding="utf-8"?>
<p:tagLst xmlns:p="http://schemas.openxmlformats.org/presentationml/2006/main">
  <p:tag name="KSO_WM_DIAGRAM_VIRTUALLY_FRAME" val="{&quot;height&quot;:404.05700930280244,&quot;left&quot;:23.7,&quot;top&quot;:90.64299069719752,&quot;width&quot;:936.3}"/>
</p:tagLst>
</file>

<file path=ppt/tags/tag26.xml><?xml version="1.0" encoding="utf-8"?>
<p:tagLst xmlns:p="http://schemas.openxmlformats.org/presentationml/2006/main">
  <p:tag name="KSO_WM_DIAGRAM_VIRTUALLY_FRAME" val="{&quot;height&quot;:404.05700930280244,&quot;left&quot;:23.7,&quot;top&quot;:90.64299069719752,&quot;width&quot;:936.3}"/>
</p:tagLst>
</file>

<file path=ppt/tags/tag27.xml><?xml version="1.0" encoding="utf-8"?>
<p:tagLst xmlns:p="http://schemas.openxmlformats.org/presentationml/2006/main">
  <p:tag name="KSO_WM_DIAGRAM_VIRTUALLY_FRAME" val="{&quot;height&quot;:404.05700930280244,&quot;left&quot;:23.7,&quot;top&quot;:90.64299069719752,&quot;width&quot;:936.3}"/>
</p:tagLst>
</file>

<file path=ppt/tags/tag28.xml><?xml version="1.0" encoding="utf-8"?>
<p:tagLst xmlns:p="http://schemas.openxmlformats.org/presentationml/2006/main">
  <p:tag name="KSO_WM_DIAGRAM_VIRTUALLY_FRAME" val="{&quot;height&quot;:404.05700930280244,&quot;left&quot;:23.7,&quot;top&quot;:90.64299069719752,&quot;width&quot;:936.3}"/>
</p:tagLst>
</file>

<file path=ppt/tags/tag29.xml><?xml version="1.0" encoding="utf-8"?>
<p:tagLst xmlns:p="http://schemas.openxmlformats.org/presentationml/2006/main">
  <p:tag name="KSO_WM_DIAGRAM_VIRTUALLY_FRAME" val="{&quot;height&quot;:404.05700930280244,&quot;left&quot;:23.7,&quot;top&quot;:90.64299069719752,&quot;width&quot;:936.3}"/>
</p:tagLst>
</file>

<file path=ppt/tags/tag30.xml><?xml version="1.0" encoding="utf-8"?>
<p:tagLst xmlns:p="http://schemas.openxmlformats.org/presentationml/2006/main">
  <p:tag name="KSO_WM_DIAGRAM_VIRTUALLY_FRAME" val="{&quot;height&quot;:404.05700930280244,&quot;left&quot;:23.7,&quot;top&quot;:90.64299069719752,&quot;width&quot;:936.3}"/>
</p:tagLst>
</file>

<file path=ppt/tags/tag31.xml><?xml version="1.0" encoding="utf-8"?>
<p:tagLst xmlns:p="http://schemas.openxmlformats.org/presentationml/2006/main">
  <p:tag name="KSO_WM_DIAGRAM_VIRTUALLY_FRAME" val="{&quot;height&quot;:404.05700930280244,&quot;left&quot;:23.7,&quot;top&quot;:90.64299069719752,&quot;width&quot;:936.3}"/>
</p:tagLst>
</file>

<file path=ppt/tags/tag32.xml><?xml version="1.0" encoding="utf-8"?>
<p:tagLst xmlns:p="http://schemas.openxmlformats.org/presentationml/2006/main">
  <p:tag name="KSO_WM_DIAGRAM_VIRTUALLY_FRAME" val="{&quot;height&quot;:404.05700930280244,&quot;left&quot;:23.7,&quot;top&quot;:90.64299069719752,&quot;width&quot;:936.3}"/>
</p:tagLst>
</file>

<file path=ppt/tags/tag33.xml><?xml version="1.0" encoding="utf-8"?>
<p:tagLst xmlns:p="http://schemas.openxmlformats.org/presentationml/2006/main">
  <p:tag name="KSO_WM_DIAGRAM_VIRTUALLY_FRAME" val="{&quot;height&quot;:404.05700930280244,&quot;left&quot;:23.7,&quot;top&quot;:90.64299069719752,&quot;width&quot;:936.3}"/>
</p:tagLst>
</file>

<file path=ppt/tags/tag34.xml><?xml version="1.0" encoding="utf-8"?>
<p:tagLst xmlns:p="http://schemas.openxmlformats.org/presentationml/2006/main">
  <p:tag name="TABLE_ENDDRAG_ORIGIN_RECT" val="490*260"/>
  <p:tag name="TABLE_ENDDRAG_RECT" val="417*151*490*260"/>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18499</Words>
  <Application>WPS 文字</Application>
  <PresentationFormat>宽屏</PresentationFormat>
  <Paragraphs>876</Paragraphs>
  <Slides>24</Slides>
  <Notes>1</Notes>
  <HiddenSlides>0</HiddenSlides>
  <MMClips>0</MMClips>
  <ScaleCrop>false</ScaleCrop>
  <HeadingPairs>
    <vt:vector size="6" baseType="variant">
      <vt:variant>
        <vt:lpstr>已用的字体</vt:lpstr>
      </vt:variant>
      <vt:variant>
        <vt:i4>66</vt:i4>
      </vt:variant>
      <vt:variant>
        <vt:lpstr>主题</vt:lpstr>
      </vt:variant>
      <vt:variant>
        <vt:i4>2</vt:i4>
      </vt:variant>
      <vt:variant>
        <vt:lpstr>幻灯片标题</vt:lpstr>
      </vt:variant>
      <vt:variant>
        <vt:i4>24</vt:i4>
      </vt:variant>
    </vt:vector>
  </HeadingPairs>
  <TitlesOfParts>
    <vt:vector size="92" baseType="lpstr">
      <vt:lpstr>Arial</vt:lpstr>
      <vt:lpstr>宋体</vt:lpstr>
      <vt:lpstr>Wingdings</vt:lpstr>
      <vt:lpstr>Bebas Neue</vt:lpstr>
      <vt:lpstr>Roboto Condensed</vt:lpstr>
      <vt:lpstr>Segoe UI</vt:lpstr>
      <vt:lpstr>Montserrat Light</vt:lpstr>
      <vt:lpstr>苹方-简</vt:lpstr>
      <vt:lpstr>Times New Roman Regular</vt:lpstr>
      <vt:lpstr>Times New Roman Bold</vt:lpstr>
      <vt:lpstr>等线</vt:lpstr>
      <vt:lpstr>等线</vt:lpstr>
      <vt:lpstr>汉仪中等线KW</vt:lpstr>
      <vt:lpstr>Trebuchet MS Regular</vt:lpstr>
      <vt:lpstr>华康俪金黑W8</vt:lpstr>
      <vt:lpstr>Arial Black</vt:lpstr>
      <vt:lpstr>OPPOSans H</vt:lpstr>
      <vt:lpstr>微软雅黑 Light</vt:lpstr>
      <vt:lpstr>MiSans</vt:lpstr>
      <vt:lpstr>Open Sans Light</vt:lpstr>
      <vt:lpstr>Helvetica Neue Medium</vt:lpstr>
      <vt:lpstr>Barlow Medium</vt:lpstr>
      <vt:lpstr>Thonburi</vt:lpstr>
      <vt:lpstr>HarmonyOS Sans SC</vt:lpstr>
      <vt:lpstr>MiSans Heavy</vt:lpstr>
      <vt:lpstr>Segoe UI Light</vt:lpstr>
      <vt:lpstr>HarmonyOS Sans SC Light</vt:lpstr>
      <vt:lpstr>Barlow SemiBold</vt:lpstr>
      <vt:lpstr>HarmonyOS Sans SC Medium</vt:lpstr>
      <vt:lpstr>Montserrat</vt:lpstr>
      <vt:lpstr>Times New Roman</vt:lpstr>
      <vt:lpstr>Lato</vt:lpstr>
      <vt:lpstr>Yuanti SC</vt:lpstr>
      <vt:lpstr>Calibri</vt:lpstr>
      <vt:lpstr>等线 Light</vt:lpstr>
      <vt:lpstr>宋体</vt:lpstr>
      <vt:lpstr>等线 Light</vt:lpstr>
      <vt:lpstr>方正小标宋简体</vt:lpstr>
      <vt:lpstr>Helvetica Neue</vt:lpstr>
      <vt:lpstr>微软雅黑</vt:lpstr>
      <vt:lpstr>汉仪旗黑</vt:lpstr>
      <vt:lpstr>宋体</vt:lpstr>
      <vt:lpstr>Arial Unicode MS</vt:lpstr>
      <vt:lpstr>汉仪书宋二KW</vt:lpstr>
      <vt:lpstr>Calibri</vt:lpstr>
      <vt:lpstr>华光中雅_CNKI</vt:lpstr>
      <vt:lpstr>华文宋体</vt:lpstr>
      <vt:lpstr>汉仪中黑KW</vt:lpstr>
      <vt:lpstr>Barlow Medium</vt:lpstr>
      <vt:lpstr>Barlow SemiBold</vt:lpstr>
      <vt:lpstr>HarmonyOS Sans SC</vt:lpstr>
      <vt:lpstr>HarmonyOS Sans SC Light</vt:lpstr>
      <vt:lpstr>HarmonyOS Sans SC Medium</vt:lpstr>
      <vt:lpstr>Helvetica Neue Medium</vt:lpstr>
      <vt:lpstr>MiSans</vt:lpstr>
      <vt:lpstr>MiSans Heavy</vt:lpstr>
      <vt:lpstr>OPPOSans H</vt:lpstr>
      <vt:lpstr>Wingdings</vt:lpstr>
      <vt:lpstr>华光中雅_CNKI</vt:lpstr>
      <vt:lpstr>华康俪金黑W8</vt:lpstr>
      <vt:lpstr>微软雅黑 Light</vt:lpstr>
      <vt:lpstr>方正小标宋简体</vt:lpstr>
      <vt:lpstr>等线</vt:lpstr>
      <vt:lpstr>等线 Light</vt:lpstr>
      <vt:lpstr>宋体-简</vt:lpstr>
      <vt:lpstr>Apple Color Emoji</vt:lpstr>
      <vt:lpstr>WPS</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何WL</cp:lastModifiedBy>
  <cp:revision>34</cp:revision>
  <dcterms:created xsi:type="dcterms:W3CDTF">2025-04-27T17:58:18Z</dcterms:created>
  <dcterms:modified xsi:type="dcterms:W3CDTF">2025-04-27T17:58:18Z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2052-6.15.2.8936</vt:lpwstr>
  </property>
  <property fmtid="{D5CDD505-2E9C-101B-9397-08002B2CF9AE}" pid="3" name="ICV">
    <vt:lpwstr>977641C303E17354C7690768BABC7CF5_43</vt:lpwstr>
  </property>
</Properties>
</file>